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466" r:id="rId3"/>
    <p:sldId id="259" r:id="rId4"/>
    <p:sldId id="474" r:id="rId5"/>
    <p:sldId id="480" r:id="rId6"/>
    <p:sldId id="467" r:id="rId7"/>
    <p:sldId id="469" r:id="rId8"/>
    <p:sldId id="266" r:id="rId9"/>
    <p:sldId id="460" r:id="rId10"/>
    <p:sldId id="488" r:id="rId11"/>
    <p:sldId id="489" r:id="rId12"/>
    <p:sldId id="490" r:id="rId13"/>
    <p:sldId id="462" r:id="rId14"/>
    <p:sldId id="464" r:id="rId15"/>
    <p:sldId id="472" r:id="rId16"/>
    <p:sldId id="473" r:id="rId17"/>
    <p:sldId id="458" r:id="rId18"/>
    <p:sldId id="436" r:id="rId19"/>
    <p:sldId id="492" r:id="rId20"/>
    <p:sldId id="275" r:id="rId21"/>
    <p:sldId id="477" r:id="rId22"/>
    <p:sldId id="481" r:id="rId23"/>
    <p:sldId id="485" r:id="rId24"/>
    <p:sldId id="483" r:id="rId25"/>
    <p:sldId id="486" r:id="rId26"/>
    <p:sldId id="487" r:id="rId27"/>
    <p:sldId id="471" r:id="rId28"/>
    <p:sldId id="470" r:id="rId29"/>
  </p:sldIdLst>
  <p:sldSz cx="12192000" cy="6858000"/>
  <p:notesSz cx="10234613" cy="710406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71083" autoAdjust="0"/>
  </p:normalViewPr>
  <p:slideViewPr>
    <p:cSldViewPr snapToGrid="0">
      <p:cViewPr varScale="1">
        <p:scale>
          <a:sx n="45" d="100"/>
          <a:sy n="45" d="100"/>
        </p:scale>
        <p:origin x="1604" y="4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61" d="100"/>
          <a:sy n="61" d="100"/>
        </p:scale>
        <p:origin x="1840" y="6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2CF71E13-2DBF-7A00-2EA5-D8D12C33785F}"/>
              </a:ext>
            </a:extLst>
          </p:cNvPr>
          <p:cNvSpPr>
            <a:spLocks noGrp="1"/>
          </p:cNvSpPr>
          <p:nvPr>
            <p:ph type="hdr" sz="quarter"/>
          </p:nvPr>
        </p:nvSpPr>
        <p:spPr>
          <a:xfrm>
            <a:off x="222304" y="177800"/>
            <a:ext cx="4435475" cy="3556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C87D9ACD-B638-7440-4695-8DD3CCF3294B}"/>
              </a:ext>
            </a:extLst>
          </p:cNvPr>
          <p:cNvSpPr>
            <a:spLocks noGrp="1"/>
          </p:cNvSpPr>
          <p:nvPr>
            <p:ph type="dt" sz="quarter" idx="1"/>
          </p:nvPr>
        </p:nvSpPr>
        <p:spPr>
          <a:xfrm>
            <a:off x="5576832" y="177800"/>
            <a:ext cx="4435475" cy="355600"/>
          </a:xfrm>
          <a:prstGeom prst="rect">
            <a:avLst/>
          </a:prstGeom>
        </p:spPr>
        <p:txBody>
          <a:bodyPr vert="horz" lIns="91440" tIns="45720" rIns="91440" bIns="45720" rtlCol="0"/>
          <a:lstStyle>
            <a:lvl1pPr algn="r">
              <a:defRPr sz="1200"/>
            </a:lvl1pPr>
          </a:lstStyle>
          <a:p>
            <a:endParaRPr kumimoji="1" lang="ja-JP" altLang="en-US" dirty="0"/>
          </a:p>
        </p:txBody>
      </p:sp>
      <p:sp>
        <p:nvSpPr>
          <p:cNvPr id="4" name="フッター プレースホルダー 3">
            <a:extLst>
              <a:ext uri="{FF2B5EF4-FFF2-40B4-BE49-F238E27FC236}">
                <a16:creationId xmlns:a16="http://schemas.microsoft.com/office/drawing/2014/main" id="{8E08073C-EC4D-49CF-E465-DF32C2139AB2}"/>
              </a:ext>
            </a:extLst>
          </p:cNvPr>
          <p:cNvSpPr>
            <a:spLocks noGrp="1"/>
          </p:cNvSpPr>
          <p:nvPr>
            <p:ph type="ftr" sz="quarter" idx="2"/>
          </p:nvPr>
        </p:nvSpPr>
        <p:spPr>
          <a:xfrm>
            <a:off x="222305" y="6571485"/>
            <a:ext cx="4435475" cy="3556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6809786F-A670-56DF-6641-25C11F59AF32}"/>
              </a:ext>
            </a:extLst>
          </p:cNvPr>
          <p:cNvSpPr>
            <a:spLocks noGrp="1"/>
          </p:cNvSpPr>
          <p:nvPr>
            <p:ph type="sldNum" sz="quarter" idx="3"/>
          </p:nvPr>
        </p:nvSpPr>
        <p:spPr>
          <a:xfrm>
            <a:off x="5576833" y="6571485"/>
            <a:ext cx="4435475" cy="355600"/>
          </a:xfrm>
          <a:prstGeom prst="rect">
            <a:avLst/>
          </a:prstGeom>
        </p:spPr>
        <p:txBody>
          <a:bodyPr vert="horz" lIns="91440" tIns="45720" rIns="91440" bIns="45720" rtlCol="0" anchor="b"/>
          <a:lstStyle>
            <a:lvl1pPr algn="r">
              <a:defRPr sz="1200"/>
            </a:lvl1pPr>
          </a:lstStyle>
          <a:p>
            <a:fld id="{93EE537F-2EDA-414E-8E39-9311ECAC5AF0}" type="slidenum">
              <a:rPr kumimoji="1" lang="ja-JP" altLang="en-US" smtClean="0"/>
              <a:t>‹#›</a:t>
            </a:fld>
            <a:endParaRPr kumimoji="1" lang="ja-JP" altLang="en-US"/>
          </a:p>
        </p:txBody>
      </p:sp>
    </p:spTree>
    <p:extLst>
      <p:ext uri="{BB962C8B-B14F-4D97-AF65-F5344CB8AC3E}">
        <p14:creationId xmlns:p14="http://schemas.microsoft.com/office/powerpoint/2010/main" val="122889357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237" userDrawn="1">
          <p15:clr>
            <a:srgbClr val="F26B43"/>
          </p15:clr>
        </p15:guide>
        <p15:guide id="2" pos="3223"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434999" cy="356437"/>
          </a:xfrm>
          <a:prstGeom prst="rect">
            <a:avLst/>
          </a:prstGeom>
        </p:spPr>
        <p:txBody>
          <a:bodyPr vert="horz" lIns="99075" tIns="49538" rIns="99075" bIns="49538" rtlCol="0"/>
          <a:lstStyle>
            <a:lvl1pPr algn="l">
              <a:defRPr sz="1300"/>
            </a:lvl1pPr>
          </a:lstStyle>
          <a:p>
            <a:endParaRPr kumimoji="1" lang="ja-JP" altLang="en-US"/>
          </a:p>
        </p:txBody>
      </p:sp>
      <p:sp>
        <p:nvSpPr>
          <p:cNvPr id="3" name="日付プレースホルダー 2"/>
          <p:cNvSpPr>
            <a:spLocks noGrp="1"/>
          </p:cNvSpPr>
          <p:nvPr>
            <p:ph type="dt" idx="1"/>
          </p:nvPr>
        </p:nvSpPr>
        <p:spPr>
          <a:xfrm>
            <a:off x="5797246" y="0"/>
            <a:ext cx="4434999" cy="356437"/>
          </a:xfrm>
          <a:prstGeom prst="rect">
            <a:avLst/>
          </a:prstGeom>
        </p:spPr>
        <p:txBody>
          <a:bodyPr vert="horz" lIns="99075" tIns="49538" rIns="99075" bIns="49538" rtlCol="0"/>
          <a:lstStyle>
            <a:lvl1pPr algn="r">
              <a:defRPr sz="1300"/>
            </a:lvl1pPr>
          </a:lstStyle>
          <a:p>
            <a:fld id="{60802E93-77B6-4CB4-B25B-8901507AF0E2}" type="datetimeFigureOut">
              <a:rPr kumimoji="1" lang="ja-JP" altLang="en-US" smtClean="0"/>
              <a:t>2026/10/21</a:t>
            </a:fld>
            <a:endParaRPr kumimoji="1" lang="ja-JP" altLang="en-US"/>
          </a:p>
        </p:txBody>
      </p:sp>
      <p:sp>
        <p:nvSpPr>
          <p:cNvPr id="4" name="スライド イメージ プレースホルダー 3"/>
          <p:cNvSpPr>
            <a:spLocks noGrp="1" noRot="1" noChangeAspect="1"/>
          </p:cNvSpPr>
          <p:nvPr>
            <p:ph type="sldImg" idx="2"/>
          </p:nvPr>
        </p:nvSpPr>
        <p:spPr>
          <a:xfrm>
            <a:off x="2984500" y="887413"/>
            <a:ext cx="4265613" cy="2398712"/>
          </a:xfrm>
          <a:prstGeom prst="rect">
            <a:avLst/>
          </a:prstGeom>
          <a:noFill/>
          <a:ln w="12700">
            <a:solidFill>
              <a:prstClr val="black"/>
            </a:solidFill>
          </a:ln>
        </p:spPr>
        <p:txBody>
          <a:bodyPr vert="horz" lIns="99075" tIns="49538" rIns="99075" bIns="49538" rtlCol="0" anchor="ctr"/>
          <a:lstStyle/>
          <a:p>
            <a:endParaRPr lang="ja-JP" altLang="en-US"/>
          </a:p>
        </p:txBody>
      </p:sp>
      <p:sp>
        <p:nvSpPr>
          <p:cNvPr id="5" name="ノート プレースホルダー 4"/>
          <p:cNvSpPr>
            <a:spLocks noGrp="1"/>
          </p:cNvSpPr>
          <p:nvPr>
            <p:ph type="body" sz="quarter" idx="3"/>
          </p:nvPr>
        </p:nvSpPr>
        <p:spPr>
          <a:xfrm>
            <a:off x="1023462" y="3418830"/>
            <a:ext cx="8187690" cy="2797225"/>
          </a:xfrm>
          <a:prstGeom prst="rect">
            <a:avLst/>
          </a:prstGeom>
        </p:spPr>
        <p:txBody>
          <a:bodyPr vert="horz" lIns="99075" tIns="49538" rIns="99075" bIns="4953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747627"/>
            <a:ext cx="4434999" cy="356436"/>
          </a:xfrm>
          <a:prstGeom prst="rect">
            <a:avLst/>
          </a:prstGeom>
        </p:spPr>
        <p:txBody>
          <a:bodyPr vert="horz" lIns="99075" tIns="49538" rIns="99075" bIns="4953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5797246" y="6747627"/>
            <a:ext cx="4434999" cy="356436"/>
          </a:xfrm>
          <a:prstGeom prst="rect">
            <a:avLst/>
          </a:prstGeom>
        </p:spPr>
        <p:txBody>
          <a:bodyPr vert="horz" lIns="99075" tIns="49538" rIns="99075" bIns="49538" rtlCol="0" anchor="b"/>
          <a:lstStyle>
            <a:lvl1pPr algn="r">
              <a:defRPr sz="1300"/>
            </a:lvl1pPr>
          </a:lstStyle>
          <a:p>
            <a:fld id="{767573F2-190B-471C-9050-42FF52361E68}" type="slidenum">
              <a:rPr kumimoji="1" lang="ja-JP" altLang="en-US" smtClean="0"/>
              <a:t>‹#›</a:t>
            </a:fld>
            <a:endParaRPr kumimoji="1" lang="ja-JP" altLang="en-US"/>
          </a:p>
        </p:txBody>
      </p:sp>
    </p:spTree>
    <p:extLst>
      <p:ext uri="{BB962C8B-B14F-4D97-AF65-F5344CB8AC3E}">
        <p14:creationId xmlns:p14="http://schemas.microsoft.com/office/powerpoint/2010/main" val="328122329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それでは、「試験内容の変化を考慮した知識データ構築手法に関する研究」について発表します。</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a:t>
            </a:fld>
            <a:endParaRPr kumimoji="1" lang="ja-JP" altLang="en-US"/>
          </a:p>
        </p:txBody>
      </p:sp>
    </p:spTree>
    <p:extLst>
      <p:ext uri="{BB962C8B-B14F-4D97-AF65-F5344CB8AC3E}">
        <p14:creationId xmlns:p14="http://schemas.microsoft.com/office/powerpoint/2010/main" val="486140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目次は以下の通りとなります</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2</a:t>
            </a:fld>
            <a:endParaRPr kumimoji="1" lang="ja-JP" altLang="en-US"/>
          </a:p>
        </p:txBody>
      </p:sp>
    </p:spTree>
    <p:extLst>
      <p:ext uri="{BB962C8B-B14F-4D97-AF65-F5344CB8AC3E}">
        <p14:creationId xmlns:p14="http://schemas.microsoft.com/office/powerpoint/2010/main" val="3243204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資格試験では、シラバスの改定によって出題範囲が変化し、新しい用語が追加されることがあります。</a:t>
            </a:r>
          </a:p>
          <a:p>
            <a:r>
              <a:rPr lang="ja-JP" altLang="ja-JP" dirty="0"/>
              <a:t>しかし、市販の参考書は改訂や出版までに時間がかかるため、新しい用語をすぐに学習できる教材が十分に用意されない場合があります。</a:t>
            </a:r>
          </a:p>
          <a:p>
            <a:r>
              <a:rPr lang="ja-JP" altLang="ja-JP" dirty="0"/>
              <a:t>そこで、新出用語に対応する学習用データを効率よく作成し、その内容が正確であるかを確認する仕組みが必要だと考えました。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3</a:t>
            </a:fld>
            <a:endParaRPr kumimoji="1" lang="ja-JP" altLang="en-US"/>
          </a:p>
        </p:txBody>
      </p:sp>
    </p:spTree>
    <p:extLst>
      <p:ext uri="{BB962C8B-B14F-4D97-AF65-F5344CB8AC3E}">
        <p14:creationId xmlns:p14="http://schemas.microsoft.com/office/powerpoint/2010/main" val="1021758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先行研究では、生成AIを活用した作問システムが提案されており、問題の自動生成による作成時間の短縮や、大量の問題作成が報告されています。</a:t>
            </a:r>
          </a:p>
          <a:p>
            <a:r>
              <a:rPr lang="ja-JP" altLang="ja-JP" dirty="0"/>
              <a:t>また、教科書から知識を収集してデータベースに保存し、それを基に問題を生成して、教師が問題を選定する仕組みも示されています。</a:t>
            </a:r>
          </a:p>
          <a:p>
            <a:r>
              <a:rPr lang="ja-JP" altLang="ja-JP" dirty="0"/>
              <a:t>本研究では、こうした先行研究を踏まえ、シラバス改定で追加された新出用語への対応と、生成した問題の品質評価に着目します。</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4</a:t>
            </a:fld>
            <a:endParaRPr kumimoji="1" lang="ja-JP" altLang="en-US"/>
          </a:p>
        </p:txBody>
      </p:sp>
    </p:spTree>
    <p:extLst>
      <p:ext uri="{BB962C8B-B14F-4D97-AF65-F5344CB8AC3E}">
        <p14:creationId xmlns:p14="http://schemas.microsoft.com/office/powerpoint/2010/main" val="2461124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7572-7072-E4CA-51FF-880AEF4879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07FD46-C9E6-88C6-86DA-8C3ED5F7D8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3F2D56-841A-1665-7DA2-5B210F1DFE71}"/>
              </a:ext>
            </a:extLst>
          </p:cNvPr>
          <p:cNvSpPr>
            <a:spLocks noGrp="1"/>
          </p:cNvSpPr>
          <p:nvPr>
            <p:ph type="body" idx="1"/>
          </p:nvPr>
        </p:nvSpPr>
        <p:spPr/>
        <p:txBody>
          <a:bodyPr/>
          <a:lstStyle/>
          <a:p>
            <a:r>
              <a:rPr lang="ja-JP" altLang="ja-JP" dirty="0"/>
              <a:t>こちらが、本研究で提案するシステムの全体構成です。</a:t>
            </a:r>
          </a:p>
          <a:p>
            <a:r>
              <a:rPr lang="ja-JP" altLang="ja-JP" dirty="0"/>
              <a:t>まず、管理者が新出用語を入力します。次に、複数の情報源から関連知識を収集し、LLMを用いて要約・構造化して、知識データベースを構築します。</a:t>
            </a:r>
          </a:p>
          <a:p>
            <a:r>
              <a:rPr lang="ja-JP" altLang="ja-JP" dirty="0"/>
              <a:t>そのデータを基に4択問題を生成し、Python、LLM、Embeddingの3つの手法を組み合わせて品質を評価します。</a:t>
            </a:r>
          </a:p>
          <a:p>
            <a:r>
              <a:rPr lang="ja-JP" altLang="ja-JP" dirty="0"/>
              <a:t>最終的には、学習者への出題と、回答の正誤に応じたフィードバックまで実現することを目指します。</a:t>
            </a:r>
          </a:p>
        </p:txBody>
      </p:sp>
      <p:sp>
        <p:nvSpPr>
          <p:cNvPr id="4" name="スライド番号プレースホルダー 3">
            <a:extLst>
              <a:ext uri="{FF2B5EF4-FFF2-40B4-BE49-F238E27FC236}">
                <a16:creationId xmlns:a16="http://schemas.microsoft.com/office/drawing/2014/main" id="{4C0ED282-C088-ED87-AEFE-DF772EA45053}"/>
              </a:ext>
            </a:extLst>
          </p:cNvPr>
          <p:cNvSpPr>
            <a:spLocks noGrp="1"/>
          </p:cNvSpPr>
          <p:nvPr>
            <p:ph type="sldNum" sz="quarter" idx="5"/>
          </p:nvPr>
        </p:nvSpPr>
        <p:spPr/>
        <p:txBody>
          <a:bodyPr/>
          <a:lstStyle/>
          <a:p>
            <a:fld id="{767573F2-190B-471C-9050-42FF52361E68}" type="slidenum">
              <a:rPr kumimoji="1" lang="ja-JP" altLang="en-US" smtClean="0"/>
              <a:t>5</a:t>
            </a:fld>
            <a:endParaRPr kumimoji="1" lang="ja-JP" altLang="en-US"/>
          </a:p>
        </p:txBody>
      </p:sp>
    </p:spTree>
    <p:extLst>
      <p:ext uri="{BB962C8B-B14F-4D97-AF65-F5344CB8AC3E}">
        <p14:creationId xmlns:p14="http://schemas.microsoft.com/office/powerpoint/2010/main" val="2956673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B87E7-4481-3A4F-0BF6-672E37C7E7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DE389C-AE2D-7ABC-96B3-4DC13966A58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66E473-F69B-B9DA-969A-6AC05F1D30A0}"/>
              </a:ext>
            </a:extLst>
          </p:cNvPr>
          <p:cNvSpPr>
            <a:spLocks noGrp="1"/>
          </p:cNvSpPr>
          <p:nvPr>
            <p:ph type="body" idx="1"/>
          </p:nvPr>
        </p:nvSpPr>
        <p:spPr/>
        <p:txBody>
          <a:bodyPr/>
          <a:lstStyle/>
          <a:p>
            <a:r>
              <a:rPr lang="ja-JP" altLang="ja-JP" dirty="0"/>
              <a:t>最終的な目的は、教育組織における資格試験などの学習を効率化する、学習支援システムの確立です。</a:t>
            </a:r>
          </a:p>
          <a:p>
            <a:r>
              <a:rPr lang="ja-JP" altLang="en-US" dirty="0"/>
              <a:t>実現に向けた課題として試験範囲やシラバスの改定に伴う新出用語への対応、新出用語に関する知識データの収集と構築、学習用問題を生成した際の品質の確保が挙げられます。</a:t>
            </a:r>
            <a:endParaRPr lang="en-US" altLang="ja-JP" dirty="0"/>
          </a:p>
          <a:p>
            <a:r>
              <a:rPr lang="ja-JP" altLang="ja-JP" dirty="0"/>
              <a:t>そこで本研究では、まず新出用語を対象として、知識データの構築、問題生成、品質評価の手法を検討します。</a:t>
            </a:r>
          </a:p>
        </p:txBody>
      </p:sp>
      <p:sp>
        <p:nvSpPr>
          <p:cNvPr id="4" name="スライド番号プレースホルダー 3">
            <a:extLst>
              <a:ext uri="{FF2B5EF4-FFF2-40B4-BE49-F238E27FC236}">
                <a16:creationId xmlns:a16="http://schemas.microsoft.com/office/drawing/2014/main" id="{11EC9216-77FB-C797-18F9-2618BDA190B5}"/>
              </a:ext>
            </a:extLst>
          </p:cNvPr>
          <p:cNvSpPr>
            <a:spLocks noGrp="1"/>
          </p:cNvSpPr>
          <p:nvPr>
            <p:ph type="sldNum" sz="quarter" idx="5"/>
          </p:nvPr>
        </p:nvSpPr>
        <p:spPr/>
        <p:txBody>
          <a:bodyPr/>
          <a:lstStyle/>
          <a:p>
            <a:fld id="{767573F2-190B-471C-9050-42FF52361E68}" type="slidenum">
              <a:rPr kumimoji="1" lang="ja-JP" altLang="en-US" smtClean="0"/>
              <a:t>6</a:t>
            </a:fld>
            <a:endParaRPr kumimoji="1" lang="ja-JP" altLang="en-US"/>
          </a:p>
        </p:txBody>
      </p:sp>
    </p:spTree>
    <p:extLst>
      <p:ext uri="{BB962C8B-B14F-4D97-AF65-F5344CB8AC3E}">
        <p14:creationId xmlns:p14="http://schemas.microsoft.com/office/powerpoint/2010/main" val="3687478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データには、大きく3種類を想定しています。</a:t>
            </a:r>
          </a:p>
          <a:p>
            <a:r>
              <a:rPr lang="ja-JP" altLang="en-US" dirty="0"/>
              <a:t>試験の過去問と用語解説ページ、公式シラバスをデータ源とします。それぞれの取得情報や研究での活用方法については表の通りとなります。</a:t>
            </a:r>
            <a:endParaRPr lang="ja-JP" altLang="ja-JP" dirty="0"/>
          </a:p>
          <a:p>
            <a:r>
              <a:rPr lang="ja-JP" altLang="ja-JP" dirty="0"/>
              <a:t>これら</a:t>
            </a:r>
            <a:r>
              <a:rPr lang="ja-JP" altLang="en-US" dirty="0"/>
              <a:t>の複数のデータ源から必要な情報を収集することにより学習用のデータセットの構築を行います。</a:t>
            </a:r>
            <a:endParaRPr lang="ja-JP"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7</a:t>
            </a:fld>
            <a:endParaRPr kumimoji="1" lang="ja-JP" altLang="en-US"/>
          </a:p>
        </p:txBody>
      </p:sp>
    </p:spTree>
    <p:extLst>
      <p:ext uri="{BB962C8B-B14F-4D97-AF65-F5344CB8AC3E}">
        <p14:creationId xmlns:p14="http://schemas.microsoft.com/office/powerpoint/2010/main" val="2282544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b="1" kern="1200" dirty="0">
                <a:solidFill>
                  <a:schemeClr val="dk1"/>
                </a:solidFill>
                <a:effectLst/>
              </a:rPr>
              <a:t>Qwen/Qwen2.5-7B-Instruct</a:t>
            </a:r>
            <a:r>
              <a:rPr kumimoji="1" lang="en-US" altLang="ja-JP" sz="1200" b="1" kern="1200" dirty="0">
                <a:solidFill>
                  <a:schemeClr val="dk1"/>
                </a:solidFill>
                <a:effectLst/>
              </a:rPr>
              <a:t>:</a:t>
            </a:r>
            <a:r>
              <a:rPr kumimoji="1" lang="ja-JP" altLang="en-US" dirty="0"/>
              <a:t>最終更新日は</a:t>
            </a:r>
            <a:r>
              <a:rPr kumimoji="1" lang="en-US" altLang="ja-JP" dirty="0"/>
              <a:t>2023</a:t>
            </a:r>
            <a:r>
              <a:rPr kumimoji="1" lang="ja-JP" altLang="en-US" dirty="0"/>
              <a:t>年</a:t>
            </a:r>
            <a:r>
              <a:rPr kumimoji="1" lang="en-US" altLang="ja-JP" dirty="0"/>
              <a:t>9</a:t>
            </a:r>
            <a:r>
              <a:rPr kumimoji="1" lang="ja-JP" altLang="en-US" dirty="0"/>
              <a:t>月</a:t>
            </a:r>
            <a:endParaRPr kumimoji="1" lang="en-US" altLang="ja-JP" dirty="0"/>
          </a:p>
          <a:p>
            <a:r>
              <a:rPr lang="ja-JP" altLang="en-US" dirty="0"/>
              <a:t>使用技術は大規模言語モデルであり、モデルとして</a:t>
            </a:r>
            <a:r>
              <a:rPr lang="ja-JP" altLang="ja-JP" dirty="0"/>
              <a:t>Qwen2.5-7B-Instructを使用します。</a:t>
            </a:r>
          </a:p>
          <a:p>
            <a:r>
              <a:rPr lang="ja-JP" altLang="en-US" dirty="0"/>
              <a:t>用途は</a:t>
            </a:r>
            <a:r>
              <a:rPr lang="ja-JP" altLang="ja-JP" dirty="0"/>
              <a:t>入力された用語と説明から、資格試験形式の4択問題を生成します。</a:t>
            </a:r>
          </a:p>
          <a:p>
            <a:r>
              <a:rPr lang="ja-JP" altLang="ja-JP" dirty="0"/>
              <a:t>また、学習データの違いによる生成品質を比較するため、4つの条件でモデルを評価します。</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8</a:t>
            </a:fld>
            <a:endParaRPr kumimoji="1" lang="ja-JP" altLang="en-US"/>
          </a:p>
        </p:txBody>
      </p:sp>
    </p:spTree>
    <p:extLst>
      <p:ext uri="{BB962C8B-B14F-4D97-AF65-F5344CB8AC3E}">
        <p14:creationId xmlns:p14="http://schemas.microsoft.com/office/powerpoint/2010/main" val="3978260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C4F37-FCFF-935A-2281-59272066F4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942332-7C40-1D04-4C9C-739357E4AF3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681E863-5956-0793-D1A9-DFFC834C0AAB}"/>
              </a:ext>
            </a:extLst>
          </p:cNvPr>
          <p:cNvSpPr>
            <a:spLocks noGrp="1"/>
          </p:cNvSpPr>
          <p:nvPr>
            <p:ph type="body" idx="1"/>
          </p:nvPr>
        </p:nvSpPr>
        <p:spPr/>
        <p:txBody>
          <a:bodyPr/>
          <a:lstStyle/>
          <a:p>
            <a:r>
              <a:rPr lang="ja-JP" altLang="ja-JP" dirty="0"/>
              <a:t>まず、研究手法の1つ目は、新出単語のデータセット作成です。</a:t>
            </a:r>
          </a:p>
          <a:p>
            <a:r>
              <a:rPr lang="ja-JP" altLang="ja-JP" dirty="0"/>
              <a:t>現在は、基本情報技術者試験の新出単語と、Wikipediaから取得した要約を組み合わせてデータセットを作成しています。</a:t>
            </a:r>
          </a:p>
          <a:p>
            <a:r>
              <a:rPr lang="ja-JP" altLang="ja-JP" dirty="0"/>
              <a:t>今後は、新出単語を入力すると、公式資料や過去問、用語解説ページなどから説明を取得し、単語と説明を組み合わせたデータセットを自動で作成できるようにすることを目指します。</a:t>
            </a:r>
          </a:p>
        </p:txBody>
      </p:sp>
      <p:sp>
        <p:nvSpPr>
          <p:cNvPr id="4" name="スライド番号プレースホルダー 3">
            <a:extLst>
              <a:ext uri="{FF2B5EF4-FFF2-40B4-BE49-F238E27FC236}">
                <a16:creationId xmlns:a16="http://schemas.microsoft.com/office/drawing/2014/main" id="{4051BF04-20B5-AA73-0245-A11706DB3005}"/>
              </a:ext>
            </a:extLst>
          </p:cNvPr>
          <p:cNvSpPr>
            <a:spLocks noGrp="1"/>
          </p:cNvSpPr>
          <p:nvPr>
            <p:ph type="sldNum" sz="quarter" idx="5"/>
          </p:nvPr>
        </p:nvSpPr>
        <p:spPr/>
        <p:txBody>
          <a:bodyPr/>
          <a:lstStyle/>
          <a:p>
            <a:fld id="{767573F2-190B-471C-9050-42FF52361E68}" type="slidenum">
              <a:rPr kumimoji="1" lang="ja-JP" altLang="en-US" smtClean="0"/>
              <a:t>9</a:t>
            </a:fld>
            <a:endParaRPr kumimoji="1" lang="ja-JP" altLang="en-US"/>
          </a:p>
        </p:txBody>
      </p:sp>
    </p:spTree>
    <p:extLst>
      <p:ext uri="{BB962C8B-B14F-4D97-AF65-F5344CB8AC3E}">
        <p14:creationId xmlns:p14="http://schemas.microsoft.com/office/powerpoint/2010/main" val="208797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次に、収集した用語と説明を基に、問題生成用の学習データセットを作成します。</a:t>
            </a:r>
          </a:p>
          <a:p>
            <a:r>
              <a:rPr lang="ja-JP" altLang="ja-JP" dirty="0"/>
              <a:t>まず、未調整のモデルで4択問題を生成します。</a:t>
            </a:r>
          </a:p>
          <a:p>
            <a:r>
              <a:rPr lang="ja-JP" altLang="ja-JP" dirty="0"/>
              <a:t>その後、Python、LLM、Embeddingによ</a:t>
            </a:r>
            <a:r>
              <a:rPr lang="ja-JP" altLang="en-US" dirty="0"/>
              <a:t>って</a:t>
            </a:r>
            <a:r>
              <a:rPr lang="ja-JP" altLang="ja-JP" dirty="0"/>
              <a:t>生成した問題を添削します。</a:t>
            </a:r>
            <a:r>
              <a:rPr lang="ja-JP" altLang="en-US" dirty="0"/>
              <a:t>この添削方法を用いて評価を行うため詳細は</a:t>
            </a:r>
            <a:r>
              <a:rPr lang="en-US" altLang="ja-JP" dirty="0"/>
              <a:t>2</a:t>
            </a:r>
            <a:r>
              <a:rPr lang="ja-JP" altLang="en-US" dirty="0"/>
              <a:t>ページ後で説明します。</a:t>
            </a:r>
            <a:endParaRPr lang="ja-JP" altLang="ja-JP" dirty="0"/>
          </a:p>
          <a:p>
            <a:r>
              <a:rPr lang="ja-JP" altLang="ja-JP" dirty="0"/>
              <a:t>このようにして、問題文、選択肢、正解、解説がそろった添削済みデータを作成し、ファインチューニングに利用します。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10</a:t>
            </a:fld>
            <a:endParaRPr kumimoji="1" lang="ja-JP" altLang="en-US"/>
          </a:p>
        </p:txBody>
      </p:sp>
    </p:spTree>
    <p:extLst>
      <p:ext uri="{BB962C8B-B14F-4D97-AF65-F5344CB8AC3E}">
        <p14:creationId xmlns:p14="http://schemas.microsoft.com/office/powerpoint/2010/main" val="83417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続いて、学習データの違いによって、問題生成の品質がどのように変化するかを検証します。</a:t>
            </a:r>
          </a:p>
          <a:p>
            <a:r>
              <a:rPr lang="ja-JP" altLang="ja-JP" dirty="0"/>
              <a:t>比較する条件は4つです。</a:t>
            </a:r>
          </a:p>
          <a:p>
            <a:r>
              <a:rPr lang="ja-JP" altLang="ja-JP" dirty="0"/>
              <a:t>1つ目はファインチューニングを行わないモデルです。2つ目は、新出単語から生成して添削した400問で学習させたモデルです。3つ目は、新出単語に関する問題を除いた過去問400問で学習させたモデルです。4つ目は、添削済み問題200問と過去問200問を混合して学習させたモデルです。</a:t>
            </a:r>
          </a:p>
          <a:p>
            <a:r>
              <a:rPr lang="ja-JP" altLang="ja-JP" dirty="0"/>
              <a:t>これらのモデルに同じテストデータを入力し、生成された問題を比較することで、新出用語への対応力と資格試験らしい問題を生成する能力を検証します。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11</a:t>
            </a:fld>
            <a:endParaRPr kumimoji="1" lang="ja-JP" altLang="en-US"/>
          </a:p>
        </p:txBody>
      </p:sp>
    </p:spTree>
    <p:extLst>
      <p:ext uri="{BB962C8B-B14F-4D97-AF65-F5344CB8AC3E}">
        <p14:creationId xmlns:p14="http://schemas.microsoft.com/office/powerpoint/2010/main" val="38692838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生成した問題の評価には、3つの手法を組み合わせます。</a:t>
            </a:r>
          </a:p>
          <a:p>
            <a:r>
              <a:rPr lang="ja-JP" altLang="ja-JP" dirty="0"/>
              <a:t>Pythonでは、出力が空でないか、選択肢が不足していないか、日本語で出力されているかなど、形式面を確認します。</a:t>
            </a:r>
          </a:p>
          <a:p>
            <a:r>
              <a:rPr lang="ja-JP" altLang="ja-JP" dirty="0"/>
              <a:t>LLMでは、問題文が自然か、内容に誤りがないか、正解と解説が妥当かを確認します。</a:t>
            </a:r>
          </a:p>
          <a:p>
            <a:r>
              <a:rPr lang="ja-JP" altLang="ja-JP" dirty="0"/>
              <a:t>Embeddingでは、Sentence-BERTを用いて文章をベクトル化し、用語の説明と問題文の類似度を計算します。類似度は0.6以上を基準として検討しています。</a:t>
            </a:r>
          </a:p>
          <a:p>
            <a:r>
              <a:rPr lang="ja-JP" altLang="ja-JP" dirty="0"/>
              <a:t>それぞれ異なる観点から評価し、結果を組み合わせて、問題を採用するか除外するか判定します。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12</a:t>
            </a:fld>
            <a:endParaRPr kumimoji="1" lang="ja-JP" altLang="en-US"/>
          </a:p>
        </p:txBody>
      </p:sp>
    </p:spTree>
    <p:extLst>
      <p:ext uri="{BB962C8B-B14F-4D97-AF65-F5344CB8AC3E}">
        <p14:creationId xmlns:p14="http://schemas.microsoft.com/office/powerpoint/2010/main" val="38824996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現状の成果として、まず基本情報技術者試験の新出単語データセットを作成しました。</a:t>
            </a:r>
          </a:p>
          <a:p>
            <a:r>
              <a:rPr lang="ja-JP" altLang="ja-JP" dirty="0"/>
              <a:t>Wikipedia APIによる自動抽出と手作業による抽出を組み合わせ、251語を収集しています。内訳は、自動抽出が156語、手動抽出が95語です。</a:t>
            </a:r>
          </a:p>
          <a:p>
            <a:r>
              <a:rPr lang="ja-JP" altLang="ja-JP" dirty="0"/>
              <a:t>今後の課題は、単語の収集から説明文の取得までを自動化することと、Wikipedia以外の複数の情報源を活用することです。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13</a:t>
            </a:fld>
            <a:endParaRPr kumimoji="1" lang="ja-JP" altLang="en-US"/>
          </a:p>
        </p:txBody>
      </p:sp>
    </p:spTree>
    <p:extLst>
      <p:ext uri="{BB962C8B-B14F-4D97-AF65-F5344CB8AC3E}">
        <p14:creationId xmlns:p14="http://schemas.microsoft.com/office/powerpoint/2010/main" val="1858084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次に、添削済み生成問題の収集状況です。</a:t>
            </a:r>
          </a:p>
          <a:p>
            <a:r>
              <a:rPr lang="ja-JP" altLang="ja-JP" dirty="0"/>
              <a:t>現在、目標の200単語に対して、182単語分の問題を収集できています。</a:t>
            </a:r>
          </a:p>
          <a:p>
            <a:r>
              <a:rPr lang="ja-JP" altLang="ja-JP" dirty="0"/>
              <a:t>一方で、収集できた単語数の増加が停滞しており、問題の生成モデルに原因があるのか、あるいは添削の基準が厳しすぎるのか、分析する必要があります。</a:t>
            </a:r>
          </a:p>
          <a:p>
            <a:r>
              <a:rPr lang="ja-JP" altLang="ja-JP" dirty="0"/>
              <a:t>また、試験の分類によって収集割合に差があるため、用語の種類によって問題生成の難易度が異なる可能性も考えています。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14</a:t>
            </a:fld>
            <a:endParaRPr kumimoji="1" lang="ja-JP" altLang="en-US"/>
          </a:p>
        </p:txBody>
      </p:sp>
    </p:spTree>
    <p:extLst>
      <p:ext uri="{BB962C8B-B14F-4D97-AF65-F5344CB8AC3E}">
        <p14:creationId xmlns:p14="http://schemas.microsoft.com/office/powerpoint/2010/main" val="39171051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最後に、ファインチューニングの評価計画について説明します。</a:t>
            </a:r>
          </a:p>
          <a:p>
            <a:r>
              <a:rPr lang="ja-JP" altLang="ja-JP" dirty="0"/>
              <a:t>目的は、学習データの種類によって問題生成の品質がどのように変化するかを検証することです。</a:t>
            </a:r>
          </a:p>
          <a:p>
            <a:r>
              <a:rPr lang="ja-JP" altLang="ja-JP" dirty="0"/>
              <a:t>先ほど説明した4条件のモデルに対し、同一のテストデータと同一の添削器を使用します。評価指標には、最終的に採用された問題の割合、除外理由、各評価スコアを用います。</a:t>
            </a:r>
          </a:p>
          <a:p>
            <a:r>
              <a:rPr lang="ja-JP" altLang="ja-JP" dirty="0"/>
              <a:t>また、予備実験として、未調整のモデルに新出単語251語を入力し、添削器による評価を行いました。</a:t>
            </a:r>
          </a:p>
          <a:p>
            <a:r>
              <a:rPr lang="ja-JP" altLang="ja-JP" dirty="0"/>
              <a:t>今後は、テストデータ51語を用いた評価で、最終判定を通過する問題の割合が11.6％を超えることを目標とします。これを基準として、学習データの違いによる効果を検証します。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15</a:t>
            </a:fld>
            <a:endParaRPr kumimoji="1" lang="ja-JP" altLang="en-US"/>
          </a:p>
        </p:txBody>
      </p:sp>
    </p:spTree>
    <p:extLst>
      <p:ext uri="{BB962C8B-B14F-4D97-AF65-F5344CB8AC3E}">
        <p14:creationId xmlns:p14="http://schemas.microsoft.com/office/powerpoint/2010/main" val="531225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dirty="0"/>
              <a:t>今後は、まず問題の除外理由を分析し、生成・採用率を改善します。</a:t>
            </a:r>
          </a:p>
          <a:p>
            <a:r>
              <a:rPr lang="ja-JP" altLang="ja-JP" dirty="0"/>
              <a:t>次に、4条件のファインチューニングを比較し、複数の情報源を利用した知識データ構築の自動化を進めます。</a:t>
            </a:r>
          </a:p>
          <a:p>
            <a:r>
              <a:rPr lang="ja-JP" altLang="ja-JP" dirty="0"/>
              <a:t>将来的には、学習者の解答結果に応じて解説や復習問題を提示できる学習支援システムを目指します。</a:t>
            </a:r>
          </a:p>
          <a:p>
            <a:r>
              <a:rPr lang="ja-JP" altLang="ja-JP" dirty="0"/>
              <a:t>以上で発表を終わります。ご清聴ありがとうございました。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16</a:t>
            </a:fld>
            <a:endParaRPr kumimoji="1" lang="ja-JP" altLang="en-US"/>
          </a:p>
        </p:txBody>
      </p:sp>
    </p:spTree>
    <p:extLst>
      <p:ext uri="{BB962C8B-B14F-4D97-AF65-F5344CB8AC3E}">
        <p14:creationId xmlns:p14="http://schemas.microsoft.com/office/powerpoint/2010/main" val="2222191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Q1.</a:t>
            </a:r>
            <a:r>
              <a:rPr kumimoji="1" lang="ja-JP" altLang="en-US" dirty="0"/>
              <a:t>類似度においてなぜ</a:t>
            </a:r>
            <a:r>
              <a:rPr kumimoji="1" lang="en-US" altLang="ja-JP" dirty="0"/>
              <a:t>0.6</a:t>
            </a:r>
            <a:r>
              <a:rPr kumimoji="1" lang="ja-JP" altLang="en-US" dirty="0"/>
              <a:t>が妥当であると考えましたか</a:t>
            </a:r>
            <a:endParaRPr kumimoji="1" lang="en-US" altLang="ja-JP" dirty="0"/>
          </a:p>
          <a:p>
            <a:r>
              <a:rPr kumimoji="1" lang="en-US" altLang="ja-JP" dirty="0"/>
              <a:t>A1.</a:t>
            </a:r>
            <a:r>
              <a:rPr kumimoji="1" lang="ja-JP" altLang="en-US" dirty="0"/>
              <a:t>過去問題において</a:t>
            </a:r>
            <a:r>
              <a:rPr kumimoji="1" lang="en-US" altLang="ja-JP" dirty="0" err="1"/>
              <a:t>wikipedia</a:t>
            </a:r>
            <a:r>
              <a:rPr kumimoji="1" lang="ja-JP" altLang="en-US" dirty="0"/>
              <a:t>の要約と問題で類似度を計算したところ、</a:t>
            </a:r>
            <a:r>
              <a:rPr kumimoji="1" lang="en-US" altLang="ja-JP" dirty="0"/>
              <a:t>0.6</a:t>
            </a:r>
            <a:r>
              <a:rPr kumimoji="1" lang="ja-JP" altLang="en-US" dirty="0"/>
              <a:t>以上が最も</a:t>
            </a:r>
            <a:r>
              <a:rPr kumimoji="1" lang="en-US" altLang="ja-JP" dirty="0"/>
              <a:t>F1</a:t>
            </a:r>
            <a:r>
              <a:rPr kumimoji="1" lang="ja-JP" altLang="en-US" dirty="0"/>
              <a:t>スコアが高かったため</a:t>
            </a:r>
            <a:endParaRPr kumimoji="1" lang="en-US" altLang="ja-JP" dirty="0"/>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17</a:t>
            </a:fld>
            <a:endParaRPr kumimoji="1" lang="ja-JP" altLang="en-US"/>
          </a:p>
        </p:txBody>
      </p:sp>
    </p:spTree>
    <p:extLst>
      <p:ext uri="{BB962C8B-B14F-4D97-AF65-F5344CB8AC3E}">
        <p14:creationId xmlns:p14="http://schemas.microsoft.com/office/powerpoint/2010/main" val="1735953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過去問と添削した問題におけるファインチューニングの比率を変化させることで、</a:t>
            </a:r>
            <a:r>
              <a:rPr kumimoji="1" lang="en-US" altLang="ja-JP" dirty="0"/>
              <a:t>IPA</a:t>
            </a:r>
            <a:r>
              <a:rPr kumimoji="1" lang="ja-JP" altLang="en-US" dirty="0"/>
              <a:t>の新問題に対応できる</a:t>
            </a:r>
            <a:endParaRPr kumimoji="1" lang="en-US" altLang="ja-JP" dirty="0"/>
          </a:p>
          <a:p>
            <a:r>
              <a:rPr kumimoji="1" lang="ja-JP" altLang="en-US" dirty="0"/>
              <a:t>トレードオフ</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20</a:t>
            </a:fld>
            <a:endParaRPr kumimoji="1" lang="ja-JP" altLang="en-US"/>
          </a:p>
        </p:txBody>
      </p:sp>
    </p:spTree>
    <p:extLst>
      <p:ext uri="{BB962C8B-B14F-4D97-AF65-F5344CB8AC3E}">
        <p14:creationId xmlns:p14="http://schemas.microsoft.com/office/powerpoint/2010/main" val="2741548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E26A-B5D4-5125-976A-09D4918422E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685B786-CAF2-A75B-60BD-A45ABC1CA7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FA0D11-9291-8759-A485-860B98A09C7F}"/>
              </a:ext>
            </a:extLst>
          </p:cNvPr>
          <p:cNvSpPr>
            <a:spLocks noGrp="1"/>
          </p:cNvSpPr>
          <p:nvPr>
            <p:ph type="body" idx="1"/>
          </p:nvPr>
        </p:nvSpPr>
        <p:spPr/>
        <p:txBody>
          <a:bodyPr/>
          <a:lstStyle/>
          <a:p>
            <a:r>
              <a:rPr kumimoji="1" lang="ja-JP" altLang="en-US" dirty="0"/>
              <a:t>細分化</a:t>
            </a:r>
            <a:endParaRPr kumimoji="1" lang="en-US" altLang="ja-JP" dirty="0"/>
          </a:p>
          <a:p>
            <a:r>
              <a:rPr kumimoji="1" lang="ja-JP" altLang="en-US" dirty="0"/>
              <a:t>対応させる</a:t>
            </a:r>
            <a:endParaRPr kumimoji="1" lang="en-US" altLang="ja-JP" dirty="0"/>
          </a:p>
          <a:p>
            <a:endParaRPr kumimoji="1" lang="en-US" altLang="ja-JP" dirty="0"/>
          </a:p>
          <a:p>
            <a:r>
              <a:rPr kumimoji="1" lang="ja-JP" altLang="en-US" dirty="0"/>
              <a:t>大きな箱の中でもいい</a:t>
            </a:r>
            <a:endParaRPr kumimoji="1" lang="en-US" altLang="ja-JP" dirty="0"/>
          </a:p>
          <a:p>
            <a:r>
              <a:rPr kumimoji="1" lang="en-US" altLang="ja-JP" dirty="0"/>
              <a:t>123</a:t>
            </a:r>
            <a:r>
              <a:rPr kumimoji="1" lang="ja-JP" altLang="en-US" dirty="0"/>
              <a:t>をいい感じにする</a:t>
            </a:r>
            <a:endParaRPr kumimoji="1" lang="en-US" altLang="ja-JP" dirty="0"/>
          </a:p>
        </p:txBody>
      </p:sp>
      <p:sp>
        <p:nvSpPr>
          <p:cNvPr id="4" name="スライド番号プレースホルダー 3">
            <a:extLst>
              <a:ext uri="{FF2B5EF4-FFF2-40B4-BE49-F238E27FC236}">
                <a16:creationId xmlns:a16="http://schemas.microsoft.com/office/drawing/2014/main" id="{AB275FFE-D382-949C-4FFD-3CA89FAE1980}"/>
              </a:ext>
            </a:extLst>
          </p:cNvPr>
          <p:cNvSpPr>
            <a:spLocks noGrp="1"/>
          </p:cNvSpPr>
          <p:nvPr>
            <p:ph type="sldNum" sz="quarter" idx="5"/>
          </p:nvPr>
        </p:nvSpPr>
        <p:spPr/>
        <p:txBody>
          <a:bodyPr/>
          <a:lstStyle/>
          <a:p>
            <a:fld id="{767573F2-190B-471C-9050-42FF52361E68}" type="slidenum">
              <a:rPr kumimoji="1" lang="ja-JP" altLang="en-US" smtClean="0"/>
              <a:t>23</a:t>
            </a:fld>
            <a:endParaRPr kumimoji="1" lang="ja-JP" altLang="en-US"/>
          </a:p>
        </p:txBody>
      </p:sp>
    </p:spTree>
    <p:extLst>
      <p:ext uri="{BB962C8B-B14F-4D97-AF65-F5344CB8AC3E}">
        <p14:creationId xmlns:p14="http://schemas.microsoft.com/office/powerpoint/2010/main" val="3911610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32BAD-0AED-587B-318B-E64B3B4344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EF8FE5-1B8D-C28C-F76C-B6C2F7390D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1AA1CBC-3841-275F-F5C0-83F3BFCB82A7}"/>
              </a:ext>
            </a:extLst>
          </p:cNvPr>
          <p:cNvSpPr>
            <a:spLocks noGrp="1"/>
          </p:cNvSpPr>
          <p:nvPr>
            <p:ph type="body" idx="1"/>
          </p:nvPr>
        </p:nvSpPr>
        <p:spPr/>
        <p:txBody>
          <a:bodyPr/>
          <a:lstStyle/>
          <a:p>
            <a:r>
              <a:rPr kumimoji="1" lang="ja-JP" altLang="en-US" dirty="0"/>
              <a:t>細分化</a:t>
            </a:r>
            <a:endParaRPr kumimoji="1" lang="en-US" altLang="ja-JP" dirty="0"/>
          </a:p>
          <a:p>
            <a:r>
              <a:rPr kumimoji="1" lang="ja-JP" altLang="en-US" dirty="0"/>
              <a:t>対応させる</a:t>
            </a:r>
            <a:endParaRPr kumimoji="1" lang="en-US" altLang="ja-JP" dirty="0"/>
          </a:p>
          <a:p>
            <a:endParaRPr kumimoji="1" lang="en-US" altLang="ja-JP" dirty="0"/>
          </a:p>
          <a:p>
            <a:r>
              <a:rPr kumimoji="1" lang="ja-JP" altLang="en-US" dirty="0"/>
              <a:t>大きな箱の中でもいい</a:t>
            </a:r>
            <a:endParaRPr kumimoji="1" lang="en-US" altLang="ja-JP" dirty="0"/>
          </a:p>
          <a:p>
            <a:r>
              <a:rPr kumimoji="1" lang="en-US" altLang="ja-JP" dirty="0"/>
              <a:t>123</a:t>
            </a:r>
            <a:r>
              <a:rPr kumimoji="1" lang="ja-JP" altLang="en-US" dirty="0"/>
              <a:t>をいい感じにする</a:t>
            </a:r>
            <a:endParaRPr kumimoji="1" lang="en-US" altLang="ja-JP" dirty="0"/>
          </a:p>
        </p:txBody>
      </p:sp>
      <p:sp>
        <p:nvSpPr>
          <p:cNvPr id="4" name="スライド番号プレースホルダー 3">
            <a:extLst>
              <a:ext uri="{FF2B5EF4-FFF2-40B4-BE49-F238E27FC236}">
                <a16:creationId xmlns:a16="http://schemas.microsoft.com/office/drawing/2014/main" id="{8BC6983A-302C-D8E9-0F5D-92109327E638}"/>
              </a:ext>
            </a:extLst>
          </p:cNvPr>
          <p:cNvSpPr>
            <a:spLocks noGrp="1"/>
          </p:cNvSpPr>
          <p:nvPr>
            <p:ph type="sldNum" sz="quarter" idx="5"/>
          </p:nvPr>
        </p:nvSpPr>
        <p:spPr/>
        <p:txBody>
          <a:bodyPr/>
          <a:lstStyle/>
          <a:p>
            <a:fld id="{767573F2-190B-471C-9050-42FF52361E68}" type="slidenum">
              <a:rPr kumimoji="1" lang="ja-JP" altLang="en-US" smtClean="0"/>
              <a:t>24</a:t>
            </a:fld>
            <a:endParaRPr kumimoji="1" lang="ja-JP" altLang="en-US"/>
          </a:p>
        </p:txBody>
      </p:sp>
    </p:spTree>
    <p:extLst>
      <p:ext uri="{BB962C8B-B14F-4D97-AF65-F5344CB8AC3E}">
        <p14:creationId xmlns:p14="http://schemas.microsoft.com/office/powerpoint/2010/main" val="3267824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データかプログラムか分からない</a:t>
            </a:r>
            <a:endParaRPr kumimoji="1" lang="en-US" altLang="ja-JP" dirty="0"/>
          </a:p>
          <a:p>
            <a:r>
              <a:rPr kumimoji="1" lang="en-US" altLang="ja-JP" dirty="0"/>
              <a:t>P6</a:t>
            </a:r>
            <a:r>
              <a:rPr kumimoji="1" lang="ja-JP" altLang="en-US" dirty="0"/>
              <a:t>との対応</a:t>
            </a:r>
          </a:p>
        </p:txBody>
      </p:sp>
      <p:sp>
        <p:nvSpPr>
          <p:cNvPr id="4" name="スライド番号プレースホルダー 3"/>
          <p:cNvSpPr>
            <a:spLocks noGrp="1"/>
          </p:cNvSpPr>
          <p:nvPr>
            <p:ph type="sldNum" sz="quarter" idx="5"/>
          </p:nvPr>
        </p:nvSpPr>
        <p:spPr/>
        <p:txBody>
          <a:bodyPr/>
          <a:lstStyle/>
          <a:p>
            <a:fld id="{767573F2-190B-471C-9050-42FF52361E68}" type="slidenum">
              <a:rPr kumimoji="1" lang="ja-JP" altLang="en-US" smtClean="0"/>
              <a:t>27</a:t>
            </a:fld>
            <a:endParaRPr kumimoji="1" lang="ja-JP" altLang="en-US"/>
          </a:p>
        </p:txBody>
      </p:sp>
    </p:spTree>
    <p:extLst>
      <p:ext uri="{BB962C8B-B14F-4D97-AF65-F5344CB8AC3E}">
        <p14:creationId xmlns:p14="http://schemas.microsoft.com/office/powerpoint/2010/main" val="1095356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5B6990-3BE1-C6FA-DFFB-FC54DF4E6F81}"/>
              </a:ext>
            </a:extLst>
          </p:cNvPr>
          <p:cNvSpPr>
            <a:spLocks noGrp="1"/>
          </p:cNvSpPr>
          <p:nvPr>
            <p:ph type="ctrTitle"/>
          </p:nvPr>
        </p:nvSpPr>
        <p:spPr>
          <a:xfrm>
            <a:off x="1524000" y="1122363"/>
            <a:ext cx="9144000" cy="2387600"/>
          </a:xfrm>
          <a:prstGeom prst="rect">
            <a:avLst/>
          </a:prstGeom>
        </p:spPr>
        <p:txBody>
          <a:bodyPr anchor="b">
            <a:normAutofit/>
          </a:bodyPr>
          <a:lstStyle>
            <a:lvl1pPr algn="ctr">
              <a:defRPr sz="4400" b="0"/>
            </a:lvl1pPr>
          </a:lstStyle>
          <a:p>
            <a:r>
              <a:rPr kumimoji="1" lang="ja-JP" altLang="en-US"/>
              <a:t>マスター タイトルの書式設定</a:t>
            </a:r>
            <a:endParaRPr kumimoji="1" lang="ja-JP" altLang="en-US" dirty="0"/>
          </a:p>
        </p:txBody>
      </p:sp>
      <p:sp>
        <p:nvSpPr>
          <p:cNvPr id="3" name="字幕 2">
            <a:extLst>
              <a:ext uri="{FF2B5EF4-FFF2-40B4-BE49-F238E27FC236}">
                <a16:creationId xmlns:a16="http://schemas.microsoft.com/office/drawing/2014/main" id="{3DC04A9D-618B-2AC1-6483-54CAC45B791C}"/>
              </a:ext>
            </a:extLst>
          </p:cNvPr>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endParaRPr kumimoji="1" lang="ja-JP" altLang="en-US" dirty="0"/>
          </a:p>
        </p:txBody>
      </p:sp>
      <p:sp>
        <p:nvSpPr>
          <p:cNvPr id="4" name="日付プレースホルダー 3">
            <a:extLst>
              <a:ext uri="{FF2B5EF4-FFF2-40B4-BE49-F238E27FC236}">
                <a16:creationId xmlns:a16="http://schemas.microsoft.com/office/drawing/2014/main" id="{1A06CD3E-D7EF-0A3E-5CA8-F6F88A004A37}"/>
              </a:ext>
            </a:extLst>
          </p:cNvPr>
          <p:cNvSpPr>
            <a:spLocks noGrp="1"/>
          </p:cNvSpPr>
          <p:nvPr>
            <p:ph type="dt" sz="half" idx="10"/>
          </p:nvPr>
        </p:nvSpPr>
        <p:spPr>
          <a:xfrm>
            <a:off x="838200" y="6356350"/>
            <a:ext cx="2743200" cy="365125"/>
          </a:xfrm>
          <a:prstGeom prst="rect">
            <a:avLst/>
          </a:prstGeom>
        </p:spPr>
        <p:txBody>
          <a:bodyPr/>
          <a:lstStyle/>
          <a:p>
            <a:fld id="{06443261-3AA3-466D-819F-73FEE08E09B9}" type="datetime1">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1FC04291-D340-032F-C5AD-58C0FE9ED918}"/>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5BA97B-A3FB-6F59-25B5-E4D7B39AA2BB}"/>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cxnSp>
        <p:nvCxnSpPr>
          <p:cNvPr id="20" name="直線コネクタ 19">
            <a:extLst>
              <a:ext uri="{FF2B5EF4-FFF2-40B4-BE49-F238E27FC236}">
                <a16:creationId xmlns:a16="http://schemas.microsoft.com/office/drawing/2014/main" id="{67281D07-E283-CB61-DB4E-65DEB50FD9B9}"/>
              </a:ext>
            </a:extLst>
          </p:cNvPr>
          <p:cNvCxnSpPr/>
          <p:nvPr userDrawn="1"/>
        </p:nvCxnSpPr>
        <p:spPr>
          <a:xfrm>
            <a:off x="1524000" y="3556477"/>
            <a:ext cx="91440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4315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5587646-7E05-28BD-B38E-83E2A338B13C}"/>
              </a:ext>
            </a:extLst>
          </p:cNvPr>
          <p:cNvSpPr>
            <a:spLocks noGrp="1"/>
          </p:cNvSpPr>
          <p:nvPr>
            <p:ph type="title"/>
          </p:nvPr>
        </p:nvSpPr>
        <p:spPr>
          <a:xfrm>
            <a:off x="838198" y="418518"/>
            <a:ext cx="10515601" cy="547052"/>
          </a:xfrm>
        </p:spPr>
        <p:txBody>
          <a:bodyPr>
            <a:noAutofit/>
          </a:bodyPr>
          <a:lstStyle>
            <a:lvl1pPr>
              <a:defRPr sz="2800" b="1"/>
            </a:lvl1pPr>
          </a:lstStyle>
          <a:p>
            <a:r>
              <a:rPr kumimoji="1" lang="ja-JP" altLang="en-US"/>
              <a:t>マスター タイトルの書式設定</a:t>
            </a:r>
          </a:p>
        </p:txBody>
      </p:sp>
      <p:sp>
        <p:nvSpPr>
          <p:cNvPr id="4" name="日付プレースホルダー 3">
            <a:extLst>
              <a:ext uri="{FF2B5EF4-FFF2-40B4-BE49-F238E27FC236}">
                <a16:creationId xmlns:a16="http://schemas.microsoft.com/office/drawing/2014/main" id="{CECE5388-7BDA-A6B6-DF08-6C8E1FE3BF75}"/>
              </a:ext>
            </a:extLst>
          </p:cNvPr>
          <p:cNvSpPr>
            <a:spLocks noGrp="1"/>
          </p:cNvSpPr>
          <p:nvPr>
            <p:ph type="dt" sz="half" idx="10"/>
          </p:nvPr>
        </p:nvSpPr>
        <p:spPr>
          <a:xfrm>
            <a:off x="838200" y="6356350"/>
            <a:ext cx="2743200" cy="365125"/>
          </a:xfrm>
          <a:prstGeom prst="rect">
            <a:avLst/>
          </a:prstGeom>
        </p:spPr>
        <p:txBody>
          <a:bodyPr/>
          <a:lstStyle/>
          <a:p>
            <a:fld id="{2784ECFA-5745-425A-B462-A6D96DA59067}" type="datetime1">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87D509E5-BDD0-81D3-8061-16DF4E5D625F}"/>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D400FB-7DB9-E84B-5A89-E02582ADE4BB}"/>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
        <p:nvSpPr>
          <p:cNvPr id="11" name="テキスト プレースホルダー 23">
            <a:extLst>
              <a:ext uri="{FF2B5EF4-FFF2-40B4-BE49-F238E27FC236}">
                <a16:creationId xmlns:a16="http://schemas.microsoft.com/office/drawing/2014/main" id="{03907FD5-E06E-5CA6-EB0E-F03BC507BBD5}"/>
              </a:ext>
            </a:extLst>
          </p:cNvPr>
          <p:cNvSpPr>
            <a:spLocks noGrp="1"/>
          </p:cNvSpPr>
          <p:nvPr>
            <p:ph idx="1"/>
          </p:nvPr>
        </p:nvSpPr>
        <p:spPr>
          <a:xfrm>
            <a:off x="838199" y="1023730"/>
            <a:ext cx="10515601" cy="5153234"/>
          </a:xfrm>
          <a:prstGeom prst="rect">
            <a:avLst/>
          </a:prstGeom>
        </p:spPr>
        <p:txBody>
          <a:bodyPr vert="horz" lIns="91440" tIns="45720" rIns="91440" bIns="45720" rtlCol="0">
            <a:normAutofit/>
          </a:bodyPr>
          <a:lstStyle>
            <a:lvl1pPr>
              <a:defRPr sz="2000">
                <a:latin typeface="+mn-ea"/>
                <a:ea typeface="+mn-ea"/>
              </a:defRPr>
            </a:lvl1pPr>
            <a:lvl2pPr>
              <a:defRPr sz="1800">
                <a:latin typeface="+mn-ea"/>
                <a:ea typeface="+mn-ea"/>
              </a:defRPr>
            </a:lvl2pPr>
            <a:lvl3pPr>
              <a:defRPr sz="1600">
                <a:latin typeface="+mn-ea"/>
                <a:ea typeface="+mn-ea"/>
              </a:defRPr>
            </a:lvl3pPr>
            <a:lvl4pPr>
              <a:defRPr sz="1400">
                <a:latin typeface="+mn-ea"/>
                <a:ea typeface="+mn-ea"/>
              </a:defRPr>
            </a:lvl4pPr>
            <a:lvl5pPr>
              <a:defRPr sz="1400">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cxnSp>
        <p:nvCxnSpPr>
          <p:cNvPr id="14" name="直線コネクタ 13">
            <a:extLst>
              <a:ext uri="{FF2B5EF4-FFF2-40B4-BE49-F238E27FC236}">
                <a16:creationId xmlns:a16="http://schemas.microsoft.com/office/drawing/2014/main" id="{B97D9D59-03D9-4476-B80C-50F5E0226B62}"/>
              </a:ext>
            </a:extLst>
          </p:cNvPr>
          <p:cNvCxnSpPr>
            <a:cxnSpLocks/>
          </p:cNvCxnSpPr>
          <p:nvPr userDrawn="1"/>
        </p:nvCxnSpPr>
        <p:spPr>
          <a:xfrm>
            <a:off x="838199" y="965570"/>
            <a:ext cx="10515601"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9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C057A-2EDC-6862-6282-A27E9979B30F}"/>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07CE213-D8B3-4B22-D815-A690A47FEA73}"/>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F7105F0-E48E-5206-AF00-CB9729FEBB69}"/>
              </a:ext>
            </a:extLst>
          </p:cNvPr>
          <p:cNvSpPr>
            <a:spLocks noGrp="1"/>
          </p:cNvSpPr>
          <p:nvPr>
            <p:ph type="dt" sz="half" idx="10"/>
          </p:nvPr>
        </p:nvSpPr>
        <p:spPr>
          <a:xfrm>
            <a:off x="838200" y="6356350"/>
            <a:ext cx="2743200" cy="365125"/>
          </a:xfrm>
          <a:prstGeom prst="rect">
            <a:avLst/>
          </a:prstGeom>
        </p:spPr>
        <p:txBody>
          <a:bodyPr/>
          <a:lstStyle/>
          <a:p>
            <a:fld id="{41899DE8-0B2E-4001-B61A-15A6F574BED5}" type="datetime1">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4A293C58-85EB-5977-E855-CC6D9BE45873}"/>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134B763-B74E-723F-2CCB-41924281CC5F}"/>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Tree>
    <p:extLst>
      <p:ext uri="{BB962C8B-B14F-4D97-AF65-F5344CB8AC3E}">
        <p14:creationId xmlns:p14="http://schemas.microsoft.com/office/powerpoint/2010/main" val="1118528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5" name="日付プレースホルダー 4">
            <a:extLst>
              <a:ext uri="{FF2B5EF4-FFF2-40B4-BE49-F238E27FC236}">
                <a16:creationId xmlns:a16="http://schemas.microsoft.com/office/drawing/2014/main" id="{D49D4F7B-C92D-473E-8689-0070F46E709C}"/>
              </a:ext>
            </a:extLst>
          </p:cNvPr>
          <p:cNvSpPr>
            <a:spLocks noGrp="1"/>
          </p:cNvSpPr>
          <p:nvPr>
            <p:ph type="dt" sz="half" idx="10"/>
          </p:nvPr>
        </p:nvSpPr>
        <p:spPr>
          <a:xfrm>
            <a:off x="838200" y="6356350"/>
            <a:ext cx="2743200" cy="365125"/>
          </a:xfrm>
          <a:prstGeom prst="rect">
            <a:avLst/>
          </a:prstGeom>
        </p:spPr>
        <p:txBody>
          <a:bodyPr/>
          <a:lstStyle/>
          <a:p>
            <a:fld id="{0DC6F1E8-1500-4C20-BE52-45B14B6139E6}" type="datetime1">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14326C51-71FF-0EA1-BD1E-C50CA8199FE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056E0F-6F62-A36C-1911-E59FDF30F81E}"/>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dirty="0"/>
          </a:p>
        </p:txBody>
      </p:sp>
      <p:sp>
        <p:nvSpPr>
          <p:cNvPr id="8" name="タイトル プレースホルダー 22">
            <a:extLst>
              <a:ext uri="{FF2B5EF4-FFF2-40B4-BE49-F238E27FC236}">
                <a16:creationId xmlns:a16="http://schemas.microsoft.com/office/drawing/2014/main" id="{A106DEC4-435E-F43B-3146-5D002637D433}"/>
              </a:ext>
            </a:extLst>
          </p:cNvPr>
          <p:cNvSpPr>
            <a:spLocks noGrp="1"/>
          </p:cNvSpPr>
          <p:nvPr>
            <p:ph type="title"/>
          </p:nvPr>
        </p:nvSpPr>
        <p:spPr>
          <a:xfrm>
            <a:off x="838199" y="365126"/>
            <a:ext cx="10515601" cy="598964"/>
          </a:xfrm>
          <a:prstGeom prst="rect">
            <a:avLst/>
          </a:prstGeom>
        </p:spPr>
        <p:txBody>
          <a:bodyPr vert="horz" lIns="91440" tIns="45720" rIns="91440" bIns="45720" rtlCol="0" anchor="ctr">
            <a:normAutofit/>
          </a:bodyPr>
          <a:lstStyle>
            <a:lvl1pPr>
              <a:defRPr sz="3200"/>
            </a:lvl1pPr>
          </a:lstStyle>
          <a:p>
            <a:r>
              <a:rPr kumimoji="1" lang="ja-JP" altLang="en-US" dirty="0"/>
              <a:t>マスター タイトルの書式設定</a:t>
            </a:r>
          </a:p>
        </p:txBody>
      </p:sp>
      <p:sp>
        <p:nvSpPr>
          <p:cNvPr id="13" name="コンテンツ プレースホルダー 3">
            <a:extLst>
              <a:ext uri="{FF2B5EF4-FFF2-40B4-BE49-F238E27FC236}">
                <a16:creationId xmlns:a16="http://schemas.microsoft.com/office/drawing/2014/main" id="{29FB3DEE-E2BA-0551-C2AB-A69B09BFDB8F}"/>
              </a:ext>
            </a:extLst>
          </p:cNvPr>
          <p:cNvSpPr>
            <a:spLocks noGrp="1"/>
          </p:cNvSpPr>
          <p:nvPr>
            <p:ph sz="half" idx="2"/>
          </p:nvPr>
        </p:nvSpPr>
        <p:spPr>
          <a:xfrm>
            <a:off x="841376" y="1321905"/>
            <a:ext cx="5168863" cy="4855056"/>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4" name="コンテンツ プレースホルダー 5">
            <a:extLst>
              <a:ext uri="{FF2B5EF4-FFF2-40B4-BE49-F238E27FC236}">
                <a16:creationId xmlns:a16="http://schemas.microsoft.com/office/drawing/2014/main" id="{5FDC69BE-412A-A243-1E45-858C82E26A79}"/>
              </a:ext>
            </a:extLst>
          </p:cNvPr>
          <p:cNvSpPr>
            <a:spLocks noGrp="1"/>
          </p:cNvSpPr>
          <p:nvPr>
            <p:ph sz="quarter" idx="4"/>
          </p:nvPr>
        </p:nvSpPr>
        <p:spPr>
          <a:xfrm>
            <a:off x="6159481" y="1321905"/>
            <a:ext cx="5194319" cy="4855055"/>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cxnSp>
        <p:nvCxnSpPr>
          <p:cNvPr id="15" name="直線コネクタ 14">
            <a:extLst>
              <a:ext uri="{FF2B5EF4-FFF2-40B4-BE49-F238E27FC236}">
                <a16:creationId xmlns:a16="http://schemas.microsoft.com/office/drawing/2014/main" id="{7E3A4139-643A-7D01-8BA1-C7EC6C7676F1}"/>
              </a:ext>
            </a:extLst>
          </p:cNvPr>
          <p:cNvCxnSpPr>
            <a:cxnSpLocks/>
          </p:cNvCxnSpPr>
          <p:nvPr userDrawn="1"/>
        </p:nvCxnSpPr>
        <p:spPr>
          <a:xfrm>
            <a:off x="839787" y="1243866"/>
            <a:ext cx="5170452"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49ACFC20-484D-E590-E57C-18A61C09433F}"/>
              </a:ext>
            </a:extLst>
          </p:cNvPr>
          <p:cNvCxnSpPr>
            <a:cxnSpLocks/>
          </p:cNvCxnSpPr>
          <p:nvPr userDrawn="1"/>
        </p:nvCxnSpPr>
        <p:spPr>
          <a:xfrm>
            <a:off x="6183348" y="1243866"/>
            <a:ext cx="5170452"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7461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較">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59F99905-6E81-4B2B-CBF1-75E840DB66A6}"/>
              </a:ext>
            </a:extLst>
          </p:cNvPr>
          <p:cNvSpPr>
            <a:spLocks noGrp="1"/>
          </p:cNvSpPr>
          <p:nvPr>
            <p:ph type="body" idx="1"/>
          </p:nvPr>
        </p:nvSpPr>
        <p:spPr>
          <a:xfrm>
            <a:off x="839788" y="1470701"/>
            <a:ext cx="5168863" cy="823912"/>
          </a:xfrm>
          <a:prstGeom prst="rect">
            <a:avLst/>
          </a:prstGeo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394919A-1A11-7A2D-9C33-B7AC37B6A875}"/>
              </a:ext>
            </a:extLst>
          </p:cNvPr>
          <p:cNvSpPr>
            <a:spLocks noGrp="1"/>
          </p:cNvSpPr>
          <p:nvPr>
            <p:ph sz="half" idx="2"/>
          </p:nvPr>
        </p:nvSpPr>
        <p:spPr>
          <a:xfrm>
            <a:off x="839788" y="2505075"/>
            <a:ext cx="5168863" cy="3684588"/>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C78B2C4F-7FF0-0523-759F-A0979B2AE165}"/>
              </a:ext>
            </a:extLst>
          </p:cNvPr>
          <p:cNvSpPr>
            <a:spLocks noGrp="1"/>
          </p:cNvSpPr>
          <p:nvPr>
            <p:ph type="body" sz="quarter" idx="3"/>
          </p:nvPr>
        </p:nvSpPr>
        <p:spPr>
          <a:xfrm>
            <a:off x="6157893" y="1470701"/>
            <a:ext cx="5194319" cy="823912"/>
          </a:xfrm>
          <a:prstGeom prst="rect">
            <a:avLst/>
          </a:prstGeo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3708924-D218-66C2-958E-9E42D4712558}"/>
              </a:ext>
            </a:extLst>
          </p:cNvPr>
          <p:cNvSpPr>
            <a:spLocks noGrp="1"/>
          </p:cNvSpPr>
          <p:nvPr>
            <p:ph sz="quarter" idx="4"/>
          </p:nvPr>
        </p:nvSpPr>
        <p:spPr>
          <a:xfrm>
            <a:off x="6157893" y="2505075"/>
            <a:ext cx="5194319" cy="3684588"/>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7" name="日付プレースホルダー 6">
            <a:extLst>
              <a:ext uri="{FF2B5EF4-FFF2-40B4-BE49-F238E27FC236}">
                <a16:creationId xmlns:a16="http://schemas.microsoft.com/office/drawing/2014/main" id="{D6F470AB-3B51-3821-8B00-AF82E79F32CF}"/>
              </a:ext>
            </a:extLst>
          </p:cNvPr>
          <p:cNvSpPr>
            <a:spLocks noGrp="1"/>
          </p:cNvSpPr>
          <p:nvPr>
            <p:ph type="dt" sz="half" idx="10"/>
          </p:nvPr>
        </p:nvSpPr>
        <p:spPr>
          <a:xfrm>
            <a:off x="838200" y="6356350"/>
            <a:ext cx="2743200" cy="365125"/>
          </a:xfrm>
          <a:prstGeom prst="rect">
            <a:avLst/>
          </a:prstGeom>
        </p:spPr>
        <p:txBody>
          <a:bodyPr/>
          <a:lstStyle/>
          <a:p>
            <a:fld id="{1CF1C6DE-B1DE-40AE-82D3-B6EBE66893ED}" type="datetime1">
              <a:rPr kumimoji="1" lang="ja-JP" altLang="en-US" smtClean="0"/>
              <a:t>2026/10/21</a:t>
            </a:fld>
            <a:endParaRPr kumimoji="1" lang="ja-JP" altLang="en-US"/>
          </a:p>
        </p:txBody>
      </p:sp>
      <p:sp>
        <p:nvSpPr>
          <p:cNvPr id="8" name="フッター プレースホルダー 7">
            <a:extLst>
              <a:ext uri="{FF2B5EF4-FFF2-40B4-BE49-F238E27FC236}">
                <a16:creationId xmlns:a16="http://schemas.microsoft.com/office/drawing/2014/main" id="{D5A17BB1-23F6-6C39-A4EA-364F94B9DA3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4B2F639-4B8E-F939-5729-B04DDE285BF8}"/>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
        <p:nvSpPr>
          <p:cNvPr id="10" name="タイトル プレースホルダー 22">
            <a:extLst>
              <a:ext uri="{FF2B5EF4-FFF2-40B4-BE49-F238E27FC236}">
                <a16:creationId xmlns:a16="http://schemas.microsoft.com/office/drawing/2014/main" id="{5C614DBC-398D-D789-3640-1D82B636D400}"/>
              </a:ext>
            </a:extLst>
          </p:cNvPr>
          <p:cNvSpPr>
            <a:spLocks noGrp="1"/>
          </p:cNvSpPr>
          <p:nvPr>
            <p:ph type="title"/>
          </p:nvPr>
        </p:nvSpPr>
        <p:spPr>
          <a:xfrm>
            <a:off x="838199" y="365126"/>
            <a:ext cx="10515601" cy="938888"/>
          </a:xfrm>
          <a:prstGeom prst="rect">
            <a:avLst/>
          </a:prstGeom>
        </p:spPr>
        <p:txBody>
          <a:bodyPr vert="horz" lIns="91440" tIns="45720" rIns="91440" bIns="45720" rtlCol="0" anchor="ctr">
            <a:normAutofit/>
          </a:bodyPr>
          <a:lstStyle>
            <a:lvl1pPr>
              <a:defRPr sz="3600"/>
            </a:lvl1pPr>
          </a:lstStyle>
          <a:p>
            <a:r>
              <a:rPr kumimoji="1" lang="ja-JP" altLang="en-US"/>
              <a:t>マスター タイトルの書式設定</a:t>
            </a:r>
            <a:endParaRPr kumimoji="1" lang="ja-JP" altLang="en-US" dirty="0"/>
          </a:p>
        </p:txBody>
      </p:sp>
      <p:cxnSp>
        <p:nvCxnSpPr>
          <p:cNvPr id="11" name="直線コネクタ 10">
            <a:extLst>
              <a:ext uri="{FF2B5EF4-FFF2-40B4-BE49-F238E27FC236}">
                <a16:creationId xmlns:a16="http://schemas.microsoft.com/office/drawing/2014/main" id="{E6E1EC27-09E0-20BE-4847-633B1F782C4E}"/>
              </a:ext>
            </a:extLst>
          </p:cNvPr>
          <p:cNvCxnSpPr>
            <a:cxnSpLocks/>
          </p:cNvCxnSpPr>
          <p:nvPr userDrawn="1"/>
        </p:nvCxnSpPr>
        <p:spPr>
          <a:xfrm>
            <a:off x="838199" y="2409737"/>
            <a:ext cx="5170452"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75C44F8B-5615-B3AA-6DE7-ED7A2E1A79F2}"/>
              </a:ext>
            </a:extLst>
          </p:cNvPr>
          <p:cNvCxnSpPr>
            <a:cxnSpLocks/>
          </p:cNvCxnSpPr>
          <p:nvPr userDrawn="1"/>
        </p:nvCxnSpPr>
        <p:spPr>
          <a:xfrm>
            <a:off x="6181760" y="2409737"/>
            <a:ext cx="5170452"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8749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75273EDE-248A-CA6E-53F2-1E07D3897EB0}"/>
              </a:ext>
            </a:extLst>
          </p:cNvPr>
          <p:cNvSpPr>
            <a:spLocks noGrp="1"/>
          </p:cNvSpPr>
          <p:nvPr>
            <p:ph type="dt" sz="half" idx="10"/>
          </p:nvPr>
        </p:nvSpPr>
        <p:spPr>
          <a:xfrm>
            <a:off x="838200" y="6356350"/>
            <a:ext cx="2743200" cy="365125"/>
          </a:xfrm>
          <a:prstGeom prst="rect">
            <a:avLst/>
          </a:prstGeom>
        </p:spPr>
        <p:txBody>
          <a:bodyPr/>
          <a:lstStyle/>
          <a:p>
            <a:fld id="{FEAA3A2D-6868-4467-BF3B-BF31E9282862}" type="datetime1">
              <a:rPr kumimoji="1" lang="ja-JP" altLang="en-US" smtClean="0"/>
              <a:t>2026/10/21</a:t>
            </a:fld>
            <a:endParaRPr kumimoji="1" lang="ja-JP" altLang="en-US"/>
          </a:p>
        </p:txBody>
      </p:sp>
      <p:sp>
        <p:nvSpPr>
          <p:cNvPr id="4" name="フッター プレースホルダー 3">
            <a:extLst>
              <a:ext uri="{FF2B5EF4-FFF2-40B4-BE49-F238E27FC236}">
                <a16:creationId xmlns:a16="http://schemas.microsoft.com/office/drawing/2014/main" id="{B669DC4A-2515-9A3E-FC58-F02D6D3BFF6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440F6B2-9A9C-037E-1F49-9AF50357BB96}"/>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
        <p:nvSpPr>
          <p:cNvPr id="7" name="タイトル プレースホルダー 22">
            <a:extLst>
              <a:ext uri="{FF2B5EF4-FFF2-40B4-BE49-F238E27FC236}">
                <a16:creationId xmlns:a16="http://schemas.microsoft.com/office/drawing/2014/main" id="{A45A37F8-E8E3-F240-AF85-6C6FD5E477AB}"/>
              </a:ext>
            </a:extLst>
          </p:cNvPr>
          <p:cNvSpPr>
            <a:spLocks noGrp="1"/>
          </p:cNvSpPr>
          <p:nvPr>
            <p:ph type="title"/>
          </p:nvPr>
        </p:nvSpPr>
        <p:spPr>
          <a:xfrm>
            <a:off x="838199" y="365126"/>
            <a:ext cx="10515601" cy="938888"/>
          </a:xfrm>
          <a:prstGeom prst="rect">
            <a:avLst/>
          </a:prstGeom>
        </p:spPr>
        <p:txBody>
          <a:bodyPr vert="horz" lIns="91440" tIns="45720" rIns="91440" bIns="45720" rtlCol="0" anchor="ctr">
            <a:normAutofit/>
          </a:bodyPr>
          <a:lstStyle>
            <a:lvl1pPr>
              <a:defRPr sz="3600"/>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204721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4E7400E-4EAF-AD69-E8AC-B7B8EE356666}"/>
              </a:ext>
            </a:extLst>
          </p:cNvPr>
          <p:cNvSpPr>
            <a:spLocks noGrp="1"/>
          </p:cNvSpPr>
          <p:nvPr>
            <p:ph type="dt" sz="half" idx="10"/>
          </p:nvPr>
        </p:nvSpPr>
        <p:spPr>
          <a:xfrm>
            <a:off x="838200" y="6356350"/>
            <a:ext cx="2743200" cy="365125"/>
          </a:xfrm>
          <a:prstGeom prst="rect">
            <a:avLst/>
          </a:prstGeom>
        </p:spPr>
        <p:txBody>
          <a:bodyPr/>
          <a:lstStyle/>
          <a:p>
            <a:fld id="{87BB4212-8284-4AFA-A75F-825F17DD837E}" type="datetime1">
              <a:rPr kumimoji="1" lang="ja-JP" altLang="en-US" smtClean="0"/>
              <a:t>2026/10/21</a:t>
            </a:fld>
            <a:endParaRPr kumimoji="1" lang="ja-JP" altLang="en-US"/>
          </a:p>
        </p:txBody>
      </p:sp>
      <p:sp>
        <p:nvSpPr>
          <p:cNvPr id="3" name="フッター プレースホルダー 2">
            <a:extLst>
              <a:ext uri="{FF2B5EF4-FFF2-40B4-BE49-F238E27FC236}">
                <a16:creationId xmlns:a16="http://schemas.microsoft.com/office/drawing/2014/main" id="{94943E7A-D9B1-3C18-3212-E883370D1F5F}"/>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D53D476-72A9-8832-3789-833F3C8F7056}"/>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
        <p:nvSpPr>
          <p:cNvPr id="5" name="テキスト プレースホルダー 23">
            <a:extLst>
              <a:ext uri="{FF2B5EF4-FFF2-40B4-BE49-F238E27FC236}">
                <a16:creationId xmlns:a16="http://schemas.microsoft.com/office/drawing/2014/main" id="{253114B8-401A-2F75-CE77-6317DA4CEF71}"/>
              </a:ext>
            </a:extLst>
          </p:cNvPr>
          <p:cNvSpPr>
            <a:spLocks noGrp="1"/>
          </p:cNvSpPr>
          <p:nvPr>
            <p:ph idx="1"/>
          </p:nvPr>
        </p:nvSpPr>
        <p:spPr>
          <a:xfrm>
            <a:off x="838199" y="365125"/>
            <a:ext cx="10515601" cy="5811837"/>
          </a:xfrm>
          <a:prstGeom prst="rect">
            <a:avLst/>
          </a:prstGeom>
        </p:spPr>
        <p:txBody>
          <a:bodyPr vert="horz" lIns="91440" tIns="45720" rIns="91440" bIns="45720" rtlCol="0">
            <a:normAutofit/>
          </a:bodyPr>
          <a:lstStyle>
            <a:lvl1pPr>
              <a:defRPr sz="2000"/>
            </a:lvl1pPr>
            <a:lvl2pPr>
              <a:defRPr sz="1800"/>
            </a:lvl2pPr>
            <a:lvl3pPr>
              <a:defRPr sz="1600"/>
            </a:lvl3pPr>
            <a:lvl4pPr>
              <a:defRPr sz="1400"/>
            </a:lvl4pPr>
            <a:lvl5pPr>
              <a:defRPr sz="14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012905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6703CC-6107-5E36-E8C2-C9305646EE40}"/>
              </a:ext>
            </a:extLst>
          </p:cNvPr>
          <p:cNvSpPr>
            <a:spLocks noGrp="1"/>
          </p:cNvSpPr>
          <p:nvPr>
            <p:ph type="title"/>
          </p:nvPr>
        </p:nvSpPr>
        <p:spPr>
          <a:xfrm>
            <a:off x="839788" y="457200"/>
            <a:ext cx="3932237" cy="1600200"/>
          </a:xfrm>
          <a:prstGeom prst="rect">
            <a:avLst/>
          </a:prstGeom>
        </p:spPr>
        <p:txBody>
          <a:bodyPr anchor="b">
            <a:normAutofit/>
          </a:bodyPr>
          <a:lstStyle>
            <a:lvl1pPr>
              <a:defRPr sz="3600"/>
            </a:lvl1pPr>
          </a:lstStyle>
          <a:p>
            <a:r>
              <a:rPr kumimoji="1" lang="ja-JP" altLang="en-US"/>
              <a:t>マスター タイトルの書式設定</a:t>
            </a:r>
            <a:endParaRPr kumimoji="1" lang="ja-JP" altLang="en-US" dirty="0"/>
          </a:p>
        </p:txBody>
      </p:sp>
      <p:sp>
        <p:nvSpPr>
          <p:cNvPr id="3" name="コンテンツ プレースホルダー 2">
            <a:extLst>
              <a:ext uri="{FF2B5EF4-FFF2-40B4-BE49-F238E27FC236}">
                <a16:creationId xmlns:a16="http://schemas.microsoft.com/office/drawing/2014/main" id="{9BCD448C-838A-CF3A-8613-8D978D568ACE}"/>
              </a:ext>
            </a:extLst>
          </p:cNvPr>
          <p:cNvSpPr>
            <a:spLocks noGrp="1"/>
          </p:cNvSpPr>
          <p:nvPr>
            <p:ph idx="1"/>
          </p:nvPr>
        </p:nvSpPr>
        <p:spPr>
          <a:xfrm>
            <a:off x="5183188" y="987425"/>
            <a:ext cx="6172200" cy="4873625"/>
          </a:xfrm>
          <a:prstGeom prst="rect">
            <a:avLst/>
          </a:prstGeo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テキスト プレースホルダー 3">
            <a:extLst>
              <a:ext uri="{FF2B5EF4-FFF2-40B4-BE49-F238E27FC236}">
                <a16:creationId xmlns:a16="http://schemas.microsoft.com/office/drawing/2014/main" id="{71A1C09A-E34D-3A21-52D9-31E01D4037A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BCBDDCA-E7D6-E6CE-CDEE-4F49900E34A0}"/>
              </a:ext>
            </a:extLst>
          </p:cNvPr>
          <p:cNvSpPr>
            <a:spLocks noGrp="1"/>
          </p:cNvSpPr>
          <p:nvPr>
            <p:ph type="dt" sz="half" idx="10"/>
          </p:nvPr>
        </p:nvSpPr>
        <p:spPr>
          <a:xfrm>
            <a:off x="838200" y="6356350"/>
            <a:ext cx="2743200" cy="365125"/>
          </a:xfrm>
          <a:prstGeom prst="rect">
            <a:avLst/>
          </a:prstGeom>
        </p:spPr>
        <p:txBody>
          <a:bodyPr/>
          <a:lstStyle/>
          <a:p>
            <a:fld id="{4CF62C7C-14C2-43FB-8FBB-41AD737C3E66}" type="datetime1">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4B63590E-EF80-C8DB-9D3A-1547275EA117}"/>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8AD47B5-4935-51DC-6C91-29A30182AF3E}"/>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Tree>
    <p:extLst>
      <p:ext uri="{BB962C8B-B14F-4D97-AF65-F5344CB8AC3E}">
        <p14:creationId xmlns:p14="http://schemas.microsoft.com/office/powerpoint/2010/main" val="209214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7E3707-ADDF-6998-ED77-B707E5554068}"/>
              </a:ext>
            </a:extLst>
          </p:cNvPr>
          <p:cNvSpPr>
            <a:spLocks noGrp="1"/>
          </p:cNvSpPr>
          <p:nvPr>
            <p:ph type="title"/>
          </p:nvPr>
        </p:nvSpPr>
        <p:spPr>
          <a:xfrm>
            <a:off x="839788" y="457200"/>
            <a:ext cx="3932237" cy="1600200"/>
          </a:xfrm>
          <a:prstGeom prst="rect">
            <a:avLst/>
          </a:prstGeom>
        </p:spPr>
        <p:txBody>
          <a:bodyPr anchor="b">
            <a:normAutofit/>
          </a:bodyPr>
          <a:lstStyle>
            <a:lvl1pPr>
              <a:defRPr sz="3600"/>
            </a:lvl1pPr>
          </a:lstStyle>
          <a:p>
            <a:r>
              <a:rPr kumimoji="1" lang="ja-JP" altLang="en-US"/>
              <a:t>マスター タイトルの書式設定</a:t>
            </a:r>
            <a:endParaRPr kumimoji="1" lang="ja-JP" altLang="en-US" dirty="0"/>
          </a:p>
        </p:txBody>
      </p:sp>
      <p:sp>
        <p:nvSpPr>
          <p:cNvPr id="3" name="図プレースホルダー 2">
            <a:extLst>
              <a:ext uri="{FF2B5EF4-FFF2-40B4-BE49-F238E27FC236}">
                <a16:creationId xmlns:a16="http://schemas.microsoft.com/office/drawing/2014/main" id="{F9E401BF-3F4B-D5AD-EE73-0EB34BF463DE}"/>
              </a:ext>
            </a:extLst>
          </p:cNvPr>
          <p:cNvSpPr>
            <a:spLocks noGrp="1"/>
          </p:cNvSpPr>
          <p:nvPr>
            <p:ph type="pic" idx="1"/>
          </p:nvPr>
        </p:nvSpPr>
        <p:spPr>
          <a:xfrm>
            <a:off x="5183188" y="987425"/>
            <a:ext cx="6172200" cy="4873625"/>
          </a:xfrm>
          <a:prstGeom prst="rect">
            <a:avLst/>
          </a:prstGeo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endParaRPr kumimoji="1" lang="ja-JP" altLang="en-US" dirty="0"/>
          </a:p>
        </p:txBody>
      </p:sp>
      <p:sp>
        <p:nvSpPr>
          <p:cNvPr id="4" name="テキスト プレースホルダー 3">
            <a:extLst>
              <a:ext uri="{FF2B5EF4-FFF2-40B4-BE49-F238E27FC236}">
                <a16:creationId xmlns:a16="http://schemas.microsoft.com/office/drawing/2014/main" id="{9BDB0440-FD6E-988A-A7B3-8AFAC2559D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7E447E7-3A09-CA02-EF90-468596AFFA07}"/>
              </a:ext>
            </a:extLst>
          </p:cNvPr>
          <p:cNvSpPr>
            <a:spLocks noGrp="1"/>
          </p:cNvSpPr>
          <p:nvPr>
            <p:ph type="dt" sz="half" idx="10"/>
          </p:nvPr>
        </p:nvSpPr>
        <p:spPr>
          <a:xfrm>
            <a:off x="838200" y="6356350"/>
            <a:ext cx="2743200" cy="365125"/>
          </a:xfrm>
          <a:prstGeom prst="rect">
            <a:avLst/>
          </a:prstGeom>
        </p:spPr>
        <p:txBody>
          <a:bodyPr/>
          <a:lstStyle/>
          <a:p>
            <a:fld id="{508CE301-A043-4C5B-B0DC-F75A2DCFAEFD}" type="datetime1">
              <a:rPr kumimoji="1" lang="ja-JP" altLang="en-US" smtClean="0"/>
              <a:t>2026/10/21</a:t>
            </a:fld>
            <a:endParaRPr kumimoji="1" lang="ja-JP" altLang="en-US"/>
          </a:p>
        </p:txBody>
      </p:sp>
      <p:sp>
        <p:nvSpPr>
          <p:cNvPr id="6" name="フッター プレースホルダー 5">
            <a:extLst>
              <a:ext uri="{FF2B5EF4-FFF2-40B4-BE49-F238E27FC236}">
                <a16:creationId xmlns:a16="http://schemas.microsoft.com/office/drawing/2014/main" id="{04A877C5-CE09-4D92-C336-08C083288C62}"/>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E70F82F-8797-A5FC-30C9-9C6E92DF2F45}"/>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Tree>
    <p:extLst>
      <p:ext uri="{BB962C8B-B14F-4D97-AF65-F5344CB8AC3E}">
        <p14:creationId xmlns:p14="http://schemas.microsoft.com/office/powerpoint/2010/main" val="101559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と縦書きテキスト">
    <p:spTree>
      <p:nvGrpSpPr>
        <p:cNvPr id="1" name=""/>
        <p:cNvGrpSpPr/>
        <p:nvPr/>
      </p:nvGrpSpPr>
      <p:grpSpPr>
        <a:xfrm>
          <a:off x="0" y="0"/>
          <a:ext cx="0" cy="0"/>
          <a:chOff x="0" y="0"/>
          <a:chExt cx="0" cy="0"/>
        </a:xfrm>
      </p:grpSpPr>
      <p:sp>
        <p:nvSpPr>
          <p:cNvPr id="3" name="縦書きテキスト プレースホルダー 2">
            <a:extLst>
              <a:ext uri="{FF2B5EF4-FFF2-40B4-BE49-F238E27FC236}">
                <a16:creationId xmlns:a16="http://schemas.microsoft.com/office/drawing/2014/main" id="{33A0222E-A84B-E6EB-5586-D2A8FC7BE221}"/>
              </a:ext>
            </a:extLst>
          </p:cNvPr>
          <p:cNvSpPr>
            <a:spLocks noGrp="1"/>
          </p:cNvSpPr>
          <p:nvPr>
            <p:ph type="body" orient="vert" idx="1"/>
          </p:nvPr>
        </p:nvSpPr>
        <p:spPr>
          <a:xfrm>
            <a:off x="838200" y="1582220"/>
            <a:ext cx="10515600" cy="4594743"/>
          </a:xfrm>
          <a:prstGeom prst="rect">
            <a:avLst/>
          </a:prstGeo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34EA157D-7C12-5F6A-24DB-26269845ED4B}"/>
              </a:ext>
            </a:extLst>
          </p:cNvPr>
          <p:cNvSpPr>
            <a:spLocks noGrp="1"/>
          </p:cNvSpPr>
          <p:nvPr>
            <p:ph type="dt" sz="half" idx="10"/>
          </p:nvPr>
        </p:nvSpPr>
        <p:spPr>
          <a:xfrm>
            <a:off x="838200" y="6356350"/>
            <a:ext cx="2743200" cy="365125"/>
          </a:xfrm>
          <a:prstGeom prst="rect">
            <a:avLst/>
          </a:prstGeom>
        </p:spPr>
        <p:txBody>
          <a:bodyPr/>
          <a:lstStyle/>
          <a:p>
            <a:fld id="{C190CF37-ED4B-42DF-89FF-656851577688}" type="datetime1">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75602882-84EB-B971-7EC0-93F042503C6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D6CF6A-E107-9E05-554F-43EABE6BCCB0}"/>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
        <p:nvSpPr>
          <p:cNvPr id="7" name="タイトル プレースホルダー 22">
            <a:extLst>
              <a:ext uri="{FF2B5EF4-FFF2-40B4-BE49-F238E27FC236}">
                <a16:creationId xmlns:a16="http://schemas.microsoft.com/office/drawing/2014/main" id="{97D5A3CB-81C2-4222-BBC3-D1E90DE0D036}"/>
              </a:ext>
            </a:extLst>
          </p:cNvPr>
          <p:cNvSpPr txBox="1">
            <a:spLocks/>
          </p:cNvSpPr>
          <p:nvPr userDrawn="1"/>
        </p:nvSpPr>
        <p:spPr>
          <a:xfrm>
            <a:off x="838199" y="365126"/>
            <a:ext cx="10515601" cy="9388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2800" kern="1200">
                <a:solidFill>
                  <a:schemeClr val="tx1"/>
                </a:solidFill>
                <a:latin typeface="+mj-lt"/>
                <a:ea typeface="+mj-ea"/>
                <a:cs typeface="+mj-cs"/>
              </a:defRPr>
            </a:lvl1pPr>
          </a:lstStyle>
          <a:p>
            <a:r>
              <a:rPr lang="ja-JP" altLang="en-US" sz="3600" dirty="0"/>
              <a:t>マスター タイトルの書式設定</a:t>
            </a:r>
          </a:p>
        </p:txBody>
      </p:sp>
    </p:spTree>
    <p:extLst>
      <p:ext uri="{BB962C8B-B14F-4D97-AF65-F5344CB8AC3E}">
        <p14:creationId xmlns:p14="http://schemas.microsoft.com/office/powerpoint/2010/main" val="4020638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4E6C165-4CAA-0F18-0F9C-AB8109CA058F}"/>
              </a:ext>
            </a:extLst>
          </p:cNvPr>
          <p:cNvSpPr>
            <a:spLocks noGrp="1"/>
          </p:cNvSpPr>
          <p:nvPr>
            <p:ph type="title" orient="vert"/>
          </p:nvPr>
        </p:nvSpPr>
        <p:spPr>
          <a:xfrm>
            <a:off x="8724900" y="365125"/>
            <a:ext cx="2628900" cy="5811838"/>
          </a:xfrm>
          <a:prstGeom prst="rect">
            <a:avLst/>
          </a:prstGeom>
        </p:spPr>
        <p:txBody>
          <a:bodyPr vert="eaVert"/>
          <a:lstStyle/>
          <a:p>
            <a:r>
              <a:rPr kumimoji="1" lang="ja-JP" altLang="en-US"/>
              <a:t>マスター タイトルの書式設定</a:t>
            </a:r>
            <a:endParaRPr kumimoji="1" lang="ja-JP" altLang="en-US" dirty="0"/>
          </a:p>
        </p:txBody>
      </p:sp>
      <p:sp>
        <p:nvSpPr>
          <p:cNvPr id="3" name="縦書きテキスト プレースホルダー 2">
            <a:extLst>
              <a:ext uri="{FF2B5EF4-FFF2-40B4-BE49-F238E27FC236}">
                <a16:creationId xmlns:a16="http://schemas.microsoft.com/office/drawing/2014/main" id="{8D6E9AA3-020D-DC9F-2610-9EDF605B8332}"/>
              </a:ext>
            </a:extLst>
          </p:cNvPr>
          <p:cNvSpPr>
            <a:spLocks noGrp="1"/>
          </p:cNvSpPr>
          <p:nvPr>
            <p:ph type="body" orient="vert" idx="1"/>
          </p:nvPr>
        </p:nvSpPr>
        <p:spPr>
          <a:xfrm>
            <a:off x="838200" y="365125"/>
            <a:ext cx="7734300" cy="5811838"/>
          </a:xfrm>
          <a:prstGeom prst="rect">
            <a:avLst/>
          </a:prstGeom>
        </p:spPr>
        <p:txBody>
          <a:bodyPr vert="eaVert">
            <a:normAutofit/>
          </a:bodyPr>
          <a:lstStyle>
            <a:lvl1pPr>
              <a:defRPr sz="2800"/>
            </a:lvl1pPr>
            <a:lvl2pPr>
              <a:defRPr sz="2400"/>
            </a:lvl2pPr>
            <a:lvl3pPr>
              <a:defRPr sz="2000"/>
            </a:lvl3pPr>
            <a:lvl4pPr>
              <a:defRPr sz="1800"/>
            </a:lvl4pPr>
            <a:lvl5pPr>
              <a:defRPr sz="18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4" name="日付プレースホルダー 3">
            <a:extLst>
              <a:ext uri="{FF2B5EF4-FFF2-40B4-BE49-F238E27FC236}">
                <a16:creationId xmlns:a16="http://schemas.microsoft.com/office/drawing/2014/main" id="{2EA5CA03-7369-582D-774F-D64B3CE207A8}"/>
              </a:ext>
            </a:extLst>
          </p:cNvPr>
          <p:cNvSpPr>
            <a:spLocks noGrp="1"/>
          </p:cNvSpPr>
          <p:nvPr>
            <p:ph type="dt" sz="half" idx="10"/>
          </p:nvPr>
        </p:nvSpPr>
        <p:spPr>
          <a:xfrm>
            <a:off x="838200" y="6356350"/>
            <a:ext cx="2743200" cy="365125"/>
          </a:xfrm>
          <a:prstGeom prst="rect">
            <a:avLst/>
          </a:prstGeom>
        </p:spPr>
        <p:txBody>
          <a:bodyPr/>
          <a:lstStyle/>
          <a:p>
            <a:fld id="{1847EC2E-68C2-4F77-A48C-EE36C52801B1}" type="datetime1">
              <a:rPr kumimoji="1" lang="ja-JP" altLang="en-US" smtClean="0"/>
              <a:t>2026/10/21</a:t>
            </a:fld>
            <a:endParaRPr kumimoji="1" lang="ja-JP" altLang="en-US"/>
          </a:p>
        </p:txBody>
      </p:sp>
      <p:sp>
        <p:nvSpPr>
          <p:cNvPr id="5" name="フッター プレースホルダー 4">
            <a:extLst>
              <a:ext uri="{FF2B5EF4-FFF2-40B4-BE49-F238E27FC236}">
                <a16:creationId xmlns:a16="http://schemas.microsoft.com/office/drawing/2014/main" id="{62BCA630-CC05-C45F-50F0-A3C4C25929CC}"/>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5EB1CF-3B6C-A502-6229-C7390BF8FD03}"/>
              </a:ext>
            </a:extLst>
          </p:cNvPr>
          <p:cNvSpPr>
            <a:spLocks noGrp="1"/>
          </p:cNvSpPr>
          <p:nvPr>
            <p:ph type="sldNum" sz="quarter" idx="12"/>
          </p:nvPr>
        </p:nvSpPr>
        <p:spPr>
          <a:xfrm>
            <a:off x="8610600" y="6356350"/>
            <a:ext cx="2743200" cy="365125"/>
          </a:xfrm>
          <a:prstGeom prst="rect">
            <a:avLst/>
          </a:prstGeom>
        </p:spPr>
        <p:txBody>
          <a:bodyPr/>
          <a:lstStyle/>
          <a:p>
            <a:fld id="{9FB99072-780F-43D9-B22B-8FACFE63800E}" type="slidenum">
              <a:rPr kumimoji="1" lang="ja-JP" altLang="en-US" smtClean="0"/>
              <a:t>‹#›</a:t>
            </a:fld>
            <a:endParaRPr kumimoji="1" lang="ja-JP" altLang="en-US"/>
          </a:p>
        </p:txBody>
      </p:sp>
    </p:spTree>
    <p:extLst>
      <p:ext uri="{BB962C8B-B14F-4D97-AF65-F5344CB8AC3E}">
        <p14:creationId xmlns:p14="http://schemas.microsoft.com/office/powerpoint/2010/main" val="1662492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326855DF-FD06-73B6-4231-E130199D348A}"/>
              </a:ext>
            </a:extLst>
          </p:cNvPr>
          <p:cNvCxnSpPr>
            <a:cxnSpLocks/>
          </p:cNvCxnSpPr>
          <p:nvPr userDrawn="1"/>
        </p:nvCxnSpPr>
        <p:spPr>
          <a:xfrm>
            <a:off x="0" y="96214"/>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D6B672EC-D00C-C24C-DCBB-849C5547EBCB}"/>
              </a:ext>
            </a:extLst>
          </p:cNvPr>
          <p:cNvCxnSpPr>
            <a:cxnSpLocks/>
          </p:cNvCxnSpPr>
          <p:nvPr userDrawn="1"/>
        </p:nvCxnSpPr>
        <p:spPr>
          <a:xfrm>
            <a:off x="0" y="6761786"/>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3" name="タイトル プレースホルダー 22">
            <a:extLst>
              <a:ext uri="{FF2B5EF4-FFF2-40B4-BE49-F238E27FC236}">
                <a16:creationId xmlns:a16="http://schemas.microsoft.com/office/drawing/2014/main" id="{DB8B52AA-BEB2-AE76-27C0-E5F6642B71CE}"/>
              </a:ext>
            </a:extLst>
          </p:cNvPr>
          <p:cNvSpPr>
            <a:spLocks noGrp="1"/>
          </p:cNvSpPr>
          <p:nvPr>
            <p:ph type="title"/>
          </p:nvPr>
        </p:nvSpPr>
        <p:spPr>
          <a:xfrm>
            <a:off x="838199" y="365126"/>
            <a:ext cx="10515601" cy="718237"/>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24" name="テキスト プレースホルダー 23">
            <a:extLst>
              <a:ext uri="{FF2B5EF4-FFF2-40B4-BE49-F238E27FC236}">
                <a16:creationId xmlns:a16="http://schemas.microsoft.com/office/drawing/2014/main" id="{2CC4A5E4-E3CA-CCDB-A6AC-034AE968D7EE}"/>
              </a:ext>
            </a:extLst>
          </p:cNvPr>
          <p:cNvSpPr>
            <a:spLocks noGrp="1"/>
          </p:cNvSpPr>
          <p:nvPr>
            <p:ph type="body" idx="1"/>
          </p:nvPr>
        </p:nvSpPr>
        <p:spPr>
          <a:xfrm>
            <a:off x="838200" y="1212575"/>
            <a:ext cx="10515600" cy="496438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6" name="フッター プレースホルダー 25">
            <a:extLst>
              <a:ext uri="{FF2B5EF4-FFF2-40B4-BE49-F238E27FC236}">
                <a16:creationId xmlns:a16="http://schemas.microsoft.com/office/drawing/2014/main" id="{AD7C0E57-668E-E720-73B8-5A7AB5CD0A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2" name="スライド番号プレースホルダー 5">
            <a:extLst>
              <a:ext uri="{FF2B5EF4-FFF2-40B4-BE49-F238E27FC236}">
                <a16:creationId xmlns:a16="http://schemas.microsoft.com/office/drawing/2014/main" id="{F4509B4A-A013-5849-7EAC-2F07A1FC3A81}"/>
              </a:ext>
            </a:extLst>
          </p:cNvPr>
          <p:cNvSpPr>
            <a:spLocks noGrp="1"/>
          </p:cNvSpPr>
          <p:nvPr>
            <p:ph type="sldNum" sz="quarter" idx="4"/>
          </p:nvPr>
        </p:nvSpPr>
        <p:spPr>
          <a:xfrm>
            <a:off x="9276522" y="6341717"/>
            <a:ext cx="2743200" cy="365125"/>
          </a:xfrm>
          <a:prstGeom prst="rect">
            <a:avLst/>
          </a:prstGeom>
        </p:spPr>
        <p:txBody>
          <a:bodyPr/>
          <a:lstStyle>
            <a:lvl1pPr algn="r">
              <a:defRPr/>
            </a:lvl1pPr>
          </a:lstStyle>
          <a:p>
            <a:pPr algn="r"/>
            <a:fld id="{9FB99072-780F-43D9-B22B-8FACFE63800E}" type="slidenum">
              <a:rPr lang="ja-JP" altLang="en-US" smtClean="0"/>
              <a:pPr/>
              <a:t>‹#›</a:t>
            </a:fld>
            <a:endParaRPr lang="ja-JP" altLang="en-US" dirty="0"/>
          </a:p>
        </p:txBody>
      </p:sp>
      <p:sp>
        <p:nvSpPr>
          <p:cNvPr id="3" name="日付プレースホルダー 3">
            <a:extLst>
              <a:ext uri="{FF2B5EF4-FFF2-40B4-BE49-F238E27FC236}">
                <a16:creationId xmlns:a16="http://schemas.microsoft.com/office/drawing/2014/main" id="{7088616B-7FD5-ED41-5201-3D8DCE080243}"/>
              </a:ext>
            </a:extLst>
          </p:cNvPr>
          <p:cNvSpPr>
            <a:spLocks noGrp="1"/>
          </p:cNvSpPr>
          <p:nvPr>
            <p:ph type="dt" sz="half" idx="2"/>
          </p:nvPr>
        </p:nvSpPr>
        <p:spPr>
          <a:xfrm>
            <a:off x="838200" y="6356350"/>
            <a:ext cx="2743200" cy="365125"/>
          </a:xfrm>
          <a:prstGeom prst="rect">
            <a:avLst/>
          </a:prstGeom>
        </p:spPr>
        <p:txBody>
          <a:bodyPr/>
          <a:lstStyle/>
          <a:p>
            <a:fld id="{6073A020-581F-400D-B838-565F9C464044}" type="datetime1">
              <a:rPr kumimoji="1" lang="ja-JP" altLang="en-US" smtClean="0"/>
              <a:t>2026/10/21</a:t>
            </a:fld>
            <a:endParaRPr kumimoji="1" lang="ja-JP" altLang="en-US" dirty="0"/>
          </a:p>
        </p:txBody>
      </p:sp>
    </p:spTree>
    <p:extLst>
      <p:ext uri="{BB962C8B-B14F-4D97-AF65-F5344CB8AC3E}">
        <p14:creationId xmlns:p14="http://schemas.microsoft.com/office/powerpoint/2010/main" val="22690690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3200" kern="1200">
          <a:solidFill>
            <a:schemeClr val="tx1"/>
          </a:solidFill>
          <a:latin typeface="+mj-lt"/>
          <a:ea typeface="+mj-ea"/>
          <a:cs typeface="+mj-cs"/>
        </a:defRPr>
      </a:lvl1pPr>
    </p:titleStyle>
    <p:bodyStyle>
      <a:lvl1pPr marL="342900" indent="-342900" algn="l" defTabSz="914400" rtl="0" eaLnBrk="1" latinLnBrk="0" hangingPunct="1">
        <a:lnSpc>
          <a:spcPct val="110000"/>
        </a:lnSpc>
        <a:spcBef>
          <a:spcPts val="1000"/>
        </a:spcBef>
        <a:buFont typeface="Wingdings" panose="05000000000000000000" pitchFamily="2" charset="2"/>
        <a:buChar char="u"/>
        <a:defRPr kumimoji="1" sz="2000" kern="1200">
          <a:solidFill>
            <a:schemeClr val="tx1"/>
          </a:solidFill>
          <a:latin typeface="+mn-ea"/>
          <a:ea typeface="+mn-ea"/>
          <a:cs typeface="+mn-cs"/>
        </a:defRPr>
      </a:lvl1pPr>
      <a:lvl2pPr marL="800100" indent="-342900" algn="l" defTabSz="914400" rtl="0" eaLnBrk="1" latinLnBrk="0" hangingPunct="1">
        <a:lnSpc>
          <a:spcPct val="110000"/>
        </a:lnSpc>
        <a:spcBef>
          <a:spcPts val="500"/>
        </a:spcBef>
        <a:buFont typeface="Wingdings" panose="05000000000000000000" pitchFamily="2" charset="2"/>
        <a:buChar char="u"/>
        <a:defRPr kumimoji="1" sz="1800" kern="1200">
          <a:solidFill>
            <a:schemeClr val="tx1"/>
          </a:solidFill>
          <a:latin typeface="+mn-ea"/>
          <a:ea typeface="+mn-ea"/>
          <a:cs typeface="+mn-cs"/>
        </a:defRPr>
      </a:lvl2pPr>
      <a:lvl3pPr marL="1200150" indent="-285750" algn="l" defTabSz="914400" rtl="0" eaLnBrk="1" latinLnBrk="0" hangingPunct="1">
        <a:lnSpc>
          <a:spcPct val="110000"/>
        </a:lnSpc>
        <a:spcBef>
          <a:spcPts val="500"/>
        </a:spcBef>
        <a:buFont typeface="Wingdings" panose="05000000000000000000" pitchFamily="2" charset="2"/>
        <a:buChar char="u"/>
        <a:defRPr kumimoji="1" sz="1600" kern="1200">
          <a:solidFill>
            <a:schemeClr val="tx1"/>
          </a:solidFill>
          <a:latin typeface="+mn-ea"/>
          <a:ea typeface="+mn-ea"/>
          <a:cs typeface="+mn-cs"/>
        </a:defRPr>
      </a:lvl3pPr>
      <a:lvl4pPr marL="16573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4pPr>
      <a:lvl5pPr marL="21145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2.svg"/><Relationship Id="rId3" Type="http://schemas.openxmlformats.org/officeDocument/2006/relationships/image" Target="../media/image4.svg"/><Relationship Id="rId7" Type="http://schemas.openxmlformats.org/officeDocument/2006/relationships/image" Target="../media/image2.svg"/><Relationship Id="rId12"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svg"/><Relationship Id="rId11" Type="http://schemas.openxmlformats.org/officeDocument/2006/relationships/image" Target="../media/image11.svg"/><Relationship Id="rId5" Type="http://schemas.openxmlformats.org/officeDocument/2006/relationships/image" Target="../media/image8.svg"/><Relationship Id="rId10" Type="http://schemas.openxmlformats.org/officeDocument/2006/relationships/image" Target="../media/image3.svg"/><Relationship Id="rId4" Type="http://schemas.openxmlformats.org/officeDocument/2006/relationships/image" Target="../media/image6.sv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18.svg"/><Relationship Id="rId4" Type="http://schemas.openxmlformats.org/officeDocument/2006/relationships/image" Target="../media/image14.png"/><Relationship Id="rId9" Type="http://schemas.openxmlformats.org/officeDocument/2006/relationships/slide" Target="slide10.xml"/></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9.svg"/><Relationship Id="rId7" Type="http://schemas.openxmlformats.org/officeDocument/2006/relationships/image" Target="../media/image22.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image" Target="../media/image13.png"/><Relationship Id="rId4" Type="http://schemas.openxmlformats.org/officeDocument/2006/relationships/image" Target="../media/image20.svg"/><Relationship Id="rId9" Type="http://schemas.openxmlformats.org/officeDocument/2006/relationships/image" Target="../media/image24.svg"/></Relationships>
</file>

<file path=ppt/slides/_rels/slide11.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3.png"/><Relationship Id="rId7" Type="http://schemas.openxmlformats.org/officeDocument/2006/relationships/slide" Target="slide1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0.svg"/><Relationship Id="rId4" Type="http://schemas.openxmlformats.org/officeDocument/2006/relationships/image" Target="../media/image21.svg"/></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4.svg"/><Relationship Id="rId4" Type="http://schemas.openxmlformats.org/officeDocument/2006/relationships/image" Target="../media/image23.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22.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2.xml"/><Relationship Id="rId4" Type="http://schemas.openxmlformats.org/officeDocument/2006/relationships/image" Target="../media/image36.svg"/></Relationships>
</file>

<file path=ppt/slides/_rels/slide23.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7.svg"/><Relationship Id="rId7"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svg"/><Relationship Id="rId11" Type="http://schemas.openxmlformats.org/officeDocument/2006/relationships/image" Target="../media/image11.svg"/><Relationship Id="rId5" Type="http://schemas.openxmlformats.org/officeDocument/2006/relationships/image" Target="../media/image8.svg"/><Relationship Id="rId10" Type="http://schemas.openxmlformats.org/officeDocument/2006/relationships/image" Target="../media/image3.svg"/><Relationship Id="rId4" Type="http://schemas.openxmlformats.org/officeDocument/2006/relationships/image" Target="../media/image4.svg"/><Relationship Id="rId9" Type="http://schemas.openxmlformats.org/officeDocument/2006/relationships/image" Target="../media/image39.svg"/></Relationships>
</file>

<file path=ppt/slides/_rels/slide2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7.svg"/><Relationship Id="rId7" Type="http://schemas.openxmlformats.org/officeDocument/2006/relationships/image" Target="../media/image2.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svg"/><Relationship Id="rId11" Type="http://schemas.openxmlformats.org/officeDocument/2006/relationships/image" Target="../media/image11.svg"/><Relationship Id="rId5" Type="http://schemas.openxmlformats.org/officeDocument/2006/relationships/image" Target="../media/image8.svg"/><Relationship Id="rId10" Type="http://schemas.openxmlformats.org/officeDocument/2006/relationships/image" Target="../media/image3.svg"/><Relationship Id="rId4" Type="http://schemas.openxmlformats.org/officeDocument/2006/relationships/image" Target="../media/image4.svg"/><Relationship Id="rId9" Type="http://schemas.openxmlformats.org/officeDocument/2006/relationships/image" Target="../media/image39.svg"/></Relationships>
</file>

<file path=ppt/slides/_rels/slide2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40.png"/><Relationship Id="rId3" Type="http://schemas.openxmlformats.org/officeDocument/2006/relationships/image" Target="../media/image6.svg"/><Relationship Id="rId7" Type="http://schemas.openxmlformats.org/officeDocument/2006/relationships/image" Target="../media/image9.svg"/><Relationship Id="rId12" Type="http://schemas.openxmlformats.org/officeDocument/2006/relationships/image" Target="../media/image12.svg"/><Relationship Id="rId2" Type="http://schemas.openxmlformats.org/officeDocument/2006/relationships/image" Target="../media/image4.svg"/><Relationship Id="rId1" Type="http://schemas.openxmlformats.org/officeDocument/2006/relationships/slideLayout" Target="../slideLayouts/slideLayout2.xml"/><Relationship Id="rId6" Type="http://schemas.openxmlformats.org/officeDocument/2006/relationships/image" Target="../media/image2.svg"/><Relationship Id="rId11" Type="http://schemas.openxmlformats.org/officeDocument/2006/relationships/image" Target="../media/image7.svg"/><Relationship Id="rId5" Type="http://schemas.openxmlformats.org/officeDocument/2006/relationships/image" Target="../media/image1.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image" Target="../media/image3.svg"/></Relationships>
</file>

<file path=ppt/slides/_rels/slide26.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41.png"/><Relationship Id="rId3" Type="http://schemas.openxmlformats.org/officeDocument/2006/relationships/image" Target="../media/image6.svg"/><Relationship Id="rId7" Type="http://schemas.openxmlformats.org/officeDocument/2006/relationships/image" Target="../media/image9.svg"/><Relationship Id="rId12" Type="http://schemas.openxmlformats.org/officeDocument/2006/relationships/image" Target="../media/image12.svg"/><Relationship Id="rId2" Type="http://schemas.openxmlformats.org/officeDocument/2006/relationships/image" Target="../media/image4.svg"/><Relationship Id="rId1" Type="http://schemas.openxmlformats.org/officeDocument/2006/relationships/slideLayout" Target="../slideLayouts/slideLayout2.xml"/><Relationship Id="rId6" Type="http://schemas.openxmlformats.org/officeDocument/2006/relationships/image" Target="../media/image2.svg"/><Relationship Id="rId11" Type="http://schemas.openxmlformats.org/officeDocument/2006/relationships/image" Target="../media/image7.svg"/><Relationship Id="rId5" Type="http://schemas.openxmlformats.org/officeDocument/2006/relationships/image" Target="../media/image1.svg"/><Relationship Id="rId10" Type="http://schemas.openxmlformats.org/officeDocument/2006/relationships/image" Target="../media/image11.svg"/><Relationship Id="rId4" Type="http://schemas.openxmlformats.org/officeDocument/2006/relationships/image" Target="../media/image8.svg"/><Relationship Id="rId9" Type="http://schemas.openxmlformats.org/officeDocument/2006/relationships/image" Target="../media/image3.sv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167A23-F95C-9153-349F-A1927F1D4685}"/>
              </a:ext>
            </a:extLst>
          </p:cNvPr>
          <p:cNvSpPr>
            <a:spLocks noGrp="1"/>
          </p:cNvSpPr>
          <p:nvPr>
            <p:ph type="ctrTitle"/>
          </p:nvPr>
        </p:nvSpPr>
        <p:spPr/>
        <p:txBody>
          <a:bodyPr>
            <a:normAutofit/>
          </a:bodyPr>
          <a:lstStyle/>
          <a:p>
            <a:r>
              <a:rPr lang="ja-JP" altLang="en-US" sz="4000" b="1" dirty="0"/>
              <a:t>試験内容</a:t>
            </a:r>
            <a:r>
              <a:rPr lang="ja-JP" altLang="ja-JP" sz="4000" b="1" dirty="0"/>
              <a:t>の変化を考慮した</a:t>
            </a:r>
            <a:br>
              <a:rPr lang="en-US" altLang="ja-JP" sz="4000" b="1" dirty="0"/>
            </a:br>
            <a:r>
              <a:rPr lang="ja-JP" altLang="ja-JP" sz="4000" b="1" dirty="0"/>
              <a:t>知識</a:t>
            </a:r>
            <a:r>
              <a:rPr lang="ja-JP" altLang="en-US" sz="4000" b="1" dirty="0"/>
              <a:t>データ構築</a:t>
            </a:r>
            <a:r>
              <a:rPr lang="ja-JP" altLang="ja-JP" sz="4000" b="1" dirty="0"/>
              <a:t>手法</a:t>
            </a:r>
            <a:r>
              <a:rPr lang="ja-JP" altLang="en-US" sz="4000" b="1" dirty="0"/>
              <a:t>に関する</a:t>
            </a:r>
            <a:r>
              <a:rPr lang="ja-JP" altLang="ja-JP" sz="4000" b="1" dirty="0"/>
              <a:t>研究</a:t>
            </a:r>
            <a:endParaRPr kumimoji="1" lang="ja-JP" altLang="en-US" sz="4000" b="1" dirty="0"/>
          </a:p>
        </p:txBody>
      </p:sp>
      <p:sp>
        <p:nvSpPr>
          <p:cNvPr id="3" name="字幕 2">
            <a:extLst>
              <a:ext uri="{FF2B5EF4-FFF2-40B4-BE49-F238E27FC236}">
                <a16:creationId xmlns:a16="http://schemas.microsoft.com/office/drawing/2014/main" id="{1E369A90-8533-08CC-5EA0-4AE955CAD1C2}"/>
              </a:ext>
            </a:extLst>
          </p:cNvPr>
          <p:cNvSpPr>
            <a:spLocks noGrp="1"/>
          </p:cNvSpPr>
          <p:nvPr>
            <p:ph type="subTitle" idx="1"/>
          </p:nvPr>
        </p:nvSpPr>
        <p:spPr/>
        <p:txBody>
          <a:bodyPr>
            <a:normAutofit/>
          </a:bodyPr>
          <a:lstStyle/>
          <a:p>
            <a:pPr algn="r"/>
            <a:r>
              <a:rPr kumimoji="1" lang="ja-JP" altLang="en-US" dirty="0"/>
              <a:t>山田哲靖研究室</a:t>
            </a:r>
            <a:endParaRPr kumimoji="1" lang="en-US" altLang="ja-JP" dirty="0"/>
          </a:p>
          <a:p>
            <a:pPr algn="r"/>
            <a:r>
              <a:rPr lang="en-US" altLang="ja-JP" dirty="0"/>
              <a:t>T123122</a:t>
            </a:r>
            <a:r>
              <a:rPr lang="ja-JP" altLang="en-US" dirty="0"/>
              <a:t>　本田小百合</a:t>
            </a:r>
            <a:endParaRPr kumimoji="1" lang="ja-JP" altLang="en-US" dirty="0"/>
          </a:p>
        </p:txBody>
      </p:sp>
      <p:sp>
        <p:nvSpPr>
          <p:cNvPr id="5" name="スライド番号プレースホルダー 4">
            <a:extLst>
              <a:ext uri="{FF2B5EF4-FFF2-40B4-BE49-F238E27FC236}">
                <a16:creationId xmlns:a16="http://schemas.microsoft.com/office/drawing/2014/main" id="{D857E85D-8C6E-27F2-734F-9ACE8020774E}"/>
              </a:ext>
            </a:extLst>
          </p:cNvPr>
          <p:cNvSpPr>
            <a:spLocks noGrp="1"/>
          </p:cNvSpPr>
          <p:nvPr>
            <p:ph type="sldNum" sz="quarter" idx="12"/>
          </p:nvPr>
        </p:nvSpPr>
        <p:spPr/>
        <p:txBody>
          <a:bodyPr/>
          <a:lstStyle/>
          <a:p>
            <a:fld id="{9FB99072-780F-43D9-B22B-8FACFE63800E}" type="slidenum">
              <a:rPr kumimoji="1" lang="ja-JP" altLang="en-US" smtClean="0"/>
              <a:t>1</a:t>
            </a:fld>
            <a:endParaRPr kumimoji="1" lang="ja-JP" altLang="en-US"/>
          </a:p>
        </p:txBody>
      </p:sp>
    </p:spTree>
    <p:extLst>
      <p:ext uri="{BB962C8B-B14F-4D97-AF65-F5344CB8AC3E}">
        <p14:creationId xmlns:p14="http://schemas.microsoft.com/office/powerpoint/2010/main" val="14520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2AE065-B2AD-8540-7AAA-0F88123144BD}"/>
              </a:ext>
            </a:extLst>
          </p:cNvPr>
          <p:cNvSpPr>
            <a:spLocks noGrp="1"/>
          </p:cNvSpPr>
          <p:nvPr>
            <p:ph type="title"/>
          </p:nvPr>
        </p:nvSpPr>
        <p:spPr/>
        <p:txBody>
          <a:bodyPr/>
          <a:lstStyle/>
          <a:p>
            <a:r>
              <a:rPr lang="ja-JP" altLang="en-US" b="1" dirty="0"/>
              <a:t>目次</a:t>
            </a:r>
            <a:endParaRPr kumimoji="1" lang="ja-JP" altLang="en-US" b="1" dirty="0"/>
          </a:p>
        </p:txBody>
      </p:sp>
      <p:sp>
        <p:nvSpPr>
          <p:cNvPr id="4" name="コンテンツ プレースホルダー 3">
            <a:extLst>
              <a:ext uri="{FF2B5EF4-FFF2-40B4-BE49-F238E27FC236}">
                <a16:creationId xmlns:a16="http://schemas.microsoft.com/office/drawing/2014/main" id="{82023AF7-35C1-5EF9-22FC-CABD412CDE7F}"/>
              </a:ext>
            </a:extLst>
          </p:cNvPr>
          <p:cNvSpPr>
            <a:spLocks noGrp="1"/>
          </p:cNvSpPr>
          <p:nvPr>
            <p:ph idx="1"/>
          </p:nvPr>
        </p:nvSpPr>
        <p:spPr>
          <a:xfrm>
            <a:off x="849085" y="1023730"/>
            <a:ext cx="10515601" cy="5153234"/>
          </a:xfrm>
        </p:spPr>
        <p:txBody>
          <a:bodyPr anchor="t">
            <a:normAutofit/>
          </a:bodyPr>
          <a:lstStyle/>
          <a:p>
            <a:pPr marL="457200" indent="-457200">
              <a:lnSpc>
                <a:spcPct val="250000"/>
              </a:lnSpc>
              <a:buFont typeface="+mj-lt"/>
              <a:buAutoNum type="arabicPeriod"/>
            </a:pPr>
            <a:r>
              <a:rPr lang="ja-JP" altLang="en-US" b="1" dirty="0"/>
              <a:t>研究背景・課題</a:t>
            </a:r>
            <a:endParaRPr lang="en-US" altLang="ja-JP" b="1" dirty="0"/>
          </a:p>
          <a:p>
            <a:pPr marL="457200" indent="-457200">
              <a:lnSpc>
                <a:spcPct val="250000"/>
              </a:lnSpc>
              <a:buFont typeface="+mj-lt"/>
              <a:buAutoNum type="arabicPeriod"/>
            </a:pPr>
            <a:r>
              <a:rPr lang="ja-JP" altLang="en-US" b="1" dirty="0"/>
              <a:t>研究目的・全体構成</a:t>
            </a:r>
          </a:p>
          <a:p>
            <a:pPr marL="457200" indent="-457200">
              <a:lnSpc>
                <a:spcPct val="250000"/>
              </a:lnSpc>
              <a:buFont typeface="+mj-lt"/>
              <a:buAutoNum type="arabicPeriod"/>
            </a:pPr>
            <a:r>
              <a:rPr lang="ja-JP" altLang="en-US" b="1" dirty="0"/>
              <a:t>研究手法</a:t>
            </a:r>
          </a:p>
          <a:p>
            <a:pPr marL="457200" indent="-457200">
              <a:lnSpc>
                <a:spcPct val="250000"/>
              </a:lnSpc>
              <a:buFont typeface="+mj-lt"/>
              <a:buAutoNum type="arabicPeriod"/>
            </a:pPr>
            <a:r>
              <a:rPr lang="ja-JP" altLang="en-US" b="1" dirty="0"/>
              <a:t>現状の成果</a:t>
            </a:r>
            <a:endParaRPr lang="en-US" altLang="ja-JP" b="1" dirty="0"/>
          </a:p>
          <a:p>
            <a:pPr marL="457200" indent="-457200">
              <a:lnSpc>
                <a:spcPct val="250000"/>
              </a:lnSpc>
              <a:buFont typeface="+mj-lt"/>
              <a:buAutoNum type="arabicPeriod"/>
            </a:pPr>
            <a:r>
              <a:rPr lang="ja-JP" altLang="en-US" b="1" dirty="0"/>
              <a:t>今後の展望</a:t>
            </a:r>
            <a:endParaRPr kumimoji="1" lang="ja-JP" altLang="en-US" b="1" dirty="0"/>
          </a:p>
        </p:txBody>
      </p:sp>
      <p:sp>
        <p:nvSpPr>
          <p:cNvPr id="3" name="スライド番号プレースホルダー 2">
            <a:extLst>
              <a:ext uri="{FF2B5EF4-FFF2-40B4-BE49-F238E27FC236}">
                <a16:creationId xmlns:a16="http://schemas.microsoft.com/office/drawing/2014/main" id="{56D4B6F2-880E-ED75-2FBE-6E6911B45237}"/>
              </a:ext>
            </a:extLst>
          </p:cNvPr>
          <p:cNvSpPr>
            <a:spLocks noGrp="1"/>
          </p:cNvSpPr>
          <p:nvPr>
            <p:ph type="sldNum" sz="quarter" idx="12"/>
          </p:nvPr>
        </p:nvSpPr>
        <p:spPr/>
        <p:txBody>
          <a:bodyPr/>
          <a:lstStyle/>
          <a:p>
            <a:fld id="{9FB99072-780F-43D9-B22B-8FACFE63800E}" type="slidenum">
              <a:rPr kumimoji="1" lang="ja-JP" altLang="en-US" smtClean="0"/>
              <a:t>2</a:t>
            </a:fld>
            <a:endParaRPr kumimoji="1" lang="ja-JP" altLang="en-US"/>
          </a:p>
        </p:txBody>
      </p:sp>
    </p:spTree>
    <p:extLst>
      <p:ext uri="{BB962C8B-B14F-4D97-AF65-F5344CB8AC3E}">
        <p14:creationId xmlns:p14="http://schemas.microsoft.com/office/powerpoint/2010/main" val="2768680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D18ABC-5E60-5C48-001B-1AA4F2429C1A}"/>
              </a:ext>
            </a:extLst>
          </p:cNvPr>
          <p:cNvSpPr>
            <a:spLocks noGrp="1"/>
          </p:cNvSpPr>
          <p:nvPr>
            <p:ph type="title"/>
          </p:nvPr>
        </p:nvSpPr>
        <p:spPr/>
        <p:txBody>
          <a:bodyPr/>
          <a:lstStyle/>
          <a:p>
            <a:r>
              <a:rPr lang="ja-JP" altLang="en-US" b="1" dirty="0"/>
              <a:t>研究背景</a:t>
            </a:r>
            <a:endParaRPr kumimoji="1" lang="ja-JP" altLang="en-US" b="1" dirty="0"/>
          </a:p>
        </p:txBody>
      </p:sp>
      <p:sp>
        <p:nvSpPr>
          <p:cNvPr id="8" name="Rounded Rectangle 6">
            <a:extLst>
              <a:ext uri="{FF2B5EF4-FFF2-40B4-BE49-F238E27FC236}">
                <a16:creationId xmlns:a16="http://schemas.microsoft.com/office/drawing/2014/main" id="{7B970AB1-1447-3EAF-A68E-A830C9DE882D}"/>
              </a:ext>
            </a:extLst>
          </p:cNvPr>
          <p:cNvSpPr/>
          <p:nvPr/>
        </p:nvSpPr>
        <p:spPr>
          <a:xfrm>
            <a:off x="685800" y="1508760"/>
            <a:ext cx="3383280" cy="2057400"/>
          </a:xfrm>
          <a:prstGeom prst="roundRect">
            <a:avLst/>
          </a:prstGeom>
          <a:solidFill>
            <a:srgbClr val="E2EEFB"/>
          </a:solidFill>
          <a:ln w="1524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800" b="1">
                <a:solidFill>
                  <a:srgbClr val="3770B8"/>
                </a:solidFill>
                <a:latin typeface="Yu Gothic"/>
              </a:defRPr>
            </a:pPr>
            <a:r>
              <a:rPr lang="ja-JP" altLang="en-US" dirty="0">
                <a:latin typeface="+mn-ea"/>
              </a:rPr>
              <a:t>シラバス改定</a:t>
            </a:r>
          </a:p>
          <a:p>
            <a:pPr algn="ctr">
              <a:spcBef>
                <a:spcPts val="400"/>
              </a:spcBef>
              <a:defRPr sz="1500">
                <a:solidFill>
                  <a:srgbClr val="2A3442"/>
                </a:solidFill>
                <a:latin typeface="Yu Gothic"/>
              </a:defRPr>
            </a:pPr>
            <a:r>
              <a:rPr lang="ja-JP" altLang="en-US" dirty="0">
                <a:latin typeface="+mn-ea"/>
              </a:rPr>
              <a:t>出題範囲が変化し</a:t>
            </a:r>
          </a:p>
          <a:p>
            <a:pPr algn="ctr">
              <a:spcBef>
                <a:spcPts val="400"/>
              </a:spcBef>
              <a:defRPr sz="1500">
                <a:solidFill>
                  <a:srgbClr val="2A3442"/>
                </a:solidFill>
                <a:latin typeface="Yu Gothic"/>
              </a:defRPr>
            </a:pPr>
            <a:r>
              <a:rPr lang="ja-JP" altLang="en-US" dirty="0">
                <a:latin typeface="+mn-ea"/>
              </a:rPr>
              <a:t>新出単語が追加される</a:t>
            </a:r>
          </a:p>
        </p:txBody>
      </p:sp>
      <p:sp>
        <p:nvSpPr>
          <p:cNvPr id="10" name="Rounded Rectangle 7">
            <a:extLst>
              <a:ext uri="{FF2B5EF4-FFF2-40B4-BE49-F238E27FC236}">
                <a16:creationId xmlns:a16="http://schemas.microsoft.com/office/drawing/2014/main" id="{C71B67ED-8EF4-B393-6F16-480E5FFD1393}"/>
              </a:ext>
            </a:extLst>
          </p:cNvPr>
          <p:cNvSpPr/>
          <p:nvPr/>
        </p:nvSpPr>
        <p:spPr>
          <a:xfrm>
            <a:off x="4389120" y="1508760"/>
            <a:ext cx="3383280" cy="2057400"/>
          </a:xfrm>
          <a:prstGeom prst="roundRect">
            <a:avLst/>
          </a:prstGeom>
          <a:solidFill>
            <a:schemeClr val="accent5">
              <a:lumMod val="20000"/>
              <a:lumOff val="80000"/>
            </a:schemeClr>
          </a:solidFill>
          <a:ln w="1524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800" b="1">
                <a:solidFill>
                  <a:srgbClr val="CB802D"/>
                </a:solidFill>
                <a:latin typeface="Yu Gothic"/>
              </a:defRPr>
            </a:pPr>
            <a:r>
              <a:rPr lang="ja-JP" altLang="en-US" dirty="0">
                <a:solidFill>
                  <a:schemeClr val="accent5">
                    <a:lumMod val="75000"/>
                  </a:schemeClr>
                </a:solidFill>
                <a:latin typeface="+mn-ea"/>
              </a:rPr>
              <a:t>教材更新の遅れ</a:t>
            </a:r>
          </a:p>
          <a:p>
            <a:pPr algn="ctr">
              <a:spcBef>
                <a:spcPts val="400"/>
              </a:spcBef>
              <a:defRPr sz="1500">
                <a:solidFill>
                  <a:srgbClr val="2A3442"/>
                </a:solidFill>
                <a:latin typeface="Yu Gothic"/>
              </a:defRPr>
            </a:pPr>
            <a:r>
              <a:rPr lang="ja-JP" altLang="en-US" dirty="0">
                <a:latin typeface="+mn-ea"/>
              </a:rPr>
              <a:t>市販の参考書は</a:t>
            </a:r>
          </a:p>
          <a:p>
            <a:pPr algn="ctr">
              <a:spcBef>
                <a:spcPts val="400"/>
              </a:spcBef>
              <a:defRPr sz="1500">
                <a:solidFill>
                  <a:srgbClr val="2A3442"/>
                </a:solidFill>
                <a:latin typeface="Yu Gothic"/>
              </a:defRPr>
            </a:pPr>
            <a:r>
              <a:rPr lang="ja-JP" altLang="en-US" dirty="0">
                <a:latin typeface="+mn-ea"/>
              </a:rPr>
              <a:t>改訂・出版まで時間がかかる</a:t>
            </a:r>
            <a:endParaRPr dirty="0">
              <a:latin typeface="+mn-ea"/>
            </a:endParaRPr>
          </a:p>
        </p:txBody>
      </p:sp>
      <p:sp>
        <p:nvSpPr>
          <p:cNvPr id="11" name="Rounded Rectangle 8">
            <a:extLst>
              <a:ext uri="{FF2B5EF4-FFF2-40B4-BE49-F238E27FC236}">
                <a16:creationId xmlns:a16="http://schemas.microsoft.com/office/drawing/2014/main" id="{51D3F18F-5DA1-A918-86ED-6C0FFC70801B}"/>
              </a:ext>
            </a:extLst>
          </p:cNvPr>
          <p:cNvSpPr/>
          <p:nvPr/>
        </p:nvSpPr>
        <p:spPr>
          <a:xfrm>
            <a:off x="8092440" y="1508760"/>
            <a:ext cx="3383280" cy="2057400"/>
          </a:xfrm>
          <a:prstGeom prst="roundRect">
            <a:avLst/>
          </a:prstGeom>
          <a:solidFill>
            <a:schemeClr val="accent5">
              <a:lumMod val="20000"/>
              <a:lumOff val="80000"/>
            </a:schemeClr>
          </a:solidFill>
          <a:ln w="1524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800" b="1">
                <a:solidFill>
                  <a:srgbClr val="468F5B"/>
                </a:solidFill>
                <a:latin typeface="Yu Gothic"/>
              </a:defRPr>
            </a:pPr>
            <a:r>
              <a:rPr lang="ja-JP" altLang="en-US" dirty="0">
                <a:solidFill>
                  <a:schemeClr val="accent5">
                    <a:lumMod val="75000"/>
                  </a:schemeClr>
                </a:solidFill>
                <a:latin typeface="+mn-ea"/>
              </a:rPr>
              <a:t>学習上の課題</a:t>
            </a:r>
          </a:p>
          <a:p>
            <a:pPr algn="ctr">
              <a:spcBef>
                <a:spcPts val="400"/>
              </a:spcBef>
              <a:defRPr sz="1500">
                <a:solidFill>
                  <a:srgbClr val="2A3442"/>
                </a:solidFill>
                <a:latin typeface="Yu Gothic"/>
              </a:defRPr>
            </a:pPr>
            <a:r>
              <a:rPr lang="ja-JP" altLang="en-US" dirty="0">
                <a:latin typeface="+mn-ea"/>
              </a:rPr>
              <a:t>追加された用語を</a:t>
            </a:r>
          </a:p>
          <a:p>
            <a:pPr algn="ctr">
              <a:spcBef>
                <a:spcPts val="400"/>
              </a:spcBef>
              <a:defRPr sz="1500">
                <a:solidFill>
                  <a:srgbClr val="2A3442"/>
                </a:solidFill>
                <a:latin typeface="Yu Gothic"/>
              </a:defRPr>
            </a:pPr>
            <a:r>
              <a:rPr lang="ja-JP" altLang="en-US" dirty="0">
                <a:latin typeface="+mn-ea"/>
              </a:rPr>
              <a:t>早く・正確に学ぶ方法が必要</a:t>
            </a:r>
          </a:p>
        </p:txBody>
      </p:sp>
      <p:sp>
        <p:nvSpPr>
          <p:cNvPr id="15" name="Rounded Rectangle 11">
            <a:extLst>
              <a:ext uri="{FF2B5EF4-FFF2-40B4-BE49-F238E27FC236}">
                <a16:creationId xmlns:a16="http://schemas.microsoft.com/office/drawing/2014/main" id="{1078ACE3-9702-195F-722F-2E96A8575A9A}"/>
              </a:ext>
            </a:extLst>
          </p:cNvPr>
          <p:cNvSpPr/>
          <p:nvPr/>
        </p:nvSpPr>
        <p:spPr>
          <a:xfrm>
            <a:off x="914400" y="4595950"/>
            <a:ext cx="10332720" cy="1051560"/>
          </a:xfrm>
          <a:prstGeom prst="roundRect">
            <a:avLst/>
          </a:prstGeom>
          <a:solidFill>
            <a:srgbClr val="FFFFFF"/>
          </a:solidFill>
          <a:ln w="15240">
            <a:solidFill>
              <a:srgbClr val="D3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n-ea"/>
            </a:endParaRPr>
          </a:p>
        </p:txBody>
      </p:sp>
      <p:sp>
        <p:nvSpPr>
          <p:cNvPr id="16" name="TextBox 12">
            <a:extLst>
              <a:ext uri="{FF2B5EF4-FFF2-40B4-BE49-F238E27FC236}">
                <a16:creationId xmlns:a16="http://schemas.microsoft.com/office/drawing/2014/main" id="{C332DC46-3396-105A-97AE-AB271AD5243A}"/>
              </a:ext>
            </a:extLst>
          </p:cNvPr>
          <p:cNvSpPr txBox="1"/>
          <p:nvPr/>
        </p:nvSpPr>
        <p:spPr>
          <a:xfrm>
            <a:off x="1143000" y="4881932"/>
            <a:ext cx="9875520" cy="424732"/>
          </a:xfrm>
          <a:prstGeom prst="rect">
            <a:avLst/>
          </a:prstGeom>
          <a:noFill/>
        </p:spPr>
        <p:txBody>
          <a:bodyPr wrap="square" lIns="73152" tIns="73152" rIns="73152" bIns="73152" anchor="ctr">
            <a:spAutoFit/>
          </a:bodyPr>
          <a:lstStyle/>
          <a:p>
            <a:pPr algn="ctr">
              <a:spcAft>
                <a:spcPts val="200"/>
              </a:spcAft>
              <a:defRPr sz="1800" b="1" i="0">
                <a:solidFill>
                  <a:srgbClr val="183759"/>
                </a:solidFill>
                <a:latin typeface="Yu Gothic"/>
              </a:defRPr>
            </a:pPr>
            <a:r>
              <a:rPr lang="ja-JP" altLang="en-US" dirty="0">
                <a:latin typeface="+mn-ea"/>
              </a:rPr>
              <a:t>新出単語に対応する学習用データを効率よく作り、妥当性を確認する仕組み</a:t>
            </a:r>
          </a:p>
        </p:txBody>
      </p:sp>
      <p:sp>
        <p:nvSpPr>
          <p:cNvPr id="18" name="矢印: 下 17">
            <a:extLst>
              <a:ext uri="{FF2B5EF4-FFF2-40B4-BE49-F238E27FC236}">
                <a16:creationId xmlns:a16="http://schemas.microsoft.com/office/drawing/2014/main" id="{ADE9786A-110A-9AED-DDB3-8F01673BF7E5}"/>
              </a:ext>
            </a:extLst>
          </p:cNvPr>
          <p:cNvSpPr/>
          <p:nvPr/>
        </p:nvSpPr>
        <p:spPr>
          <a:xfrm>
            <a:off x="5385772" y="3860687"/>
            <a:ext cx="1420456" cy="570931"/>
          </a:xfrm>
          <a:prstGeom prst="downArrow">
            <a:avLst>
              <a:gd name="adj1" fmla="val 47345"/>
              <a:gd name="adj2" fmla="val 45020"/>
            </a:avLst>
          </a:prstGeom>
          <a:solidFill>
            <a:schemeClr val="accent5">
              <a:lumMod val="75000"/>
            </a:schemeClr>
          </a:solid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28" name="スライド番号プレースホルダー 27">
            <a:extLst>
              <a:ext uri="{FF2B5EF4-FFF2-40B4-BE49-F238E27FC236}">
                <a16:creationId xmlns:a16="http://schemas.microsoft.com/office/drawing/2014/main" id="{5CACC74F-0A70-2A2E-A696-BBD6D7AF5C82}"/>
              </a:ext>
            </a:extLst>
          </p:cNvPr>
          <p:cNvSpPr>
            <a:spLocks noGrp="1"/>
          </p:cNvSpPr>
          <p:nvPr>
            <p:ph type="sldNum" sz="quarter" idx="12"/>
          </p:nvPr>
        </p:nvSpPr>
        <p:spPr/>
        <p:txBody>
          <a:bodyPr/>
          <a:lstStyle/>
          <a:p>
            <a:fld id="{9FB99072-780F-43D9-B22B-8FACFE63800E}" type="slidenum">
              <a:rPr kumimoji="1" lang="ja-JP" altLang="en-US" smtClean="0"/>
              <a:t>3</a:t>
            </a:fld>
            <a:endParaRPr kumimoji="1" lang="ja-JP" altLang="en-US"/>
          </a:p>
        </p:txBody>
      </p:sp>
      <p:sp>
        <p:nvSpPr>
          <p:cNvPr id="3" name="コンテンツ プレースホルダー 4">
            <a:extLst>
              <a:ext uri="{FF2B5EF4-FFF2-40B4-BE49-F238E27FC236}">
                <a16:creationId xmlns:a16="http://schemas.microsoft.com/office/drawing/2014/main" id="{91FEC026-F20B-CDBA-980E-F879E86E9165}"/>
              </a:ext>
            </a:extLst>
          </p:cNvPr>
          <p:cNvSpPr>
            <a:spLocks noGrp="1"/>
          </p:cNvSpPr>
          <p:nvPr>
            <p:ph idx="1"/>
          </p:nvPr>
        </p:nvSpPr>
        <p:spPr>
          <a:xfrm>
            <a:off x="838199" y="1023730"/>
            <a:ext cx="10515601" cy="5153234"/>
          </a:xfrm>
        </p:spPr>
        <p:txBody>
          <a:bodyPr/>
          <a:lstStyle/>
          <a:p>
            <a:pPr marL="0" indent="0">
              <a:buNone/>
            </a:pPr>
            <a:r>
              <a:rPr kumimoji="1" lang="ja-JP" altLang="en-US" dirty="0"/>
              <a:t>資格試験を学習するにあたり</a:t>
            </a:r>
          </a:p>
        </p:txBody>
      </p:sp>
    </p:spTree>
    <p:extLst>
      <p:ext uri="{BB962C8B-B14F-4D97-AF65-F5344CB8AC3E}">
        <p14:creationId xmlns:p14="http://schemas.microsoft.com/office/powerpoint/2010/main" val="3384777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フローチャート: 代替処理 116">
            <a:extLst>
              <a:ext uri="{FF2B5EF4-FFF2-40B4-BE49-F238E27FC236}">
                <a16:creationId xmlns:a16="http://schemas.microsoft.com/office/drawing/2014/main" id="{585C7B70-D0D7-16FD-502C-E2C039D59F2D}"/>
              </a:ext>
            </a:extLst>
          </p:cNvPr>
          <p:cNvSpPr/>
          <p:nvPr/>
        </p:nvSpPr>
        <p:spPr>
          <a:xfrm>
            <a:off x="174173" y="5463294"/>
            <a:ext cx="9859918"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C834832-7A09-52EF-3773-399961547834}"/>
              </a:ext>
            </a:extLst>
          </p:cNvPr>
          <p:cNvSpPr>
            <a:spLocks noGrp="1"/>
          </p:cNvSpPr>
          <p:nvPr>
            <p:ph type="title"/>
          </p:nvPr>
        </p:nvSpPr>
        <p:spPr/>
        <p:txBody>
          <a:bodyPr/>
          <a:lstStyle/>
          <a:p>
            <a:r>
              <a:rPr kumimoji="1" lang="ja-JP" altLang="en-US" dirty="0"/>
              <a:t>先行研究</a:t>
            </a:r>
          </a:p>
        </p:txBody>
      </p:sp>
      <p:sp>
        <p:nvSpPr>
          <p:cNvPr id="5" name="コンテンツ プレースホルダー 4">
            <a:extLst>
              <a:ext uri="{FF2B5EF4-FFF2-40B4-BE49-F238E27FC236}">
                <a16:creationId xmlns:a16="http://schemas.microsoft.com/office/drawing/2014/main" id="{6A2CECB7-86EA-AC32-F6E2-191041CC211F}"/>
              </a:ext>
            </a:extLst>
          </p:cNvPr>
          <p:cNvSpPr>
            <a:spLocks noGrp="1"/>
          </p:cNvSpPr>
          <p:nvPr>
            <p:ph idx="1"/>
          </p:nvPr>
        </p:nvSpPr>
        <p:spPr>
          <a:xfrm>
            <a:off x="838199" y="1023730"/>
            <a:ext cx="10515601" cy="2413972"/>
          </a:xfrm>
        </p:spPr>
        <p:txBody>
          <a:bodyPr>
            <a:normAutofit/>
          </a:bodyPr>
          <a:lstStyle/>
          <a:p>
            <a:pPr marL="0" indent="0">
              <a:buNone/>
            </a:pPr>
            <a:r>
              <a:rPr kumimoji="1" lang="ja-JP" altLang="en-US" b="1" dirty="0"/>
              <a:t>先行研究</a:t>
            </a:r>
            <a:r>
              <a:rPr kumimoji="1" lang="en-US" altLang="ja-JP" b="1" dirty="0"/>
              <a:t>[</a:t>
            </a:r>
            <a:r>
              <a:rPr kumimoji="1" lang="ja-JP" altLang="en-US" b="1" dirty="0"/>
              <a:t>生成 </a:t>
            </a:r>
            <a:r>
              <a:rPr kumimoji="1" lang="en-US" altLang="ja-JP" b="1" dirty="0"/>
              <a:t>AI </a:t>
            </a:r>
            <a:r>
              <a:rPr kumimoji="1" lang="ja-JP" altLang="en-US" b="1" dirty="0"/>
              <a:t>を活用した作問システムとその有用性</a:t>
            </a:r>
            <a:r>
              <a:rPr kumimoji="1" lang="en-US" altLang="ja-JP" b="1" dirty="0"/>
              <a:t>]</a:t>
            </a:r>
            <a:r>
              <a:rPr kumimoji="1" lang="en-US" altLang="ja-JP" b="1" baseline="30000" dirty="0"/>
              <a:t>※1</a:t>
            </a:r>
          </a:p>
          <a:p>
            <a:pPr marL="914400" lvl="1" indent="-457200">
              <a:buFont typeface="+mj-lt"/>
              <a:buAutoNum type="arabicPeriod"/>
            </a:pPr>
            <a:r>
              <a:rPr kumimoji="1" lang="ja-JP" altLang="en-US" dirty="0"/>
              <a:t>読解問題自動生成</a:t>
            </a:r>
            <a:endParaRPr kumimoji="1" lang="en-US" altLang="ja-JP" dirty="0"/>
          </a:p>
          <a:p>
            <a:pPr marL="857250" lvl="2" indent="0">
              <a:buNone/>
            </a:pPr>
            <a:r>
              <a:rPr lang="ja-JP" altLang="en-US" dirty="0"/>
              <a:t>用語・教科書を用いて生成</a:t>
            </a:r>
            <a:r>
              <a:rPr lang="en-US" altLang="ja-JP" dirty="0"/>
              <a:t>/3</a:t>
            </a:r>
            <a:r>
              <a:rPr lang="ja-JP" altLang="en-US" dirty="0"/>
              <a:t>カ月で</a:t>
            </a:r>
            <a:r>
              <a:rPr lang="en-US" altLang="ja-JP" dirty="0"/>
              <a:t>3000</a:t>
            </a:r>
            <a:r>
              <a:rPr lang="ja-JP" altLang="en-US" dirty="0"/>
              <a:t>問作成 </a:t>
            </a:r>
            <a:endParaRPr kumimoji="1" lang="ja-JP" altLang="en-US" dirty="0"/>
          </a:p>
          <a:p>
            <a:pPr marL="914400" lvl="1" indent="-457200">
              <a:buFont typeface="+mj-lt"/>
              <a:buAutoNum type="arabicPeriod"/>
            </a:pPr>
            <a:r>
              <a:rPr kumimoji="1" lang="en-US" altLang="ja-JP" dirty="0"/>
              <a:t>LLM</a:t>
            </a:r>
            <a:r>
              <a:rPr kumimoji="1" lang="ja-JP" altLang="en-US" dirty="0"/>
              <a:t>を用いた問題生成</a:t>
            </a:r>
            <a:endParaRPr kumimoji="1" lang="en-US" altLang="ja-JP" dirty="0"/>
          </a:p>
          <a:p>
            <a:pPr marL="857250" lvl="2" indent="0">
              <a:buNone/>
            </a:pPr>
            <a:r>
              <a:rPr kumimoji="1" lang="en-US" altLang="ja-JP" dirty="0"/>
              <a:t>20</a:t>
            </a:r>
            <a:r>
              <a:rPr kumimoji="1" lang="ja-JP" altLang="en-US" dirty="0"/>
              <a:t>問作成時間が</a:t>
            </a:r>
            <a:r>
              <a:rPr kumimoji="1" lang="en-US" altLang="ja-JP" dirty="0"/>
              <a:t>2</a:t>
            </a:r>
            <a:r>
              <a:rPr kumimoji="1" lang="ja-JP" altLang="en-US" dirty="0"/>
              <a:t>時間から</a:t>
            </a:r>
            <a:r>
              <a:rPr kumimoji="1" lang="en-US" altLang="ja-JP" dirty="0"/>
              <a:t>20</a:t>
            </a:r>
            <a:r>
              <a:rPr kumimoji="1" lang="ja-JP" altLang="en-US" dirty="0"/>
              <a:t>分へ</a:t>
            </a:r>
          </a:p>
          <a:p>
            <a:pPr marL="914400" lvl="1" indent="-457200">
              <a:buFont typeface="+mj-lt"/>
              <a:buAutoNum type="arabicPeriod"/>
            </a:pPr>
            <a:r>
              <a:rPr kumimoji="1" lang="en-US" altLang="ja-JP" dirty="0"/>
              <a:t>AI</a:t>
            </a:r>
            <a:r>
              <a:rPr kumimoji="1" lang="ja-JP" altLang="en-US" dirty="0"/>
              <a:t>を用いた学習支援</a:t>
            </a:r>
          </a:p>
          <a:p>
            <a:endParaRPr kumimoji="1" lang="ja-JP" altLang="en-US" dirty="0"/>
          </a:p>
          <a:p>
            <a:endParaRPr kumimoji="1" lang="ja-JP" altLang="en-US" dirty="0"/>
          </a:p>
        </p:txBody>
      </p:sp>
      <p:sp>
        <p:nvSpPr>
          <p:cNvPr id="7" name="テキスト ボックス 6">
            <a:extLst>
              <a:ext uri="{FF2B5EF4-FFF2-40B4-BE49-F238E27FC236}">
                <a16:creationId xmlns:a16="http://schemas.microsoft.com/office/drawing/2014/main" id="{AEF1272E-6771-4F89-14E6-736E545D324A}"/>
              </a:ext>
            </a:extLst>
          </p:cNvPr>
          <p:cNvSpPr txBox="1"/>
          <p:nvPr/>
        </p:nvSpPr>
        <p:spPr>
          <a:xfrm>
            <a:off x="655319" y="680694"/>
            <a:ext cx="10515601" cy="276999"/>
          </a:xfrm>
          <a:prstGeom prst="rect">
            <a:avLst/>
          </a:prstGeom>
          <a:noFill/>
        </p:spPr>
        <p:txBody>
          <a:bodyPr wrap="square" rtlCol="0">
            <a:spAutoFit/>
          </a:bodyPr>
          <a:lstStyle/>
          <a:p>
            <a:pPr lvl="1" algn="r"/>
            <a:r>
              <a:rPr lang="en-US" altLang="ja-JP" sz="1200" dirty="0"/>
              <a:t>※1</a:t>
            </a:r>
            <a:r>
              <a:rPr lang="ja-JP" altLang="en-US" sz="1200" dirty="0"/>
              <a:t>　</a:t>
            </a:r>
            <a:r>
              <a:rPr lang="en-US" altLang="ja-JP" sz="1200" dirty="0"/>
              <a:t>DOI</a:t>
            </a:r>
            <a:r>
              <a:rPr lang="ja-JP" altLang="en-US" sz="1200" dirty="0"/>
              <a:t>：</a:t>
            </a:r>
            <a:r>
              <a:rPr lang="en-US" altLang="ja-JP" sz="1200" dirty="0"/>
              <a:t>https://doi.org/10.14949/konpyutariyoukyouiku.58.35</a:t>
            </a:r>
            <a:endParaRPr lang="en-US" altLang="ja-JP" dirty="0"/>
          </a:p>
        </p:txBody>
      </p:sp>
      <p:sp>
        <p:nvSpPr>
          <p:cNvPr id="3" name="スライド番号プレースホルダー 2">
            <a:extLst>
              <a:ext uri="{FF2B5EF4-FFF2-40B4-BE49-F238E27FC236}">
                <a16:creationId xmlns:a16="http://schemas.microsoft.com/office/drawing/2014/main" id="{763E810A-9757-A58F-4BA0-3A9CD57DC6C3}"/>
              </a:ext>
            </a:extLst>
          </p:cNvPr>
          <p:cNvSpPr>
            <a:spLocks noGrp="1"/>
          </p:cNvSpPr>
          <p:nvPr>
            <p:ph type="sldNum" sz="quarter" idx="12"/>
          </p:nvPr>
        </p:nvSpPr>
        <p:spPr/>
        <p:txBody>
          <a:bodyPr/>
          <a:lstStyle/>
          <a:p>
            <a:fld id="{9FB99072-780F-43D9-B22B-8FACFE63800E}" type="slidenum">
              <a:rPr kumimoji="1" lang="ja-JP" altLang="en-US" smtClean="0"/>
              <a:t>4</a:t>
            </a:fld>
            <a:endParaRPr kumimoji="1" lang="ja-JP" altLang="en-US" dirty="0"/>
          </a:p>
        </p:txBody>
      </p:sp>
      <p:pic>
        <p:nvPicPr>
          <p:cNvPr id="124" name="グラフィックス 123" descr="開いた本 枠線">
            <a:extLst>
              <a:ext uri="{FF2B5EF4-FFF2-40B4-BE49-F238E27FC236}">
                <a16:creationId xmlns:a16="http://schemas.microsoft.com/office/drawing/2014/main" id="{9385AF97-742D-EE21-CAAA-6D97F30B33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54810" y="3312444"/>
            <a:ext cx="429495" cy="429495"/>
          </a:xfrm>
          <a:prstGeom prst="rect">
            <a:avLst/>
          </a:prstGeom>
        </p:spPr>
      </p:pic>
      <p:sp>
        <p:nvSpPr>
          <p:cNvPr id="125" name="テキスト ボックス 124">
            <a:extLst>
              <a:ext uri="{FF2B5EF4-FFF2-40B4-BE49-F238E27FC236}">
                <a16:creationId xmlns:a16="http://schemas.microsoft.com/office/drawing/2014/main" id="{E5EA480F-B765-BDDB-78F0-A4625936DA2B}"/>
              </a:ext>
            </a:extLst>
          </p:cNvPr>
          <p:cNvSpPr txBox="1"/>
          <p:nvPr/>
        </p:nvSpPr>
        <p:spPr>
          <a:xfrm>
            <a:off x="3338104" y="3778440"/>
            <a:ext cx="1462906" cy="523220"/>
          </a:xfrm>
          <a:prstGeom prst="rect">
            <a:avLst/>
          </a:prstGeom>
          <a:noFill/>
        </p:spPr>
        <p:txBody>
          <a:bodyPr wrap="square" rtlCol="0">
            <a:spAutoFit/>
          </a:bodyPr>
          <a:lstStyle/>
          <a:p>
            <a:pPr algn="ctr"/>
            <a:r>
              <a:rPr lang="ja-JP" altLang="en-US" sz="1400" dirty="0"/>
              <a:t>教科書から</a:t>
            </a:r>
            <a:endParaRPr lang="en-US" altLang="ja-JP" sz="1400" dirty="0"/>
          </a:p>
          <a:p>
            <a:pPr algn="ctr"/>
            <a:r>
              <a:rPr lang="ja-JP" altLang="en-US" sz="1400" dirty="0"/>
              <a:t>情報取得</a:t>
            </a:r>
            <a:endParaRPr kumimoji="1" lang="ja-JP" altLang="en-US" sz="1400" dirty="0"/>
          </a:p>
        </p:txBody>
      </p:sp>
      <p:cxnSp>
        <p:nvCxnSpPr>
          <p:cNvPr id="127" name="直線矢印コネクタ 126">
            <a:extLst>
              <a:ext uri="{FF2B5EF4-FFF2-40B4-BE49-F238E27FC236}">
                <a16:creationId xmlns:a16="http://schemas.microsoft.com/office/drawing/2014/main" id="{FD316CD1-648D-96B6-DE31-A308FB000EDD}"/>
              </a:ext>
            </a:extLst>
          </p:cNvPr>
          <p:cNvCxnSpPr>
            <a:cxnSpLocks/>
          </p:cNvCxnSpPr>
          <p:nvPr/>
        </p:nvCxnSpPr>
        <p:spPr>
          <a:xfrm>
            <a:off x="4069557" y="4313710"/>
            <a:ext cx="3454"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28" name="グラフィックス 127" descr="データベース 枠線">
            <a:extLst>
              <a:ext uri="{FF2B5EF4-FFF2-40B4-BE49-F238E27FC236}">
                <a16:creationId xmlns:a16="http://schemas.microsoft.com/office/drawing/2014/main" id="{24BEDBC2-D752-CAEA-D83D-F398B85141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7758" y="4532639"/>
            <a:ext cx="543598" cy="543597"/>
          </a:xfrm>
          <a:prstGeom prst="rect">
            <a:avLst/>
          </a:prstGeom>
        </p:spPr>
      </p:pic>
      <p:sp>
        <p:nvSpPr>
          <p:cNvPr id="129" name="テキスト ボックス 128">
            <a:extLst>
              <a:ext uri="{FF2B5EF4-FFF2-40B4-BE49-F238E27FC236}">
                <a16:creationId xmlns:a16="http://schemas.microsoft.com/office/drawing/2014/main" id="{F46E4084-349A-258D-64E3-E8BFBED2321B}"/>
              </a:ext>
            </a:extLst>
          </p:cNvPr>
          <p:cNvSpPr txBox="1"/>
          <p:nvPr/>
        </p:nvSpPr>
        <p:spPr>
          <a:xfrm>
            <a:off x="3682147" y="5119376"/>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134" name="テキスト ボックス 133">
            <a:extLst>
              <a:ext uri="{FF2B5EF4-FFF2-40B4-BE49-F238E27FC236}">
                <a16:creationId xmlns:a16="http://schemas.microsoft.com/office/drawing/2014/main" id="{06934ED6-702A-315D-737D-F067CBC5DDA2}"/>
              </a:ext>
            </a:extLst>
          </p:cNvPr>
          <p:cNvSpPr txBox="1"/>
          <p:nvPr/>
        </p:nvSpPr>
        <p:spPr>
          <a:xfrm>
            <a:off x="8631134" y="4369048"/>
            <a:ext cx="582798" cy="313355"/>
          </a:xfrm>
          <a:prstGeom prst="rect">
            <a:avLst/>
          </a:prstGeom>
          <a:noFill/>
        </p:spPr>
        <p:txBody>
          <a:bodyPr wrap="square" rtlCol="0">
            <a:spAutoFit/>
          </a:bodyPr>
          <a:lstStyle/>
          <a:p>
            <a:r>
              <a:rPr kumimoji="1" lang="ja-JP" altLang="en-US" sz="1400" dirty="0"/>
              <a:t>教師</a:t>
            </a:r>
            <a:endParaRPr kumimoji="1" lang="en-US" altLang="ja-JP" sz="1400" dirty="0"/>
          </a:p>
        </p:txBody>
      </p:sp>
      <p:pic>
        <p:nvPicPr>
          <p:cNvPr id="135" name="グラフィックス 134" descr="データベース 枠線">
            <a:extLst>
              <a:ext uri="{FF2B5EF4-FFF2-40B4-BE49-F238E27FC236}">
                <a16:creationId xmlns:a16="http://schemas.microsoft.com/office/drawing/2014/main" id="{DDE1C86C-8AD6-21E2-5BEA-CBE0E93A81E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27265" y="3330588"/>
            <a:ext cx="571625" cy="571624"/>
          </a:xfrm>
          <a:prstGeom prst="rect">
            <a:avLst/>
          </a:prstGeom>
        </p:spPr>
      </p:pic>
      <p:sp>
        <p:nvSpPr>
          <p:cNvPr id="136" name="テキスト ボックス 135">
            <a:extLst>
              <a:ext uri="{FF2B5EF4-FFF2-40B4-BE49-F238E27FC236}">
                <a16:creationId xmlns:a16="http://schemas.microsoft.com/office/drawing/2014/main" id="{E207FDBE-0E4C-B561-6B41-9BE8D5E99E23}"/>
              </a:ext>
            </a:extLst>
          </p:cNvPr>
          <p:cNvSpPr txBox="1"/>
          <p:nvPr/>
        </p:nvSpPr>
        <p:spPr>
          <a:xfrm>
            <a:off x="6484517" y="3527173"/>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endParaRPr kumimoji="1" lang="en-US" altLang="ja-JP" sz="1400" dirty="0"/>
          </a:p>
          <a:p>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cxnSp>
        <p:nvCxnSpPr>
          <p:cNvPr id="142" name="直線矢印コネクタ 141">
            <a:extLst>
              <a:ext uri="{FF2B5EF4-FFF2-40B4-BE49-F238E27FC236}">
                <a16:creationId xmlns:a16="http://schemas.microsoft.com/office/drawing/2014/main" id="{30B66CEE-481F-3403-4104-C714581C7E1A}"/>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3" name="グラフィックス 142" descr="銀行の小切手 枠線">
            <a:extLst>
              <a:ext uri="{FF2B5EF4-FFF2-40B4-BE49-F238E27FC236}">
                <a16:creationId xmlns:a16="http://schemas.microsoft.com/office/drawing/2014/main" id="{1028629A-764B-6C2B-072E-E50C9F357D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7083" y="4832866"/>
            <a:ext cx="567227" cy="567227"/>
          </a:xfrm>
          <a:prstGeom prst="rect">
            <a:avLst/>
          </a:prstGeom>
        </p:spPr>
      </p:pic>
      <p:sp>
        <p:nvSpPr>
          <p:cNvPr id="147" name="矢印: 右 146">
            <a:extLst>
              <a:ext uri="{FF2B5EF4-FFF2-40B4-BE49-F238E27FC236}">
                <a16:creationId xmlns:a16="http://schemas.microsoft.com/office/drawing/2014/main" id="{4A93DE78-1051-CD86-143A-6946975CB96C}"/>
              </a:ext>
            </a:extLst>
          </p:cNvPr>
          <p:cNvSpPr/>
          <p:nvPr/>
        </p:nvSpPr>
        <p:spPr>
          <a:xfrm>
            <a:off x="2288927" y="3704328"/>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矢印: 右 147">
            <a:extLst>
              <a:ext uri="{FF2B5EF4-FFF2-40B4-BE49-F238E27FC236}">
                <a16:creationId xmlns:a16="http://schemas.microsoft.com/office/drawing/2014/main" id="{C29ADE6B-2A1D-C0E7-E9B7-557868DF21BA}"/>
              </a:ext>
            </a:extLst>
          </p:cNvPr>
          <p:cNvSpPr/>
          <p:nvPr/>
        </p:nvSpPr>
        <p:spPr>
          <a:xfrm>
            <a:off x="5280382" y="3659542"/>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矢印: 右 148">
            <a:extLst>
              <a:ext uri="{FF2B5EF4-FFF2-40B4-BE49-F238E27FC236}">
                <a16:creationId xmlns:a16="http://schemas.microsoft.com/office/drawing/2014/main" id="{529CC8A8-8F9D-4FE0-C91E-5F6D4D623016}"/>
              </a:ext>
            </a:extLst>
          </p:cNvPr>
          <p:cNvSpPr/>
          <p:nvPr/>
        </p:nvSpPr>
        <p:spPr>
          <a:xfrm>
            <a:off x="7731328" y="3675372"/>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1" name="テキスト ボックス 150">
            <a:extLst>
              <a:ext uri="{FF2B5EF4-FFF2-40B4-BE49-F238E27FC236}">
                <a16:creationId xmlns:a16="http://schemas.microsoft.com/office/drawing/2014/main" id="{6AAB3BC5-7C60-64B5-29B1-3D5F71A99A4F}"/>
              </a:ext>
            </a:extLst>
          </p:cNvPr>
          <p:cNvSpPr txBox="1"/>
          <p:nvPr/>
        </p:nvSpPr>
        <p:spPr>
          <a:xfrm>
            <a:off x="352252" y="5663245"/>
            <a:ext cx="1739982"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dirty="0">
                <a:latin typeface="Yu Gothic"/>
              </a:rPr>
              <a:t>既存</a:t>
            </a:r>
            <a:r>
              <a:rPr lang="ja-JP" altLang="en-US" sz="1400" dirty="0">
                <a:solidFill>
                  <a:schemeClr val="tx1"/>
                </a:solidFill>
                <a:latin typeface="Yu Gothic"/>
              </a:rPr>
              <a:t>単語を投入</a:t>
            </a:r>
          </a:p>
        </p:txBody>
      </p:sp>
      <p:sp>
        <p:nvSpPr>
          <p:cNvPr id="152" name="テキスト ボックス 151">
            <a:extLst>
              <a:ext uri="{FF2B5EF4-FFF2-40B4-BE49-F238E27FC236}">
                <a16:creationId xmlns:a16="http://schemas.microsoft.com/office/drawing/2014/main" id="{EBCEC0A3-300F-B845-D4EF-F0637C8254D9}"/>
              </a:ext>
            </a:extLst>
          </p:cNvPr>
          <p:cNvSpPr txBox="1"/>
          <p:nvPr/>
        </p:nvSpPr>
        <p:spPr>
          <a:xfrm>
            <a:off x="2650386" y="5663245"/>
            <a:ext cx="2584269"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latin typeface="Yu Gothic"/>
              </a:rPr>
              <a:t>教科書から情報を収集し、</a:t>
            </a:r>
            <a:endParaRPr lang="en-US" altLang="ja-JP" sz="1400" dirty="0">
              <a:latin typeface="Yu Gothic"/>
            </a:endParaRPr>
          </a:p>
          <a:p>
            <a:pPr algn="ctr"/>
            <a:r>
              <a:rPr lang="ja-JP" altLang="en-US" sz="1400" dirty="0">
                <a:latin typeface="Yu Gothic"/>
              </a:rPr>
              <a:t>知識を構造化し</a:t>
            </a:r>
            <a:r>
              <a:rPr lang="en-US" altLang="ja-JP" sz="1400" dirty="0">
                <a:latin typeface="Yu Gothic"/>
              </a:rPr>
              <a:t>DB</a:t>
            </a:r>
            <a:r>
              <a:rPr lang="ja-JP" altLang="en-US" sz="1400" dirty="0">
                <a:latin typeface="Yu Gothic"/>
              </a:rPr>
              <a:t>に保存</a:t>
            </a:r>
            <a:endParaRPr lang="ja-JP" altLang="en-US" sz="1200" dirty="0">
              <a:solidFill>
                <a:schemeClr val="tx1"/>
              </a:solidFill>
              <a:latin typeface="Yu Gothic"/>
            </a:endParaRPr>
          </a:p>
        </p:txBody>
      </p:sp>
      <p:sp>
        <p:nvSpPr>
          <p:cNvPr id="153" name="テキスト ボックス 152">
            <a:extLst>
              <a:ext uri="{FF2B5EF4-FFF2-40B4-BE49-F238E27FC236}">
                <a16:creationId xmlns:a16="http://schemas.microsoft.com/office/drawing/2014/main" id="{953D1C29-F2F0-B50C-525A-B37955DA7462}"/>
              </a:ext>
            </a:extLst>
          </p:cNvPr>
          <p:cNvSpPr txBox="1"/>
          <p:nvPr/>
        </p:nvSpPr>
        <p:spPr>
          <a:xfrm>
            <a:off x="5886215" y="5663245"/>
            <a:ext cx="1616182" cy="769441"/>
          </a:xfrm>
          <a:prstGeom prst="rect">
            <a:avLst/>
          </a:prstGeom>
          <a:noFill/>
        </p:spPr>
        <p:txBody>
          <a:bodyPr wrap="square">
            <a:spAutoFit/>
          </a:bodyPr>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p>
          <a:p>
            <a:pPr algn="ctr"/>
            <a:r>
              <a:rPr lang="ja-JP" altLang="en-US" sz="1400" dirty="0">
                <a:solidFill>
                  <a:schemeClr val="tx1"/>
                </a:solidFill>
                <a:latin typeface="+mn-ea"/>
              </a:rPr>
              <a:t>選択肢・問題作成</a:t>
            </a:r>
          </a:p>
        </p:txBody>
      </p:sp>
      <p:sp>
        <p:nvSpPr>
          <p:cNvPr id="154" name="テキスト ボックス 153">
            <a:extLst>
              <a:ext uri="{FF2B5EF4-FFF2-40B4-BE49-F238E27FC236}">
                <a16:creationId xmlns:a16="http://schemas.microsoft.com/office/drawing/2014/main" id="{D03A6C24-FAB1-D52A-89FE-7A3641B1C335}"/>
              </a:ext>
            </a:extLst>
          </p:cNvPr>
          <p:cNvSpPr txBox="1"/>
          <p:nvPr/>
        </p:nvSpPr>
        <p:spPr>
          <a:xfrm>
            <a:off x="7835685" y="5694022"/>
            <a:ext cx="2198410" cy="707886"/>
          </a:xfrm>
          <a:prstGeom prst="rect">
            <a:avLst/>
          </a:prstGeom>
          <a:noFill/>
        </p:spPr>
        <p:txBody>
          <a:bodyPr wrap="square">
            <a:spAutoFit/>
          </a:bodyPr>
          <a:lstStyle/>
          <a:p>
            <a:pPr algn="ctr"/>
            <a:r>
              <a:rPr lang="ja-JP" altLang="en-US" sz="1600" b="1" dirty="0">
                <a:solidFill>
                  <a:schemeClr val="accent5">
                    <a:lumMod val="75000"/>
                  </a:schemeClr>
                </a:solidFill>
                <a:latin typeface="+mn-ea"/>
              </a:rPr>
              <a:t>④問題評価</a:t>
            </a:r>
          </a:p>
          <a:p>
            <a:pPr algn="ctr"/>
            <a:r>
              <a:rPr lang="ja-JP" altLang="en-US" sz="1200" dirty="0">
                <a:solidFill>
                  <a:schemeClr val="tx1"/>
                </a:solidFill>
                <a:latin typeface="+mn-ea"/>
              </a:rPr>
              <a:t>生徒に出題する問題を</a:t>
            </a:r>
            <a:endParaRPr lang="en-US" altLang="ja-JP" sz="1200" dirty="0">
              <a:solidFill>
                <a:schemeClr val="tx1"/>
              </a:solidFill>
              <a:latin typeface="+mn-ea"/>
            </a:endParaRPr>
          </a:p>
          <a:p>
            <a:pPr algn="ctr"/>
            <a:r>
              <a:rPr lang="ja-JP" altLang="en-US" sz="1200" dirty="0">
                <a:latin typeface="+mn-ea"/>
              </a:rPr>
              <a:t>教師が</a:t>
            </a:r>
            <a:r>
              <a:rPr lang="ja-JP" altLang="en-US" sz="1200" dirty="0">
                <a:solidFill>
                  <a:schemeClr val="tx1"/>
                </a:solidFill>
                <a:latin typeface="+mn-ea"/>
              </a:rPr>
              <a:t>選定</a:t>
            </a:r>
          </a:p>
        </p:txBody>
      </p:sp>
      <p:pic>
        <p:nvPicPr>
          <p:cNvPr id="157" name="グラフィックス 156" descr="人工知能 枠線">
            <a:extLst>
              <a:ext uri="{FF2B5EF4-FFF2-40B4-BE49-F238E27FC236}">
                <a16:creationId xmlns:a16="http://schemas.microsoft.com/office/drawing/2014/main" id="{93FE5681-B082-61BE-FE17-2003346392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47695" y="3998251"/>
            <a:ext cx="587607" cy="587607"/>
          </a:xfrm>
          <a:prstGeom prst="rect">
            <a:avLst/>
          </a:prstGeom>
        </p:spPr>
      </p:pic>
      <p:pic>
        <p:nvPicPr>
          <p:cNvPr id="164" name="グラフィックス 163" descr="オフィス ワーカー (女性) 枠線">
            <a:extLst>
              <a:ext uri="{FF2B5EF4-FFF2-40B4-BE49-F238E27FC236}">
                <a16:creationId xmlns:a16="http://schemas.microsoft.com/office/drawing/2014/main" id="{19E11957-19F0-6DEC-BDA4-E78AAA88AC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425" y="3781514"/>
            <a:ext cx="582798" cy="582798"/>
          </a:xfrm>
          <a:prstGeom prst="rect">
            <a:avLst/>
          </a:prstGeom>
        </p:spPr>
      </p:pic>
      <p:pic>
        <p:nvPicPr>
          <p:cNvPr id="168" name="グラフィックス 167" descr="ドキュメント 枠線">
            <a:extLst>
              <a:ext uri="{FF2B5EF4-FFF2-40B4-BE49-F238E27FC236}">
                <a16:creationId xmlns:a16="http://schemas.microsoft.com/office/drawing/2014/main" id="{F5AF134C-59D0-46F6-216A-CDDA5005AA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8429" y="4500620"/>
            <a:ext cx="571716" cy="571716"/>
          </a:xfrm>
          <a:prstGeom prst="rect">
            <a:avLst/>
          </a:prstGeom>
        </p:spPr>
      </p:pic>
      <p:sp>
        <p:nvSpPr>
          <p:cNvPr id="170" name="テキスト ボックス 169">
            <a:extLst>
              <a:ext uri="{FF2B5EF4-FFF2-40B4-BE49-F238E27FC236}">
                <a16:creationId xmlns:a16="http://schemas.microsoft.com/office/drawing/2014/main" id="{3EA4A5CA-2C5A-6B4A-F90C-7874F7AC8233}"/>
              </a:ext>
            </a:extLst>
          </p:cNvPr>
          <p:cNvSpPr txBox="1"/>
          <p:nvPr/>
        </p:nvSpPr>
        <p:spPr>
          <a:xfrm>
            <a:off x="843978" y="4249546"/>
            <a:ext cx="1454413" cy="738664"/>
          </a:xfrm>
          <a:prstGeom prst="rect">
            <a:avLst/>
          </a:prstGeom>
          <a:noFill/>
        </p:spPr>
        <p:txBody>
          <a:bodyPr wrap="square" rtlCol="0">
            <a:spAutoFit/>
          </a:bodyPr>
          <a:lstStyle/>
          <a:p>
            <a:r>
              <a:rPr kumimoji="1" lang="ja-JP" altLang="en-US" sz="1400" dirty="0"/>
              <a:t>管理者</a:t>
            </a:r>
            <a:endParaRPr lang="en-US" altLang="ja-JP" sz="1400" dirty="0"/>
          </a:p>
          <a:p>
            <a:endParaRPr lang="en-US" altLang="ja-JP" sz="1400" dirty="0"/>
          </a:p>
          <a:p>
            <a:r>
              <a:rPr kumimoji="1" lang="ja-JP" altLang="en-US" sz="1400" dirty="0"/>
              <a:t>既存単語</a:t>
            </a:r>
            <a:endParaRPr kumimoji="1" lang="en-US" altLang="ja-JP" sz="1400" dirty="0"/>
          </a:p>
        </p:txBody>
      </p:sp>
      <p:pic>
        <p:nvPicPr>
          <p:cNvPr id="172" name="グラフィックス 171" descr="オフィス ワーカー (男性) 枠線">
            <a:extLst>
              <a:ext uri="{FF2B5EF4-FFF2-40B4-BE49-F238E27FC236}">
                <a16:creationId xmlns:a16="http://schemas.microsoft.com/office/drawing/2014/main" id="{FAE5C419-508C-4483-5BA2-6A98F363CFA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6385" y="3720501"/>
            <a:ext cx="571716" cy="571716"/>
          </a:xfrm>
          <a:prstGeom prst="rect">
            <a:avLst/>
          </a:prstGeom>
        </p:spPr>
      </p:pic>
    </p:spTree>
    <p:extLst>
      <p:ext uri="{BB962C8B-B14F-4D97-AF65-F5344CB8AC3E}">
        <p14:creationId xmlns:p14="http://schemas.microsoft.com/office/powerpoint/2010/main" val="280281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AB752-526E-90B0-DB82-D44854DE961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FA162E8-F763-9ECE-70E2-180951E41A60}"/>
              </a:ext>
            </a:extLst>
          </p:cNvPr>
          <p:cNvSpPr>
            <a:spLocks noGrp="1"/>
          </p:cNvSpPr>
          <p:nvPr>
            <p:ph type="title"/>
          </p:nvPr>
        </p:nvSpPr>
        <p:spPr/>
        <p:txBody>
          <a:bodyPr/>
          <a:lstStyle/>
          <a:p>
            <a:r>
              <a:rPr kumimoji="1" lang="ja-JP" altLang="en-US" dirty="0"/>
              <a:t>本研究の新規性・</a:t>
            </a:r>
            <a:r>
              <a:rPr lang="ja-JP" altLang="en-US" dirty="0"/>
              <a:t>提案システムの全体構成</a:t>
            </a:r>
            <a:endParaRPr kumimoji="1" lang="ja-JP" altLang="en-US" dirty="0"/>
          </a:p>
        </p:txBody>
      </p:sp>
      <p:sp>
        <p:nvSpPr>
          <p:cNvPr id="5" name="コンテンツ プレースホルダー 4">
            <a:extLst>
              <a:ext uri="{FF2B5EF4-FFF2-40B4-BE49-F238E27FC236}">
                <a16:creationId xmlns:a16="http://schemas.microsoft.com/office/drawing/2014/main" id="{426892B8-2BF5-BB0E-2901-FEFAFC673455}"/>
              </a:ext>
            </a:extLst>
          </p:cNvPr>
          <p:cNvSpPr>
            <a:spLocks noGrp="1"/>
          </p:cNvSpPr>
          <p:nvPr>
            <p:ph idx="1"/>
          </p:nvPr>
        </p:nvSpPr>
        <p:spPr/>
        <p:txBody>
          <a:bodyPr/>
          <a:lstStyle/>
          <a:p>
            <a:pPr marL="0" indent="0">
              <a:buNone/>
            </a:pPr>
            <a:r>
              <a:rPr lang="ja-JP" altLang="en-US" b="1" dirty="0"/>
              <a:t>本研究の新規性</a:t>
            </a:r>
          </a:p>
          <a:p>
            <a:pPr marL="914400" lvl="1" indent="-457200">
              <a:buFont typeface="+mj-lt"/>
              <a:buAutoNum type="arabicPeriod"/>
            </a:pPr>
            <a:r>
              <a:rPr lang="ja-JP" altLang="en-US" dirty="0"/>
              <a:t>シラバス改訂で追加された</a:t>
            </a:r>
            <a:r>
              <a:rPr lang="ja-JP" altLang="en-US" b="1" dirty="0">
                <a:solidFill>
                  <a:schemeClr val="accent5">
                    <a:lumMod val="75000"/>
                  </a:schemeClr>
                </a:solidFill>
              </a:rPr>
              <a:t>新出単語を起点</a:t>
            </a:r>
            <a:r>
              <a:rPr lang="ja-JP" altLang="en-US" dirty="0"/>
              <a:t>として、関連知識を収集し読解問題を生成する</a:t>
            </a:r>
          </a:p>
          <a:p>
            <a:pPr marL="914400" lvl="1" indent="-457200">
              <a:buFont typeface="+mj-lt"/>
              <a:buAutoNum type="arabicPeriod"/>
            </a:pPr>
            <a:r>
              <a:rPr lang="ja-JP" altLang="en-US" dirty="0"/>
              <a:t>問題生成の</a:t>
            </a:r>
            <a:r>
              <a:rPr lang="ja-JP" altLang="en-US" b="1" dirty="0">
                <a:solidFill>
                  <a:schemeClr val="accent5">
                    <a:lumMod val="75000"/>
                  </a:schemeClr>
                </a:solidFill>
              </a:rPr>
              <a:t>精度の評価</a:t>
            </a:r>
            <a:r>
              <a:rPr lang="ja-JP" altLang="en-US" dirty="0"/>
              <a:t>を行う</a:t>
            </a:r>
          </a:p>
          <a:p>
            <a:pPr marL="914400" lvl="1" indent="-457200">
              <a:buFont typeface="+mj-lt"/>
              <a:buAutoNum type="arabicPeriod"/>
            </a:pPr>
            <a:r>
              <a:rPr lang="ja-JP" altLang="en-US" dirty="0"/>
              <a:t>正誤に応じたフィードバックまで提供する学習支援システムを構築する</a:t>
            </a:r>
            <a:endParaRPr kumimoji="1" lang="ja-JP" altLang="en-US" dirty="0"/>
          </a:p>
          <a:p>
            <a:endParaRPr kumimoji="1" lang="ja-JP" altLang="en-US" dirty="0"/>
          </a:p>
        </p:txBody>
      </p:sp>
      <p:sp>
        <p:nvSpPr>
          <p:cNvPr id="4" name="フローチャート: 代替処理 3">
            <a:extLst>
              <a:ext uri="{FF2B5EF4-FFF2-40B4-BE49-F238E27FC236}">
                <a16:creationId xmlns:a16="http://schemas.microsoft.com/office/drawing/2014/main" id="{494619BF-C5DF-6EE6-A12F-6DFBDA19667C}"/>
              </a:ext>
            </a:extLst>
          </p:cNvPr>
          <p:cNvSpPr/>
          <p:nvPr/>
        </p:nvSpPr>
        <p:spPr>
          <a:xfrm>
            <a:off x="174173" y="5463294"/>
            <a:ext cx="11789226"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FC08A687-5859-5715-2CB3-90B5531D2D86}"/>
              </a:ext>
            </a:extLst>
          </p:cNvPr>
          <p:cNvSpPr/>
          <p:nvPr/>
        </p:nvSpPr>
        <p:spPr>
          <a:xfrm>
            <a:off x="2689906" y="3110208"/>
            <a:ext cx="2555431" cy="1203502"/>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グラフィックス 9" descr="人工知能 枠線">
            <a:extLst>
              <a:ext uri="{FF2B5EF4-FFF2-40B4-BE49-F238E27FC236}">
                <a16:creationId xmlns:a16="http://schemas.microsoft.com/office/drawing/2014/main" id="{96E9CB67-B48C-8DFF-DEC5-86305CDE26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1156" y="3182023"/>
            <a:ext cx="587607" cy="587607"/>
          </a:xfrm>
          <a:prstGeom prst="rect">
            <a:avLst/>
          </a:prstGeom>
        </p:spPr>
      </p:pic>
      <p:pic>
        <p:nvPicPr>
          <p:cNvPr id="11" name="グラフィックス 10" descr="ドキュメント 枠線">
            <a:extLst>
              <a:ext uri="{FF2B5EF4-FFF2-40B4-BE49-F238E27FC236}">
                <a16:creationId xmlns:a16="http://schemas.microsoft.com/office/drawing/2014/main" id="{855E8AAB-17A2-28B9-95B0-84E5F1BCF3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40151" y="3303866"/>
            <a:ext cx="429495" cy="429495"/>
          </a:xfrm>
          <a:prstGeom prst="rect">
            <a:avLst/>
          </a:prstGeom>
        </p:spPr>
      </p:pic>
      <p:pic>
        <p:nvPicPr>
          <p:cNvPr id="12" name="グラフィックス 11" descr="世界 枠線">
            <a:extLst>
              <a:ext uri="{FF2B5EF4-FFF2-40B4-BE49-F238E27FC236}">
                <a16:creationId xmlns:a16="http://schemas.microsoft.com/office/drawing/2014/main" id="{B76FF9AA-9187-649E-3609-9D374145A39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27289" y="3312444"/>
            <a:ext cx="429495" cy="429495"/>
          </a:xfrm>
          <a:prstGeom prst="rect">
            <a:avLst/>
          </a:prstGeom>
        </p:spPr>
      </p:pic>
      <p:pic>
        <p:nvPicPr>
          <p:cNvPr id="13" name="グラフィックス 12" descr="開いた本 枠線">
            <a:extLst>
              <a:ext uri="{FF2B5EF4-FFF2-40B4-BE49-F238E27FC236}">
                <a16:creationId xmlns:a16="http://schemas.microsoft.com/office/drawing/2014/main" id="{68C22F87-5B19-7568-0E19-F36B3C9313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83720" y="3312444"/>
            <a:ext cx="429495" cy="429495"/>
          </a:xfrm>
          <a:prstGeom prst="rect">
            <a:avLst/>
          </a:prstGeom>
        </p:spPr>
      </p:pic>
      <p:sp>
        <p:nvSpPr>
          <p:cNvPr id="14" name="テキスト ボックス 13">
            <a:extLst>
              <a:ext uri="{FF2B5EF4-FFF2-40B4-BE49-F238E27FC236}">
                <a16:creationId xmlns:a16="http://schemas.microsoft.com/office/drawing/2014/main" id="{F1CB6BAB-91A3-A89E-0461-49EEB9DC109B}"/>
              </a:ext>
            </a:extLst>
          </p:cNvPr>
          <p:cNvSpPr txBox="1"/>
          <p:nvPr/>
        </p:nvSpPr>
        <p:spPr>
          <a:xfrm>
            <a:off x="2597416" y="3778440"/>
            <a:ext cx="1462906" cy="523220"/>
          </a:xfrm>
          <a:prstGeom prst="rect">
            <a:avLst/>
          </a:prstGeom>
          <a:noFill/>
        </p:spPr>
        <p:txBody>
          <a:bodyPr wrap="square" rtlCol="0">
            <a:spAutoFit/>
          </a:bodyPr>
          <a:lstStyle/>
          <a:p>
            <a:r>
              <a:rPr kumimoji="1" lang="ja-JP" altLang="en-US" sz="1400" dirty="0"/>
              <a:t>複数ソースから</a:t>
            </a:r>
            <a:endParaRPr kumimoji="1" lang="en-US" altLang="ja-JP" sz="1400" dirty="0"/>
          </a:p>
          <a:p>
            <a:pPr algn="ctr"/>
            <a:r>
              <a:rPr lang="ja-JP" altLang="en-US" sz="1400" dirty="0"/>
              <a:t>情報取得</a:t>
            </a:r>
            <a:endParaRPr kumimoji="1" lang="ja-JP" altLang="en-US" sz="1400" dirty="0"/>
          </a:p>
        </p:txBody>
      </p:sp>
      <p:cxnSp>
        <p:nvCxnSpPr>
          <p:cNvPr id="15" name="直線矢印コネクタ 14">
            <a:extLst>
              <a:ext uri="{FF2B5EF4-FFF2-40B4-BE49-F238E27FC236}">
                <a16:creationId xmlns:a16="http://schemas.microsoft.com/office/drawing/2014/main" id="{3286415F-9863-D1F3-4601-DD7F7869133F}"/>
              </a:ext>
            </a:extLst>
          </p:cNvPr>
          <p:cNvCxnSpPr>
            <a:cxnSpLocks/>
          </p:cNvCxnSpPr>
          <p:nvPr/>
        </p:nvCxnSpPr>
        <p:spPr>
          <a:xfrm>
            <a:off x="3951463" y="3509377"/>
            <a:ext cx="4296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直線矢印コネクタ 15">
            <a:extLst>
              <a:ext uri="{FF2B5EF4-FFF2-40B4-BE49-F238E27FC236}">
                <a16:creationId xmlns:a16="http://schemas.microsoft.com/office/drawing/2014/main" id="{F7A80BEE-D5E5-0A1A-107B-6A4814A312E7}"/>
              </a:ext>
            </a:extLst>
          </p:cNvPr>
          <p:cNvCxnSpPr>
            <a:cxnSpLocks/>
            <a:endCxn id="17" idx="0"/>
          </p:cNvCxnSpPr>
          <p:nvPr/>
        </p:nvCxnSpPr>
        <p:spPr>
          <a:xfrm>
            <a:off x="4152728" y="4313710"/>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7" name="グラフィックス 16" descr="データベース 枠線">
            <a:extLst>
              <a:ext uri="{FF2B5EF4-FFF2-40B4-BE49-F238E27FC236}">
                <a16:creationId xmlns:a16="http://schemas.microsoft.com/office/drawing/2014/main" id="{1B07AD90-C7DB-9460-135D-0321992BD58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0929" y="4532639"/>
            <a:ext cx="543598" cy="543597"/>
          </a:xfrm>
          <a:prstGeom prst="rect">
            <a:avLst/>
          </a:prstGeom>
        </p:spPr>
      </p:pic>
      <p:sp>
        <p:nvSpPr>
          <p:cNvPr id="18" name="テキスト ボックス 17">
            <a:extLst>
              <a:ext uri="{FF2B5EF4-FFF2-40B4-BE49-F238E27FC236}">
                <a16:creationId xmlns:a16="http://schemas.microsoft.com/office/drawing/2014/main" id="{6F636723-DE42-7579-06AA-37D6DB4B8EC8}"/>
              </a:ext>
            </a:extLst>
          </p:cNvPr>
          <p:cNvSpPr txBox="1"/>
          <p:nvPr/>
        </p:nvSpPr>
        <p:spPr>
          <a:xfrm>
            <a:off x="3808291" y="5119376"/>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19" name="テキスト ボックス 18">
            <a:extLst>
              <a:ext uri="{FF2B5EF4-FFF2-40B4-BE49-F238E27FC236}">
                <a16:creationId xmlns:a16="http://schemas.microsoft.com/office/drawing/2014/main" id="{475647F8-D073-6D17-1810-83ECF604F716}"/>
              </a:ext>
            </a:extLst>
          </p:cNvPr>
          <p:cNvSpPr txBox="1"/>
          <p:nvPr/>
        </p:nvSpPr>
        <p:spPr>
          <a:xfrm>
            <a:off x="4016125" y="3735300"/>
            <a:ext cx="1375401" cy="523220"/>
          </a:xfrm>
          <a:prstGeom prst="rect">
            <a:avLst/>
          </a:prstGeom>
          <a:noFill/>
        </p:spPr>
        <p:txBody>
          <a:bodyPr wrap="square" rtlCol="0">
            <a:spAutoFit/>
          </a:bodyPr>
          <a:lstStyle/>
          <a:p>
            <a:pPr algn="ctr"/>
            <a:r>
              <a:rPr kumimoji="1" lang="en-US" altLang="ja-JP" sz="1400" dirty="0"/>
              <a:t>LLM</a:t>
            </a:r>
            <a:r>
              <a:rPr kumimoji="1" lang="ja-JP" altLang="en-US" sz="1400" dirty="0"/>
              <a:t>で</a:t>
            </a:r>
            <a:endParaRPr kumimoji="1" lang="en-US" altLang="ja-JP" sz="1400" dirty="0"/>
          </a:p>
          <a:p>
            <a:pPr algn="ctr"/>
            <a:r>
              <a:rPr lang="ja-JP" altLang="en-US" sz="1400" dirty="0"/>
              <a:t>要約・構造化</a:t>
            </a:r>
            <a:endParaRPr kumimoji="1" lang="en-US" altLang="ja-JP" sz="1400" dirty="0"/>
          </a:p>
        </p:txBody>
      </p:sp>
      <p:pic>
        <p:nvPicPr>
          <p:cNvPr id="20" name="グラフィックス 19" descr="ベン図 枠線">
            <a:extLst>
              <a:ext uri="{FF2B5EF4-FFF2-40B4-BE49-F238E27FC236}">
                <a16:creationId xmlns:a16="http://schemas.microsoft.com/office/drawing/2014/main" id="{41E50C41-3DCA-ACEF-10A0-9BF5BC3172A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97087" y="4585858"/>
            <a:ext cx="587608" cy="587608"/>
          </a:xfrm>
          <a:prstGeom prst="rect">
            <a:avLst/>
          </a:prstGeom>
        </p:spPr>
      </p:pic>
      <p:pic>
        <p:nvPicPr>
          <p:cNvPr id="21" name="グラフィックス 20" descr="チェックマークを付けたチェック ボックス 枠線">
            <a:extLst>
              <a:ext uri="{FF2B5EF4-FFF2-40B4-BE49-F238E27FC236}">
                <a16:creationId xmlns:a16="http://schemas.microsoft.com/office/drawing/2014/main" id="{1ED742A3-E27F-18E6-9E31-FAB2498A56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38013" y="3243612"/>
            <a:ext cx="587608" cy="587608"/>
          </a:xfrm>
          <a:prstGeom prst="rect">
            <a:avLst/>
          </a:prstGeom>
        </p:spPr>
      </p:pic>
      <p:pic>
        <p:nvPicPr>
          <p:cNvPr id="22" name="グラフィックス 21" descr="人工知能 枠線">
            <a:extLst>
              <a:ext uri="{FF2B5EF4-FFF2-40B4-BE49-F238E27FC236}">
                <a16:creationId xmlns:a16="http://schemas.microsoft.com/office/drawing/2014/main" id="{8180F5D5-F76D-A5FF-4C28-6EA2958E8B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7087" y="3916091"/>
            <a:ext cx="587607" cy="587607"/>
          </a:xfrm>
          <a:prstGeom prst="rect">
            <a:avLst/>
          </a:prstGeom>
        </p:spPr>
      </p:pic>
      <p:sp>
        <p:nvSpPr>
          <p:cNvPr id="23" name="テキスト ボックス 22">
            <a:extLst>
              <a:ext uri="{FF2B5EF4-FFF2-40B4-BE49-F238E27FC236}">
                <a16:creationId xmlns:a16="http://schemas.microsoft.com/office/drawing/2014/main" id="{5592A329-3A46-1AFF-2945-E98222B87B2A}"/>
              </a:ext>
            </a:extLst>
          </p:cNvPr>
          <p:cNvSpPr txBox="1"/>
          <p:nvPr/>
        </p:nvSpPr>
        <p:spPr>
          <a:xfrm>
            <a:off x="8584694" y="3300598"/>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sp>
        <p:nvSpPr>
          <p:cNvPr id="25" name="テキスト ボックス 24">
            <a:extLst>
              <a:ext uri="{FF2B5EF4-FFF2-40B4-BE49-F238E27FC236}">
                <a16:creationId xmlns:a16="http://schemas.microsoft.com/office/drawing/2014/main" id="{F5CA04B1-01F5-3F08-B55D-0B449DB5730C}"/>
              </a:ext>
            </a:extLst>
          </p:cNvPr>
          <p:cNvSpPr txBox="1"/>
          <p:nvPr/>
        </p:nvSpPr>
        <p:spPr>
          <a:xfrm>
            <a:off x="6484517" y="3527173"/>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endParaRPr lang="en-US" altLang="ja-JP" sz="1400" dirty="0"/>
          </a:p>
          <a:p>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cxnSp>
        <p:nvCxnSpPr>
          <p:cNvPr id="31" name="直線矢印コネクタ 30">
            <a:extLst>
              <a:ext uri="{FF2B5EF4-FFF2-40B4-BE49-F238E27FC236}">
                <a16:creationId xmlns:a16="http://schemas.microsoft.com/office/drawing/2014/main" id="{37A2DAFB-C536-3BFF-9E71-C906CD29AE21}"/>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32" name="グラフィックス 31" descr="銀行の小切手 枠線">
            <a:extLst>
              <a:ext uri="{FF2B5EF4-FFF2-40B4-BE49-F238E27FC236}">
                <a16:creationId xmlns:a16="http://schemas.microsoft.com/office/drawing/2014/main" id="{88380FF0-138E-8229-1B26-A336AB32B44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807083" y="4832866"/>
            <a:ext cx="567227" cy="567227"/>
          </a:xfrm>
          <a:prstGeom prst="rect">
            <a:avLst/>
          </a:prstGeom>
        </p:spPr>
      </p:pic>
      <p:pic>
        <p:nvPicPr>
          <p:cNvPr id="33" name="グラフィックス 32" descr="棒グラフ 枠線">
            <a:extLst>
              <a:ext uri="{FF2B5EF4-FFF2-40B4-BE49-F238E27FC236}">
                <a16:creationId xmlns:a16="http://schemas.microsoft.com/office/drawing/2014/main" id="{64CAFBAA-7B20-35F1-36F6-3E953E108DF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243" y="3311115"/>
            <a:ext cx="652803" cy="652803"/>
          </a:xfrm>
          <a:prstGeom prst="rect">
            <a:avLst/>
          </a:prstGeom>
        </p:spPr>
      </p:pic>
      <p:pic>
        <p:nvPicPr>
          <p:cNvPr id="34" name="グラフィックス 33" descr="銀行の小切手 枠線">
            <a:extLst>
              <a:ext uri="{FF2B5EF4-FFF2-40B4-BE49-F238E27FC236}">
                <a16:creationId xmlns:a16="http://schemas.microsoft.com/office/drawing/2014/main" id="{32ABF15A-A3ED-A5EF-DB13-8D7BEDE5FBB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0030" y="4081279"/>
            <a:ext cx="567227" cy="567227"/>
          </a:xfrm>
          <a:prstGeom prst="rect">
            <a:avLst/>
          </a:prstGeom>
        </p:spPr>
      </p:pic>
      <p:sp>
        <p:nvSpPr>
          <p:cNvPr id="35" name="テキスト ボックス 34">
            <a:extLst>
              <a:ext uri="{FF2B5EF4-FFF2-40B4-BE49-F238E27FC236}">
                <a16:creationId xmlns:a16="http://schemas.microsoft.com/office/drawing/2014/main" id="{3F307435-1D09-9F92-F7C8-E2F523169CF9}"/>
              </a:ext>
            </a:extLst>
          </p:cNvPr>
          <p:cNvSpPr txBox="1"/>
          <p:nvPr/>
        </p:nvSpPr>
        <p:spPr>
          <a:xfrm>
            <a:off x="10797257" y="3537036"/>
            <a:ext cx="973311" cy="954107"/>
          </a:xfrm>
          <a:prstGeom prst="rect">
            <a:avLst/>
          </a:prstGeom>
          <a:noFill/>
        </p:spPr>
        <p:txBody>
          <a:bodyPr wrap="square" rtlCol="0">
            <a:spAutoFit/>
          </a:bodyPr>
          <a:lstStyle/>
          <a:p>
            <a:r>
              <a:rPr lang="ja-JP" altLang="en-US" sz="1400" dirty="0"/>
              <a:t>回答評価</a:t>
            </a:r>
            <a:endParaRPr lang="en-US" altLang="ja-JP" sz="1400" dirty="0"/>
          </a:p>
          <a:p>
            <a:endParaRPr lang="en-US" altLang="ja-JP" sz="1400" dirty="0"/>
          </a:p>
          <a:p>
            <a:endParaRPr lang="en-US" altLang="ja-JP" sz="1400" dirty="0"/>
          </a:p>
          <a:p>
            <a:r>
              <a:rPr kumimoji="1" lang="ja-JP" altLang="en-US" sz="1400" dirty="0"/>
              <a:t>問題出題</a:t>
            </a:r>
            <a:endParaRPr kumimoji="1" lang="en-US" altLang="ja-JP" sz="1400" dirty="0"/>
          </a:p>
        </p:txBody>
      </p:sp>
      <p:sp>
        <p:nvSpPr>
          <p:cNvPr id="36" name="矢印: 右 35">
            <a:extLst>
              <a:ext uri="{FF2B5EF4-FFF2-40B4-BE49-F238E27FC236}">
                <a16:creationId xmlns:a16="http://schemas.microsoft.com/office/drawing/2014/main" id="{F415CF7F-6BF1-A8F9-2BD1-E8F2505851AF}"/>
              </a:ext>
            </a:extLst>
          </p:cNvPr>
          <p:cNvSpPr/>
          <p:nvPr/>
        </p:nvSpPr>
        <p:spPr>
          <a:xfrm>
            <a:off x="2288927" y="3704328"/>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右 36">
            <a:extLst>
              <a:ext uri="{FF2B5EF4-FFF2-40B4-BE49-F238E27FC236}">
                <a16:creationId xmlns:a16="http://schemas.microsoft.com/office/drawing/2014/main" id="{4D883321-1871-4B18-E019-3599161C7AAC}"/>
              </a:ext>
            </a:extLst>
          </p:cNvPr>
          <p:cNvSpPr/>
          <p:nvPr/>
        </p:nvSpPr>
        <p:spPr>
          <a:xfrm>
            <a:off x="5280382" y="3659542"/>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右 37">
            <a:extLst>
              <a:ext uri="{FF2B5EF4-FFF2-40B4-BE49-F238E27FC236}">
                <a16:creationId xmlns:a16="http://schemas.microsoft.com/office/drawing/2014/main" id="{E8B4ACE5-5C25-A53E-C463-C4656A55516E}"/>
              </a:ext>
            </a:extLst>
          </p:cNvPr>
          <p:cNvSpPr/>
          <p:nvPr/>
        </p:nvSpPr>
        <p:spPr>
          <a:xfrm>
            <a:off x="7731328" y="3675372"/>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矢印: 右 39">
            <a:extLst>
              <a:ext uri="{FF2B5EF4-FFF2-40B4-BE49-F238E27FC236}">
                <a16:creationId xmlns:a16="http://schemas.microsoft.com/office/drawing/2014/main" id="{3D33C056-7355-3662-3A92-08E502F4959D}"/>
              </a:ext>
            </a:extLst>
          </p:cNvPr>
          <p:cNvSpPr/>
          <p:nvPr/>
        </p:nvSpPr>
        <p:spPr>
          <a:xfrm>
            <a:off x="9719750" y="3727530"/>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E0239B88-D98F-5D7C-E4C3-DA298601E68D}"/>
              </a:ext>
            </a:extLst>
          </p:cNvPr>
          <p:cNvSpPr txBox="1"/>
          <p:nvPr/>
        </p:nvSpPr>
        <p:spPr>
          <a:xfrm>
            <a:off x="352252" y="5663245"/>
            <a:ext cx="1739982"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b="1" dirty="0">
                <a:solidFill>
                  <a:srgbClr val="C00000"/>
                </a:solidFill>
                <a:latin typeface="Yu Gothic"/>
              </a:rPr>
              <a:t>新出単語</a:t>
            </a:r>
            <a:r>
              <a:rPr lang="ja-JP" altLang="en-US" sz="1400" dirty="0">
                <a:solidFill>
                  <a:schemeClr val="tx1"/>
                </a:solidFill>
                <a:latin typeface="Yu Gothic"/>
              </a:rPr>
              <a:t>を投入</a:t>
            </a:r>
          </a:p>
        </p:txBody>
      </p:sp>
      <p:sp>
        <p:nvSpPr>
          <p:cNvPr id="42" name="テキスト ボックス 41">
            <a:extLst>
              <a:ext uri="{FF2B5EF4-FFF2-40B4-BE49-F238E27FC236}">
                <a16:creationId xmlns:a16="http://schemas.microsoft.com/office/drawing/2014/main" id="{C843BF23-EF37-4AAE-70B6-4521B5BCDCA0}"/>
              </a:ext>
            </a:extLst>
          </p:cNvPr>
          <p:cNvSpPr txBox="1"/>
          <p:nvPr/>
        </p:nvSpPr>
        <p:spPr>
          <a:xfrm>
            <a:off x="2650386" y="5663245"/>
            <a:ext cx="2584269"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latin typeface="Yu Gothic"/>
              </a:rPr>
              <a:t>複数の情報を収集し、</a:t>
            </a:r>
            <a:endParaRPr lang="en-US" altLang="ja-JP" sz="1400" dirty="0">
              <a:latin typeface="Yu Gothic"/>
            </a:endParaRPr>
          </a:p>
          <a:p>
            <a:pPr algn="ctr"/>
            <a:r>
              <a:rPr lang="ja-JP" altLang="en-US" sz="1400" dirty="0">
                <a:latin typeface="Yu Gothic"/>
              </a:rPr>
              <a:t>知識を構造化し</a:t>
            </a:r>
            <a:r>
              <a:rPr lang="en-US" altLang="ja-JP" sz="1400" dirty="0">
                <a:latin typeface="Yu Gothic"/>
              </a:rPr>
              <a:t>DB</a:t>
            </a:r>
            <a:r>
              <a:rPr lang="ja-JP" altLang="en-US" sz="1400" dirty="0">
                <a:latin typeface="Yu Gothic"/>
              </a:rPr>
              <a:t>に保存</a:t>
            </a:r>
            <a:endParaRPr lang="ja-JP" altLang="en-US" sz="1200" dirty="0">
              <a:solidFill>
                <a:schemeClr val="tx1"/>
              </a:solidFill>
              <a:latin typeface="Yu Gothic"/>
            </a:endParaRPr>
          </a:p>
        </p:txBody>
      </p:sp>
      <p:sp>
        <p:nvSpPr>
          <p:cNvPr id="43" name="テキスト ボックス 42">
            <a:extLst>
              <a:ext uri="{FF2B5EF4-FFF2-40B4-BE49-F238E27FC236}">
                <a16:creationId xmlns:a16="http://schemas.microsoft.com/office/drawing/2014/main" id="{96478AF7-80EA-16B8-1AE2-06FEFFE73F12}"/>
              </a:ext>
            </a:extLst>
          </p:cNvPr>
          <p:cNvSpPr txBox="1"/>
          <p:nvPr/>
        </p:nvSpPr>
        <p:spPr>
          <a:xfrm>
            <a:off x="5886215" y="5663245"/>
            <a:ext cx="1616182" cy="769441"/>
          </a:xfrm>
          <a:prstGeom prst="rect">
            <a:avLst/>
          </a:prstGeom>
          <a:noFill/>
        </p:spPr>
        <p:txBody>
          <a:bodyPr wrap="square">
            <a:spAutoFit/>
          </a:bodyPr>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p>
          <a:p>
            <a:pPr algn="ctr"/>
            <a:r>
              <a:rPr lang="ja-JP" altLang="en-US" sz="1400" dirty="0">
                <a:solidFill>
                  <a:schemeClr val="tx1"/>
                </a:solidFill>
                <a:latin typeface="+mn-ea"/>
              </a:rPr>
              <a:t>選択肢・問題作成</a:t>
            </a:r>
          </a:p>
        </p:txBody>
      </p:sp>
      <p:sp>
        <p:nvSpPr>
          <p:cNvPr id="44" name="テキスト ボックス 43">
            <a:extLst>
              <a:ext uri="{FF2B5EF4-FFF2-40B4-BE49-F238E27FC236}">
                <a16:creationId xmlns:a16="http://schemas.microsoft.com/office/drawing/2014/main" id="{85998EEC-4B43-1508-E1D8-12DD357247BD}"/>
              </a:ext>
            </a:extLst>
          </p:cNvPr>
          <p:cNvSpPr txBox="1"/>
          <p:nvPr/>
        </p:nvSpPr>
        <p:spPr>
          <a:xfrm>
            <a:off x="7835685" y="5694022"/>
            <a:ext cx="2198410" cy="707886"/>
          </a:xfrm>
          <a:prstGeom prst="rect">
            <a:avLst/>
          </a:prstGeom>
          <a:noFill/>
        </p:spPr>
        <p:txBody>
          <a:bodyPr wrap="square">
            <a:spAutoFit/>
          </a:bodyPr>
          <a:lstStyle/>
          <a:p>
            <a:pPr algn="ctr"/>
            <a:r>
              <a:rPr lang="ja-JP" altLang="en-US" sz="1600" b="1" dirty="0">
                <a:solidFill>
                  <a:srgbClr val="C00000"/>
                </a:solidFill>
                <a:latin typeface="+mn-ea"/>
              </a:rPr>
              <a:t>④問題評価</a:t>
            </a:r>
          </a:p>
          <a:p>
            <a:pPr algn="ctr"/>
            <a:r>
              <a:rPr lang="en-US" altLang="ja-JP" sz="1200" dirty="0">
                <a:solidFill>
                  <a:schemeClr val="tx1"/>
                </a:solidFill>
                <a:latin typeface="+mn-ea"/>
              </a:rPr>
              <a:t>Python</a:t>
            </a:r>
            <a:r>
              <a:rPr lang="ja-JP" altLang="en-US" sz="1200" dirty="0">
                <a:solidFill>
                  <a:schemeClr val="tx1"/>
                </a:solidFill>
                <a:latin typeface="+mn-ea"/>
              </a:rPr>
              <a:t>・</a:t>
            </a:r>
            <a:r>
              <a:rPr lang="en-US" altLang="ja-JP" sz="1200" dirty="0">
                <a:solidFill>
                  <a:schemeClr val="tx1"/>
                </a:solidFill>
                <a:latin typeface="+mn-ea"/>
              </a:rPr>
              <a:t>LLM</a:t>
            </a:r>
            <a:r>
              <a:rPr lang="ja-JP" altLang="en-US" sz="1200" dirty="0">
                <a:solidFill>
                  <a:schemeClr val="tx1"/>
                </a:solidFill>
                <a:latin typeface="+mn-ea"/>
              </a:rPr>
              <a:t>・</a:t>
            </a:r>
            <a:r>
              <a:rPr lang="en-US" altLang="ja-JP" sz="1200" dirty="0">
                <a:solidFill>
                  <a:schemeClr val="tx1"/>
                </a:solidFill>
                <a:latin typeface="+mn-ea"/>
              </a:rPr>
              <a:t>Embedding</a:t>
            </a:r>
            <a:r>
              <a:rPr lang="ja-JP" altLang="en-US" sz="1200" dirty="0">
                <a:solidFill>
                  <a:schemeClr val="tx1"/>
                </a:solidFill>
                <a:latin typeface="+mn-ea"/>
              </a:rPr>
              <a:t>で評価</a:t>
            </a:r>
          </a:p>
        </p:txBody>
      </p:sp>
      <p:sp>
        <p:nvSpPr>
          <p:cNvPr id="45" name="テキスト ボックス 44">
            <a:extLst>
              <a:ext uri="{FF2B5EF4-FFF2-40B4-BE49-F238E27FC236}">
                <a16:creationId xmlns:a16="http://schemas.microsoft.com/office/drawing/2014/main" id="{43EAEA4D-EF28-1697-218E-9164A1A0C5CE}"/>
              </a:ext>
            </a:extLst>
          </p:cNvPr>
          <p:cNvSpPr txBox="1"/>
          <p:nvPr/>
        </p:nvSpPr>
        <p:spPr>
          <a:xfrm>
            <a:off x="10077716" y="5570912"/>
            <a:ext cx="1739982" cy="954107"/>
          </a:xfrm>
          <a:prstGeom prst="rect">
            <a:avLst/>
          </a:prstGeom>
          <a:noFill/>
        </p:spPr>
        <p:txBody>
          <a:bodyPr wrap="square">
            <a:spAutoFit/>
          </a:bodyPr>
          <a:lstStyle/>
          <a:p>
            <a:pPr algn="ctr"/>
            <a:r>
              <a:rPr lang="ja-JP" altLang="en-US" sz="1600" b="1" dirty="0">
                <a:solidFill>
                  <a:srgbClr val="C00000"/>
                </a:solidFill>
                <a:latin typeface="+mn-ea"/>
              </a:rPr>
              <a:t>⑤問題出題・フィードバック</a:t>
            </a:r>
            <a:endParaRPr lang="en-US" altLang="ja-JP" sz="1600" b="1" dirty="0">
              <a:solidFill>
                <a:srgbClr val="C00000"/>
              </a:solidFill>
              <a:latin typeface="+mn-ea"/>
            </a:endParaRPr>
          </a:p>
          <a:p>
            <a:pPr algn="ctr"/>
            <a:r>
              <a:rPr lang="ja-JP" altLang="en-US" sz="1200" dirty="0">
                <a:solidFill>
                  <a:schemeClr val="tx1"/>
                </a:solidFill>
                <a:latin typeface="+mn-ea"/>
              </a:rPr>
              <a:t>回答を評価し</a:t>
            </a:r>
            <a:endParaRPr lang="en-US" altLang="ja-JP" sz="1200" dirty="0">
              <a:solidFill>
                <a:schemeClr val="tx1"/>
              </a:solidFill>
              <a:latin typeface="+mn-ea"/>
            </a:endParaRPr>
          </a:p>
          <a:p>
            <a:pPr algn="ctr"/>
            <a:r>
              <a:rPr lang="ja-JP" altLang="en-US" sz="1200" dirty="0">
                <a:solidFill>
                  <a:schemeClr val="tx1"/>
                </a:solidFill>
                <a:latin typeface="+mn-ea"/>
              </a:rPr>
              <a:t>フィードバック</a:t>
            </a:r>
            <a:endParaRPr lang="ja-JP" altLang="en-US" dirty="0"/>
          </a:p>
        </p:txBody>
      </p:sp>
      <p:sp>
        <p:nvSpPr>
          <p:cNvPr id="3" name="スライド番号プレースホルダー 2">
            <a:extLst>
              <a:ext uri="{FF2B5EF4-FFF2-40B4-BE49-F238E27FC236}">
                <a16:creationId xmlns:a16="http://schemas.microsoft.com/office/drawing/2014/main" id="{1FE1062A-D71D-1F7D-7A41-D5450A38395A}"/>
              </a:ext>
            </a:extLst>
          </p:cNvPr>
          <p:cNvSpPr>
            <a:spLocks noGrp="1"/>
          </p:cNvSpPr>
          <p:nvPr>
            <p:ph type="sldNum" sz="quarter" idx="12"/>
          </p:nvPr>
        </p:nvSpPr>
        <p:spPr/>
        <p:txBody>
          <a:bodyPr/>
          <a:lstStyle/>
          <a:p>
            <a:fld id="{9FB99072-780F-43D9-B22B-8FACFE63800E}" type="slidenum">
              <a:rPr kumimoji="1" lang="ja-JP" altLang="en-US" smtClean="0"/>
              <a:t>5</a:t>
            </a:fld>
            <a:endParaRPr kumimoji="1" lang="ja-JP" altLang="en-US"/>
          </a:p>
        </p:txBody>
      </p:sp>
      <p:pic>
        <p:nvPicPr>
          <p:cNvPr id="46" name="グラフィックス 45" descr="ドキュメント 枠線">
            <a:extLst>
              <a:ext uri="{FF2B5EF4-FFF2-40B4-BE49-F238E27FC236}">
                <a16:creationId xmlns:a16="http://schemas.microsoft.com/office/drawing/2014/main" id="{7573AC0D-574F-0FCB-E4B2-63081B97BF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8429" y="4500620"/>
            <a:ext cx="571716" cy="571716"/>
          </a:xfrm>
          <a:prstGeom prst="rect">
            <a:avLst/>
          </a:prstGeom>
        </p:spPr>
      </p:pic>
      <p:sp>
        <p:nvSpPr>
          <p:cNvPr id="47" name="テキスト ボックス 46">
            <a:extLst>
              <a:ext uri="{FF2B5EF4-FFF2-40B4-BE49-F238E27FC236}">
                <a16:creationId xmlns:a16="http://schemas.microsoft.com/office/drawing/2014/main" id="{48C75D6A-6F95-DCCA-DD85-BB54265F4FFC}"/>
              </a:ext>
            </a:extLst>
          </p:cNvPr>
          <p:cNvSpPr txBox="1"/>
          <p:nvPr/>
        </p:nvSpPr>
        <p:spPr>
          <a:xfrm>
            <a:off x="843978" y="4249546"/>
            <a:ext cx="1454413" cy="738664"/>
          </a:xfrm>
          <a:prstGeom prst="rect">
            <a:avLst/>
          </a:prstGeom>
          <a:noFill/>
        </p:spPr>
        <p:txBody>
          <a:bodyPr wrap="square" rtlCol="0">
            <a:spAutoFit/>
          </a:bodyPr>
          <a:lstStyle/>
          <a:p>
            <a:r>
              <a:rPr kumimoji="1" lang="ja-JP" altLang="en-US" sz="1400" dirty="0"/>
              <a:t>管理者</a:t>
            </a:r>
            <a:endParaRPr lang="en-US" altLang="ja-JP" sz="1400" dirty="0"/>
          </a:p>
          <a:p>
            <a:endParaRPr lang="en-US" altLang="ja-JP" sz="1400" dirty="0"/>
          </a:p>
          <a:p>
            <a:r>
              <a:rPr lang="ja-JP" altLang="en-US" sz="1400" dirty="0"/>
              <a:t>新出</a:t>
            </a:r>
            <a:r>
              <a:rPr kumimoji="1" lang="ja-JP" altLang="en-US" sz="1400" dirty="0"/>
              <a:t>単語</a:t>
            </a:r>
            <a:endParaRPr kumimoji="1" lang="en-US" altLang="ja-JP" sz="1400" dirty="0"/>
          </a:p>
        </p:txBody>
      </p:sp>
      <p:pic>
        <p:nvPicPr>
          <p:cNvPr id="48" name="グラフィックス 47" descr="オフィス ワーカー (男性) 枠線">
            <a:extLst>
              <a:ext uri="{FF2B5EF4-FFF2-40B4-BE49-F238E27FC236}">
                <a16:creationId xmlns:a16="http://schemas.microsoft.com/office/drawing/2014/main" id="{E2F406F6-4784-B14B-3C5D-ADF4FF5A998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36385" y="3720501"/>
            <a:ext cx="571716" cy="571716"/>
          </a:xfrm>
          <a:prstGeom prst="rect">
            <a:avLst/>
          </a:prstGeom>
        </p:spPr>
      </p:pic>
      <p:sp>
        <p:nvSpPr>
          <p:cNvPr id="51" name="テキスト ボックス 50">
            <a:extLst>
              <a:ext uri="{FF2B5EF4-FFF2-40B4-BE49-F238E27FC236}">
                <a16:creationId xmlns:a16="http://schemas.microsoft.com/office/drawing/2014/main" id="{279D9D17-C80C-012A-EAE1-D90D4FF00828}"/>
              </a:ext>
            </a:extLst>
          </p:cNvPr>
          <p:cNvSpPr txBox="1"/>
          <p:nvPr/>
        </p:nvSpPr>
        <p:spPr>
          <a:xfrm>
            <a:off x="10605542" y="5242302"/>
            <a:ext cx="636292" cy="307777"/>
          </a:xfrm>
          <a:prstGeom prst="rect">
            <a:avLst/>
          </a:prstGeom>
          <a:noFill/>
        </p:spPr>
        <p:txBody>
          <a:bodyPr wrap="square" rtlCol="0">
            <a:spAutoFit/>
          </a:bodyPr>
          <a:lstStyle/>
          <a:p>
            <a:r>
              <a:rPr kumimoji="1" lang="ja-JP" altLang="en-US" sz="1400" dirty="0"/>
              <a:t>生徒</a:t>
            </a:r>
            <a:endParaRPr kumimoji="1" lang="en-US" altLang="ja-JP" sz="1400" dirty="0"/>
          </a:p>
        </p:txBody>
      </p:sp>
      <p:pic>
        <p:nvPicPr>
          <p:cNvPr id="55" name="グラフィックス 54" descr="男子生徒 枠線">
            <a:extLst>
              <a:ext uri="{FF2B5EF4-FFF2-40B4-BE49-F238E27FC236}">
                <a16:creationId xmlns:a16="http://schemas.microsoft.com/office/drawing/2014/main" id="{3C357E13-C9BF-980D-F786-191F480315A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39127" y="4667637"/>
            <a:ext cx="649516" cy="649516"/>
          </a:xfrm>
          <a:prstGeom prst="rect">
            <a:avLst/>
          </a:prstGeom>
        </p:spPr>
      </p:pic>
      <p:cxnSp>
        <p:nvCxnSpPr>
          <p:cNvPr id="56" name="直線矢印コネクタ 55">
            <a:extLst>
              <a:ext uri="{FF2B5EF4-FFF2-40B4-BE49-F238E27FC236}">
                <a16:creationId xmlns:a16="http://schemas.microsoft.com/office/drawing/2014/main" id="{A5FC6FF5-9FBF-A7E2-14F0-1E8BA4D1E191}"/>
              </a:ext>
            </a:extLst>
          </p:cNvPr>
          <p:cNvCxnSpPr>
            <a:cxnSpLocks/>
          </p:cNvCxnSpPr>
          <p:nvPr/>
        </p:nvCxnSpPr>
        <p:spPr>
          <a:xfrm>
            <a:off x="10853063" y="4500498"/>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7" name="グラフィックス 56" descr="データベース 枠線">
            <a:extLst>
              <a:ext uri="{FF2B5EF4-FFF2-40B4-BE49-F238E27FC236}">
                <a16:creationId xmlns:a16="http://schemas.microsoft.com/office/drawing/2014/main" id="{05721204-540A-13EF-1330-A4B2729A40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27265" y="3330588"/>
            <a:ext cx="571625" cy="571624"/>
          </a:xfrm>
          <a:prstGeom prst="rect">
            <a:avLst/>
          </a:prstGeom>
        </p:spPr>
      </p:pic>
      <p:cxnSp>
        <p:nvCxnSpPr>
          <p:cNvPr id="58" name="直線矢印コネクタ 57">
            <a:extLst>
              <a:ext uri="{FF2B5EF4-FFF2-40B4-BE49-F238E27FC236}">
                <a16:creationId xmlns:a16="http://schemas.microsoft.com/office/drawing/2014/main" id="{5F9255C2-B57C-E82A-0E6A-83A1A2165BA6}"/>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59" name="グラフィックス 58" descr="人工知能 枠線">
            <a:extLst>
              <a:ext uri="{FF2B5EF4-FFF2-40B4-BE49-F238E27FC236}">
                <a16:creationId xmlns:a16="http://schemas.microsoft.com/office/drawing/2014/main" id="{34831223-B61C-4345-E17B-A262753C359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7695" y="3998251"/>
            <a:ext cx="587607" cy="587607"/>
          </a:xfrm>
          <a:prstGeom prst="rect">
            <a:avLst/>
          </a:prstGeom>
        </p:spPr>
      </p:pic>
    </p:spTree>
    <p:extLst>
      <p:ext uri="{BB962C8B-B14F-4D97-AF65-F5344CB8AC3E}">
        <p14:creationId xmlns:p14="http://schemas.microsoft.com/office/powerpoint/2010/main" val="2169730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149C1-9558-C51B-C596-9A3F29C8D6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0FBDFB-5D76-4AD5-718E-57EE8986C75F}"/>
              </a:ext>
            </a:extLst>
          </p:cNvPr>
          <p:cNvSpPr>
            <a:spLocks noGrp="1"/>
          </p:cNvSpPr>
          <p:nvPr>
            <p:ph type="title"/>
          </p:nvPr>
        </p:nvSpPr>
        <p:spPr/>
        <p:txBody>
          <a:bodyPr/>
          <a:lstStyle/>
          <a:p>
            <a:r>
              <a:rPr kumimoji="1" lang="ja-JP" altLang="en-US" b="1" dirty="0"/>
              <a:t>研究目的</a:t>
            </a:r>
          </a:p>
        </p:txBody>
      </p:sp>
      <p:sp>
        <p:nvSpPr>
          <p:cNvPr id="5" name="コンテンツ プレースホルダー 4">
            <a:extLst>
              <a:ext uri="{FF2B5EF4-FFF2-40B4-BE49-F238E27FC236}">
                <a16:creationId xmlns:a16="http://schemas.microsoft.com/office/drawing/2014/main" id="{B6DA9EAA-1493-8641-FDC7-4C8ADDFA4F01}"/>
              </a:ext>
            </a:extLst>
          </p:cNvPr>
          <p:cNvSpPr>
            <a:spLocks noGrp="1"/>
          </p:cNvSpPr>
          <p:nvPr>
            <p:ph idx="1"/>
          </p:nvPr>
        </p:nvSpPr>
        <p:spPr/>
        <p:txBody>
          <a:bodyPr/>
          <a:lstStyle/>
          <a:p>
            <a:pPr marL="0" indent="0">
              <a:buNone/>
            </a:pPr>
            <a:r>
              <a:rPr lang="ja-JP" altLang="ja-JP" b="1" dirty="0"/>
              <a:t>最終目的</a:t>
            </a:r>
          </a:p>
          <a:p>
            <a:pPr marL="0" indent="0" algn="ctr">
              <a:buNone/>
            </a:pPr>
            <a:r>
              <a:rPr lang="ja-JP" altLang="en-US" sz="2400" dirty="0"/>
              <a:t>教育組織における</a:t>
            </a:r>
            <a:r>
              <a:rPr lang="ja-JP" altLang="ja-JP" sz="2400" dirty="0"/>
              <a:t>資格試験等の学習を効率化する</a:t>
            </a:r>
            <a:r>
              <a:rPr lang="ja-JP" altLang="ja-JP" sz="2400" b="1" dirty="0">
                <a:solidFill>
                  <a:schemeClr val="accent5">
                    <a:lumMod val="75000"/>
                  </a:schemeClr>
                </a:solidFill>
              </a:rPr>
              <a:t>学習支援システムの確立</a:t>
            </a:r>
          </a:p>
          <a:p>
            <a:pPr marL="0" indent="0">
              <a:buNone/>
            </a:pPr>
            <a:endParaRPr lang="ja-JP" altLang="ja-JP" sz="2400" dirty="0"/>
          </a:p>
          <a:p>
            <a:pPr marL="0" indent="0">
              <a:buNone/>
            </a:pPr>
            <a:r>
              <a:rPr lang="ja-JP" altLang="ja-JP" b="1" dirty="0"/>
              <a:t>実現に向けた課題</a:t>
            </a:r>
          </a:p>
          <a:p>
            <a:pPr>
              <a:buFont typeface="Wingdings" panose="05000000000000000000" pitchFamily="2" charset="2"/>
              <a:buChar char="l"/>
            </a:pPr>
            <a:r>
              <a:rPr lang="ja-JP" altLang="ja-JP" sz="1800" dirty="0"/>
              <a:t>試験範囲やシラバスの改定に伴う新出用語への対応</a:t>
            </a:r>
          </a:p>
          <a:p>
            <a:pPr>
              <a:buFont typeface="Wingdings" panose="05000000000000000000" pitchFamily="2" charset="2"/>
              <a:buChar char="l"/>
            </a:pPr>
            <a:r>
              <a:rPr lang="ja-JP" altLang="ja-JP" sz="1800" dirty="0"/>
              <a:t>新しい用語に関する知識データの収集・構築</a:t>
            </a:r>
          </a:p>
          <a:p>
            <a:pPr>
              <a:buFont typeface="Wingdings" panose="05000000000000000000" pitchFamily="2" charset="2"/>
              <a:buChar char="l"/>
            </a:pPr>
            <a:r>
              <a:rPr lang="ja-JP" altLang="ja-JP" sz="1800" dirty="0"/>
              <a:t>学習用問題を生成した際の品質の確保</a:t>
            </a:r>
            <a:endParaRPr lang="en-US" altLang="ja-JP" sz="1800" dirty="0"/>
          </a:p>
          <a:p>
            <a:pPr marL="0" lvl="0" indent="0">
              <a:buNone/>
            </a:pPr>
            <a:endParaRPr lang="ja-JP" altLang="ja-JP" dirty="0"/>
          </a:p>
          <a:p>
            <a:pPr marL="0" indent="0">
              <a:buNone/>
            </a:pPr>
            <a:r>
              <a:rPr lang="ja-JP" altLang="ja-JP" b="1" dirty="0"/>
              <a:t>本研究で取り組むこと</a:t>
            </a:r>
          </a:p>
          <a:p>
            <a:pPr marL="0" indent="0">
              <a:buNone/>
            </a:pPr>
            <a:r>
              <a:rPr lang="ja-JP" altLang="ja-JP" sz="1800" dirty="0"/>
              <a:t>新出用語を対象に、</a:t>
            </a:r>
            <a:r>
              <a:rPr lang="ja-JP" altLang="ja-JP" sz="1800" dirty="0">
                <a:solidFill>
                  <a:schemeClr val="accent5">
                    <a:lumMod val="75000"/>
                  </a:schemeClr>
                </a:solidFill>
              </a:rPr>
              <a:t>知識データの構築</a:t>
            </a:r>
            <a:r>
              <a:rPr lang="ja-JP" altLang="ja-JP" sz="1800" dirty="0"/>
              <a:t>・</a:t>
            </a:r>
            <a:r>
              <a:rPr lang="ja-JP" altLang="ja-JP" sz="1800" dirty="0">
                <a:solidFill>
                  <a:schemeClr val="accent5">
                    <a:lumMod val="75000"/>
                  </a:schemeClr>
                </a:solidFill>
              </a:rPr>
              <a:t>問題生成</a:t>
            </a:r>
            <a:r>
              <a:rPr lang="ja-JP" altLang="ja-JP" sz="1800" dirty="0"/>
              <a:t>・</a:t>
            </a:r>
            <a:r>
              <a:rPr lang="ja-JP" altLang="ja-JP" sz="1800" dirty="0">
                <a:solidFill>
                  <a:schemeClr val="accent5">
                    <a:lumMod val="75000"/>
                  </a:schemeClr>
                </a:solidFill>
              </a:rPr>
              <a:t>品質評価</a:t>
            </a:r>
            <a:r>
              <a:rPr lang="ja-JP" altLang="ja-JP" sz="1800" dirty="0"/>
              <a:t>の手法を検討する</a:t>
            </a:r>
          </a:p>
          <a:p>
            <a:pPr marL="0" indent="0">
              <a:buNone/>
            </a:pPr>
            <a:endParaRPr kumimoji="1" lang="ja-JP" altLang="en-US" dirty="0"/>
          </a:p>
          <a:p>
            <a:endParaRPr kumimoji="1" lang="ja-JP" altLang="en-US" dirty="0"/>
          </a:p>
        </p:txBody>
      </p:sp>
      <p:sp>
        <p:nvSpPr>
          <p:cNvPr id="4" name="スライド番号プレースホルダー 3">
            <a:extLst>
              <a:ext uri="{FF2B5EF4-FFF2-40B4-BE49-F238E27FC236}">
                <a16:creationId xmlns:a16="http://schemas.microsoft.com/office/drawing/2014/main" id="{2A4ED7DA-DA2D-B624-7251-8A5A7518AD78}"/>
              </a:ext>
            </a:extLst>
          </p:cNvPr>
          <p:cNvSpPr>
            <a:spLocks noGrp="1"/>
          </p:cNvSpPr>
          <p:nvPr>
            <p:ph type="sldNum" sz="quarter" idx="12"/>
          </p:nvPr>
        </p:nvSpPr>
        <p:spPr/>
        <p:txBody>
          <a:bodyPr/>
          <a:lstStyle/>
          <a:p>
            <a:fld id="{9FB99072-780F-43D9-B22B-8FACFE63800E}" type="slidenum">
              <a:rPr kumimoji="1" lang="ja-JP" altLang="en-US" smtClean="0"/>
              <a:t>6</a:t>
            </a:fld>
            <a:endParaRPr kumimoji="1" lang="ja-JP" altLang="en-US"/>
          </a:p>
        </p:txBody>
      </p:sp>
    </p:spTree>
    <p:extLst>
      <p:ext uri="{BB962C8B-B14F-4D97-AF65-F5344CB8AC3E}">
        <p14:creationId xmlns:p14="http://schemas.microsoft.com/office/powerpoint/2010/main" val="3178514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D78EFB-0C29-552C-AFF8-5B77E7B9EAE7}"/>
              </a:ext>
            </a:extLst>
          </p:cNvPr>
          <p:cNvSpPr>
            <a:spLocks noGrp="1"/>
          </p:cNvSpPr>
          <p:nvPr>
            <p:ph type="title"/>
          </p:nvPr>
        </p:nvSpPr>
        <p:spPr/>
        <p:txBody>
          <a:bodyPr/>
          <a:lstStyle/>
          <a:p>
            <a:r>
              <a:rPr lang="ja-JP" altLang="ja-JP" dirty="0"/>
              <a:t>データの種類と活用</a:t>
            </a:r>
            <a:endParaRPr kumimoji="1" lang="ja-JP" altLang="en-US" dirty="0"/>
          </a:p>
        </p:txBody>
      </p:sp>
      <p:graphicFrame>
        <p:nvGraphicFramePr>
          <p:cNvPr id="7" name="コンテンツ プレースホルダー 6">
            <a:extLst>
              <a:ext uri="{FF2B5EF4-FFF2-40B4-BE49-F238E27FC236}">
                <a16:creationId xmlns:a16="http://schemas.microsoft.com/office/drawing/2014/main" id="{CE298193-AFA4-BFE8-0224-DB258184F9B1}"/>
              </a:ext>
            </a:extLst>
          </p:cNvPr>
          <p:cNvGraphicFramePr>
            <a:graphicFrameLocks noGrp="1"/>
          </p:cNvGraphicFramePr>
          <p:nvPr>
            <p:ph idx="1"/>
            <p:extLst>
              <p:ext uri="{D42A27DB-BD31-4B8C-83A1-F6EECF244321}">
                <p14:modId xmlns:p14="http://schemas.microsoft.com/office/powerpoint/2010/main" val="2459616397"/>
              </p:ext>
            </p:extLst>
          </p:nvPr>
        </p:nvGraphicFramePr>
        <p:xfrm>
          <a:off x="838200" y="1050353"/>
          <a:ext cx="10515600" cy="2326520"/>
        </p:xfrm>
        <a:graphic>
          <a:graphicData uri="http://schemas.openxmlformats.org/drawingml/2006/table">
            <a:tbl>
              <a:tblPr firstRow="1" bandRow="1">
                <a:tableStyleId>{7DF18680-E054-41AD-8BC1-D1AEF772440D}</a:tableStyleId>
              </a:tblPr>
              <a:tblGrid>
                <a:gridCol w="3505200">
                  <a:extLst>
                    <a:ext uri="{9D8B030D-6E8A-4147-A177-3AD203B41FA5}">
                      <a16:colId xmlns:a16="http://schemas.microsoft.com/office/drawing/2014/main" val="870547567"/>
                    </a:ext>
                  </a:extLst>
                </a:gridCol>
                <a:gridCol w="3505200">
                  <a:extLst>
                    <a:ext uri="{9D8B030D-6E8A-4147-A177-3AD203B41FA5}">
                      <a16:colId xmlns:a16="http://schemas.microsoft.com/office/drawing/2014/main" val="3087100135"/>
                    </a:ext>
                  </a:extLst>
                </a:gridCol>
                <a:gridCol w="3505200">
                  <a:extLst>
                    <a:ext uri="{9D8B030D-6E8A-4147-A177-3AD203B41FA5}">
                      <a16:colId xmlns:a16="http://schemas.microsoft.com/office/drawing/2014/main" val="4079706713"/>
                    </a:ext>
                  </a:extLst>
                </a:gridCol>
              </a:tblGrid>
              <a:tr h="290833">
                <a:tc>
                  <a:txBody>
                    <a:bodyPr/>
                    <a:lstStyle/>
                    <a:p>
                      <a:r>
                        <a:rPr kumimoji="1" lang="ja-JP" altLang="en-US" sz="1800" dirty="0"/>
                        <a:t>データ源</a:t>
                      </a:r>
                    </a:p>
                  </a:txBody>
                  <a:tcPr/>
                </a:tc>
                <a:tc>
                  <a:txBody>
                    <a:bodyPr/>
                    <a:lstStyle/>
                    <a:p>
                      <a:r>
                        <a:rPr kumimoji="1" lang="ja-JP" altLang="en-US" sz="1800" dirty="0"/>
                        <a:t>取得情報</a:t>
                      </a:r>
                    </a:p>
                  </a:txBody>
                  <a:tcPr/>
                </a:tc>
                <a:tc>
                  <a:txBody>
                    <a:bodyPr/>
                    <a:lstStyle/>
                    <a:p>
                      <a:r>
                        <a:rPr kumimoji="1" lang="ja-JP" altLang="en-US" sz="1800" dirty="0"/>
                        <a:t>研究での活用</a:t>
                      </a:r>
                    </a:p>
                  </a:txBody>
                  <a:tcPr/>
                </a:tc>
                <a:extLst>
                  <a:ext uri="{0D108BD9-81ED-4DB2-BD59-A6C34878D82A}">
                    <a16:rowId xmlns:a16="http://schemas.microsoft.com/office/drawing/2014/main" val="787063762"/>
                  </a:ext>
                </a:extLst>
              </a:tr>
              <a:tr h="645069">
                <a:tc>
                  <a:txBody>
                    <a:bodyPr/>
                    <a:lstStyle/>
                    <a:p>
                      <a:r>
                        <a:rPr kumimoji="1" lang="ja-JP" altLang="en-US" sz="1600" b="1" dirty="0"/>
                        <a:t>試験の過去問</a:t>
                      </a:r>
                      <a:endParaRPr kumimoji="1" lang="en-US" altLang="ja-JP" sz="1600" b="1" dirty="0"/>
                    </a:p>
                    <a:p>
                      <a:r>
                        <a:rPr kumimoji="1" lang="ja-JP" altLang="en-US" sz="1600" dirty="0"/>
                        <a:t>問題集・公開問題</a:t>
                      </a:r>
                    </a:p>
                  </a:txBody>
                  <a:tcPr/>
                </a:tc>
                <a:tc>
                  <a:txBody>
                    <a:bodyPr/>
                    <a:lstStyle/>
                    <a:p>
                      <a:r>
                        <a:rPr kumimoji="1" lang="ja-JP" altLang="en-US" sz="1600" dirty="0"/>
                        <a:t>問題文・選択肢・正解・出題形式</a:t>
                      </a:r>
                    </a:p>
                  </a:txBody>
                  <a:tcPr/>
                </a:tc>
                <a:tc>
                  <a:txBody>
                    <a:bodyPr/>
                    <a:lstStyle/>
                    <a:p>
                      <a:r>
                        <a:rPr kumimoji="1" lang="ja-JP" altLang="en-US" sz="1600" dirty="0"/>
                        <a:t>問題形式の把握・出題傾向の分析</a:t>
                      </a:r>
                    </a:p>
                  </a:txBody>
                  <a:tcPr/>
                </a:tc>
                <a:extLst>
                  <a:ext uri="{0D108BD9-81ED-4DB2-BD59-A6C34878D82A}">
                    <a16:rowId xmlns:a16="http://schemas.microsoft.com/office/drawing/2014/main" val="1102199833"/>
                  </a:ext>
                </a:extLst>
              </a:tr>
              <a:tr h="651314">
                <a:tc>
                  <a:txBody>
                    <a:bodyPr/>
                    <a:lstStyle/>
                    <a:p>
                      <a:r>
                        <a:rPr lang="ja-JP" altLang="ja-JP" sz="1600" b="1" dirty="0"/>
                        <a:t>用語解説ページ</a:t>
                      </a:r>
                    </a:p>
                    <a:p>
                      <a:r>
                        <a:rPr lang="ja-JP" altLang="ja-JP" sz="1600" dirty="0"/>
                        <a:t>Wikipedia・専門サイト</a:t>
                      </a:r>
                    </a:p>
                  </a:txBody>
                  <a:tcPr/>
                </a:tc>
                <a:tc>
                  <a:txBody>
                    <a:bodyPr/>
                    <a:lstStyle/>
                    <a:p>
                      <a:r>
                        <a:rPr lang="ja-JP" altLang="ja-JP" sz="1600" dirty="0"/>
                        <a:t>用語の定義・特徴・関連概念</a:t>
                      </a:r>
                    </a:p>
                    <a:p>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600" dirty="0"/>
                        <a:t>用語知識の収集・問題の根拠</a:t>
                      </a:r>
                    </a:p>
                  </a:txBody>
                  <a:tcPr/>
                </a:tc>
                <a:extLst>
                  <a:ext uri="{0D108BD9-81ED-4DB2-BD59-A6C34878D82A}">
                    <a16:rowId xmlns:a16="http://schemas.microsoft.com/office/drawing/2014/main" val="488667552"/>
                  </a:ext>
                </a:extLst>
              </a:tr>
              <a:tr h="664377">
                <a:tc>
                  <a:txBody>
                    <a:bodyPr/>
                    <a:lstStyle/>
                    <a:p>
                      <a:r>
                        <a:rPr lang="ja-JP" altLang="ja-JP" sz="1600" b="1" dirty="0"/>
                        <a:t>公式シラバス・技術資料</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600" dirty="0"/>
                        <a:t>試験実施団体・標準文書</a:t>
                      </a:r>
                    </a:p>
                  </a:txBody>
                  <a:tcPr/>
                </a:tc>
                <a:tc>
                  <a:txBody>
                    <a:bodyPr/>
                    <a:lstStyle/>
                    <a:p>
                      <a:r>
                        <a:rPr lang="ja-JP" altLang="ja-JP" sz="1600" dirty="0"/>
                        <a:t>出題範囲・公式定義・技術仕様</a:t>
                      </a:r>
                    </a:p>
                    <a:p>
                      <a:endParaRPr kumimoji="1" lang="ja-JP"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600" dirty="0"/>
                        <a:t>新出用語の特定・定義の確認</a:t>
                      </a: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1600" dirty="0"/>
                    </a:p>
                  </a:txBody>
                  <a:tcPr/>
                </a:tc>
                <a:extLst>
                  <a:ext uri="{0D108BD9-81ED-4DB2-BD59-A6C34878D82A}">
                    <a16:rowId xmlns:a16="http://schemas.microsoft.com/office/drawing/2014/main" val="964092051"/>
                  </a:ext>
                </a:extLst>
              </a:tr>
            </a:tbl>
          </a:graphicData>
        </a:graphic>
      </p:graphicFrame>
      <p:sp>
        <p:nvSpPr>
          <p:cNvPr id="8" name="コンテンツ プレースホルダー 4">
            <a:extLst>
              <a:ext uri="{FF2B5EF4-FFF2-40B4-BE49-F238E27FC236}">
                <a16:creationId xmlns:a16="http://schemas.microsoft.com/office/drawing/2014/main" id="{2B83363B-773B-AE15-2C26-F7C6F31FFC11}"/>
              </a:ext>
            </a:extLst>
          </p:cNvPr>
          <p:cNvSpPr txBox="1">
            <a:spLocks/>
          </p:cNvSpPr>
          <p:nvPr/>
        </p:nvSpPr>
        <p:spPr>
          <a:xfrm>
            <a:off x="838199" y="3526971"/>
            <a:ext cx="10515601" cy="3102429"/>
          </a:xfrm>
          <a:prstGeom prst="rect">
            <a:avLst/>
          </a:prstGeom>
        </p:spPr>
        <p:txBody>
          <a:bodyPr vert="horz" lIns="91440" tIns="45720" rIns="91440" bIns="45720" rtlCol="0">
            <a:normAutofit fontScale="92500" lnSpcReduction="20000"/>
          </a:bodyPr>
          <a:lstStyle>
            <a:lvl1pPr marL="342900" indent="-342900" algn="l" defTabSz="914400" rtl="0" eaLnBrk="1" latinLnBrk="0" hangingPunct="1">
              <a:lnSpc>
                <a:spcPct val="110000"/>
              </a:lnSpc>
              <a:spcBef>
                <a:spcPts val="1000"/>
              </a:spcBef>
              <a:buFont typeface="Wingdings" panose="05000000000000000000" pitchFamily="2" charset="2"/>
              <a:buChar char="u"/>
              <a:defRPr kumimoji="1" sz="2000" kern="1200">
                <a:solidFill>
                  <a:schemeClr val="tx1"/>
                </a:solidFill>
                <a:latin typeface="+mn-lt"/>
                <a:ea typeface="+mn-ea"/>
                <a:cs typeface="+mn-cs"/>
              </a:defRPr>
            </a:lvl1pPr>
            <a:lvl2pPr marL="800100" indent="-342900" algn="l" defTabSz="914400" rtl="0" eaLnBrk="1" latinLnBrk="0" hangingPunct="1">
              <a:lnSpc>
                <a:spcPct val="110000"/>
              </a:lnSpc>
              <a:spcBef>
                <a:spcPts val="500"/>
              </a:spcBef>
              <a:buFont typeface="Wingdings" panose="05000000000000000000" pitchFamily="2" charset="2"/>
              <a:buChar char="u"/>
              <a:defRPr kumimoji="1" sz="1800" kern="1200">
                <a:solidFill>
                  <a:schemeClr val="tx1"/>
                </a:solidFill>
                <a:latin typeface="+mn-lt"/>
                <a:ea typeface="+mn-ea"/>
                <a:cs typeface="+mn-cs"/>
              </a:defRPr>
            </a:lvl2pPr>
            <a:lvl3pPr marL="1200150" indent="-285750" algn="l" defTabSz="914400" rtl="0" eaLnBrk="1" latinLnBrk="0" hangingPunct="1">
              <a:lnSpc>
                <a:spcPct val="110000"/>
              </a:lnSpc>
              <a:spcBef>
                <a:spcPts val="500"/>
              </a:spcBef>
              <a:buFont typeface="Wingdings" panose="05000000000000000000" pitchFamily="2" charset="2"/>
              <a:buChar char="u"/>
              <a:defRPr kumimoji="1" sz="1600" kern="1200">
                <a:solidFill>
                  <a:schemeClr val="tx1"/>
                </a:solidFill>
                <a:latin typeface="+mn-lt"/>
                <a:ea typeface="+mn-ea"/>
                <a:cs typeface="+mn-cs"/>
              </a:defRPr>
            </a:lvl3pPr>
            <a:lvl4pPr marL="16573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lt"/>
                <a:ea typeface="+mn-ea"/>
                <a:cs typeface="+mn-cs"/>
              </a:defRPr>
            </a:lvl4pPr>
            <a:lvl5pPr marL="21145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Wingdings" panose="05000000000000000000" pitchFamily="2" charset="2"/>
              <a:buNone/>
            </a:pPr>
            <a:r>
              <a:rPr lang="ja-JP" altLang="en-US" b="1" dirty="0"/>
              <a:t>複数のデータ源</a:t>
            </a:r>
            <a:endParaRPr lang="en-US" altLang="ja-JP" b="1" dirty="0"/>
          </a:p>
          <a:p>
            <a:pPr marL="0" indent="0" algn="ctr">
              <a:buNone/>
            </a:pPr>
            <a:r>
              <a:rPr lang="ja-JP" altLang="ja-JP" dirty="0"/>
              <a:t>公式資料・用語解説・過去問</a:t>
            </a:r>
            <a:endParaRPr lang="en-US" altLang="ja-JP" dirty="0"/>
          </a:p>
          <a:p>
            <a:pPr marL="0" indent="0" algn="ctr">
              <a:buNone/>
            </a:pPr>
            <a:endParaRPr lang="ja-JP" altLang="ja-JP" dirty="0"/>
          </a:p>
          <a:p>
            <a:pPr marL="0" indent="0" algn="ctr">
              <a:buNone/>
            </a:pPr>
            <a:r>
              <a:rPr lang="ja-JP" altLang="ja-JP" b="1" dirty="0"/>
              <a:t>必要な情報の収集・統合</a:t>
            </a:r>
          </a:p>
          <a:p>
            <a:pPr marL="0" indent="0" algn="ctr">
              <a:buNone/>
            </a:pPr>
            <a:r>
              <a:rPr lang="ja-JP" altLang="ja-JP" dirty="0"/>
              <a:t>用語・定義・関連知識・出題形式</a:t>
            </a:r>
            <a:endParaRPr lang="en-US" altLang="ja-JP" dirty="0"/>
          </a:p>
          <a:p>
            <a:pPr marL="0" indent="0" algn="ctr">
              <a:buNone/>
            </a:pPr>
            <a:endParaRPr lang="ja-JP" altLang="ja-JP" dirty="0"/>
          </a:p>
          <a:p>
            <a:pPr marL="0" indent="0" algn="ctr">
              <a:buNone/>
            </a:pPr>
            <a:r>
              <a:rPr lang="ja-JP" altLang="ja-JP" b="1" dirty="0"/>
              <a:t>学習用データセットの構築</a:t>
            </a:r>
          </a:p>
          <a:p>
            <a:pPr marL="0" indent="0" algn="ctr">
              <a:buNone/>
            </a:pPr>
            <a:r>
              <a:rPr lang="ja-JP" altLang="ja-JP" dirty="0"/>
              <a:t>用語知識を基にした問題生成・解説・正誤判定</a:t>
            </a:r>
          </a:p>
          <a:p>
            <a:pPr marL="0" indent="0" algn="ctr">
              <a:buFont typeface="Wingdings" panose="05000000000000000000" pitchFamily="2" charset="2"/>
              <a:buNone/>
            </a:pPr>
            <a:endParaRPr lang="en-US" altLang="ja-JP" dirty="0"/>
          </a:p>
          <a:p>
            <a:pPr marL="0" indent="0" algn="ctr">
              <a:buFont typeface="Wingdings" panose="05000000000000000000" pitchFamily="2" charset="2"/>
              <a:buNone/>
            </a:pPr>
            <a:endParaRPr lang="en-US" altLang="ja-JP" dirty="0"/>
          </a:p>
        </p:txBody>
      </p:sp>
      <p:sp>
        <p:nvSpPr>
          <p:cNvPr id="9" name="矢印: 下 8">
            <a:extLst>
              <a:ext uri="{FF2B5EF4-FFF2-40B4-BE49-F238E27FC236}">
                <a16:creationId xmlns:a16="http://schemas.microsoft.com/office/drawing/2014/main" id="{A86F42EF-6D13-6CFA-2AE7-78F1278D34A6}"/>
              </a:ext>
            </a:extLst>
          </p:cNvPr>
          <p:cNvSpPr/>
          <p:nvPr/>
        </p:nvSpPr>
        <p:spPr>
          <a:xfrm>
            <a:off x="5796643" y="4299857"/>
            <a:ext cx="598714" cy="2830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59061B14-4FEA-E783-66FB-C3D55ACEE126}"/>
              </a:ext>
            </a:extLst>
          </p:cNvPr>
          <p:cNvSpPr/>
          <p:nvPr/>
        </p:nvSpPr>
        <p:spPr>
          <a:xfrm>
            <a:off x="5796643" y="5464628"/>
            <a:ext cx="598714" cy="2830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a:extLst>
              <a:ext uri="{FF2B5EF4-FFF2-40B4-BE49-F238E27FC236}">
                <a16:creationId xmlns:a16="http://schemas.microsoft.com/office/drawing/2014/main" id="{883C41AE-DE3B-D703-4506-0C455F80CFA8}"/>
              </a:ext>
            </a:extLst>
          </p:cNvPr>
          <p:cNvSpPr>
            <a:spLocks noGrp="1"/>
          </p:cNvSpPr>
          <p:nvPr>
            <p:ph type="sldNum" sz="quarter" idx="12"/>
          </p:nvPr>
        </p:nvSpPr>
        <p:spPr/>
        <p:txBody>
          <a:bodyPr/>
          <a:lstStyle/>
          <a:p>
            <a:fld id="{9FB99072-780F-43D9-B22B-8FACFE63800E}" type="slidenum">
              <a:rPr kumimoji="1" lang="ja-JP" altLang="en-US" smtClean="0"/>
              <a:t>7</a:t>
            </a:fld>
            <a:endParaRPr kumimoji="1" lang="ja-JP" altLang="en-US"/>
          </a:p>
        </p:txBody>
      </p:sp>
    </p:spTree>
    <p:extLst>
      <p:ext uri="{BB962C8B-B14F-4D97-AF65-F5344CB8AC3E}">
        <p14:creationId xmlns:p14="http://schemas.microsoft.com/office/powerpoint/2010/main" val="41605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52205C-F2C2-98A7-DA64-B6A0B266CE99}"/>
              </a:ext>
            </a:extLst>
          </p:cNvPr>
          <p:cNvSpPr>
            <a:spLocks noGrp="1"/>
          </p:cNvSpPr>
          <p:nvPr>
            <p:ph type="title"/>
          </p:nvPr>
        </p:nvSpPr>
        <p:spPr/>
        <p:txBody>
          <a:bodyPr/>
          <a:lstStyle/>
          <a:p>
            <a:r>
              <a:rPr kumimoji="1" lang="ja-JP" altLang="en-US" dirty="0"/>
              <a:t>研究環境</a:t>
            </a:r>
          </a:p>
        </p:txBody>
      </p:sp>
      <p:sp>
        <p:nvSpPr>
          <p:cNvPr id="5" name="コンテンツ プレースホルダー 4">
            <a:extLst>
              <a:ext uri="{FF2B5EF4-FFF2-40B4-BE49-F238E27FC236}">
                <a16:creationId xmlns:a16="http://schemas.microsoft.com/office/drawing/2014/main" id="{A2914C52-0D32-2829-056B-88C7CBE078EF}"/>
              </a:ext>
            </a:extLst>
          </p:cNvPr>
          <p:cNvSpPr>
            <a:spLocks noGrp="1"/>
          </p:cNvSpPr>
          <p:nvPr>
            <p:ph idx="1"/>
          </p:nvPr>
        </p:nvSpPr>
        <p:spPr>
          <a:xfrm>
            <a:off x="838199" y="1023729"/>
            <a:ext cx="10515601" cy="5697745"/>
          </a:xfrm>
        </p:spPr>
        <p:txBody>
          <a:bodyPr>
            <a:normAutofit/>
          </a:bodyPr>
          <a:lstStyle/>
          <a:p>
            <a:pPr marL="0" indent="0">
              <a:buNone/>
            </a:pPr>
            <a:r>
              <a:rPr lang="ja-JP" altLang="en-US" b="1" dirty="0"/>
              <a:t>使用技術</a:t>
            </a:r>
            <a:endParaRPr lang="en-US" altLang="ja-JP" b="1" dirty="0"/>
          </a:p>
          <a:p>
            <a:pPr marL="457200" lvl="1" indent="0">
              <a:buNone/>
            </a:pPr>
            <a:r>
              <a:rPr lang="ja-JP" altLang="en-US" dirty="0"/>
              <a:t>大規模言語モデル</a:t>
            </a:r>
            <a:r>
              <a:rPr lang="en-US" altLang="ja-JP" dirty="0"/>
              <a:t> (LLM</a:t>
            </a:r>
            <a:r>
              <a:rPr lang="ja-JP" altLang="en-US" dirty="0"/>
              <a:t>：</a:t>
            </a:r>
            <a:r>
              <a:rPr lang="ja-JP" altLang="ja-JP" dirty="0"/>
              <a:t>Large Language Models</a:t>
            </a:r>
            <a:r>
              <a:rPr lang="en-US" altLang="ja-JP" dirty="0"/>
              <a:t>)</a:t>
            </a:r>
          </a:p>
          <a:p>
            <a:pPr marL="914400" lvl="2" indent="0">
              <a:buNone/>
            </a:pPr>
            <a:r>
              <a:rPr lang="ja-JP" altLang="en-US" dirty="0"/>
              <a:t>膨大なテキストデータと高度なディープラーニング技術を用いた生成</a:t>
            </a:r>
            <a:r>
              <a:rPr lang="en-US" altLang="ja-JP" dirty="0"/>
              <a:t>AI</a:t>
            </a:r>
            <a:r>
              <a:rPr lang="ja-JP" altLang="en-US" dirty="0"/>
              <a:t>の一種</a:t>
            </a:r>
            <a:endParaRPr lang="en-US" altLang="ja-JP" b="1" dirty="0"/>
          </a:p>
          <a:p>
            <a:pPr marL="0" indent="0">
              <a:buNone/>
            </a:pPr>
            <a:endParaRPr lang="en-US" altLang="ja-JP" sz="1800" b="1" dirty="0"/>
          </a:p>
          <a:p>
            <a:pPr marL="0" indent="0">
              <a:buNone/>
            </a:pPr>
            <a:r>
              <a:rPr lang="ja-JP" altLang="en-US" sz="1800" b="1" dirty="0"/>
              <a:t>使用モデル</a:t>
            </a:r>
            <a:endParaRPr lang="en-US" altLang="ja-JP" sz="1800" b="1" dirty="0"/>
          </a:p>
          <a:p>
            <a:pPr marL="0" indent="0">
              <a:buNone/>
            </a:pPr>
            <a:endParaRPr lang="en-US" altLang="ja-JP" sz="1800" b="1" dirty="0"/>
          </a:p>
          <a:p>
            <a:pPr marL="514350" lvl="1" indent="0">
              <a:buNone/>
            </a:pPr>
            <a:endParaRPr kumimoji="1" lang="en-US" altLang="ja-JP" dirty="0"/>
          </a:p>
          <a:p>
            <a:pPr marL="57150" indent="0">
              <a:buNone/>
            </a:pPr>
            <a:endParaRPr lang="en-US" altLang="ja-JP" b="1" dirty="0"/>
          </a:p>
          <a:p>
            <a:pPr marL="57150" indent="0">
              <a:buNone/>
            </a:pPr>
            <a:r>
              <a:rPr lang="ja-JP" altLang="en-US" b="1" dirty="0"/>
              <a:t>使用用途</a:t>
            </a:r>
            <a:endParaRPr lang="en-US" altLang="ja-JP" b="1" dirty="0"/>
          </a:p>
          <a:p>
            <a:pPr marL="514350" lvl="1" indent="0">
              <a:buNone/>
            </a:pPr>
            <a:r>
              <a:rPr kumimoji="1" lang="ja-JP" altLang="en-US" dirty="0"/>
              <a:t>入力された用語と説明をもとに資格試験形式の</a:t>
            </a:r>
            <a:r>
              <a:rPr kumimoji="1" lang="en-US" altLang="ja-JP" dirty="0"/>
              <a:t>4</a:t>
            </a:r>
            <a:r>
              <a:rPr kumimoji="1" lang="ja-JP" altLang="en-US" dirty="0"/>
              <a:t>択問題を生成</a:t>
            </a:r>
            <a:endParaRPr kumimoji="1" lang="en-US" altLang="ja-JP" dirty="0"/>
          </a:p>
          <a:p>
            <a:pPr marL="514350" lvl="1" indent="0">
              <a:buNone/>
            </a:pPr>
            <a:endParaRPr kumimoji="1" lang="en-US" altLang="ja-JP" dirty="0"/>
          </a:p>
          <a:p>
            <a:pPr marL="0" indent="0" algn="ctr">
              <a:buNone/>
            </a:pPr>
            <a:r>
              <a:rPr kumimoji="1" lang="en-US" altLang="ja-JP" dirty="0">
                <a:solidFill>
                  <a:schemeClr val="accent5">
                    <a:lumMod val="75000"/>
                  </a:schemeClr>
                </a:solidFill>
              </a:rPr>
              <a:t>4</a:t>
            </a:r>
            <a:r>
              <a:rPr kumimoji="1" lang="ja-JP" altLang="en-US" dirty="0">
                <a:solidFill>
                  <a:schemeClr val="accent5">
                    <a:lumMod val="75000"/>
                  </a:schemeClr>
                </a:solidFill>
              </a:rPr>
              <a:t>パターン</a:t>
            </a:r>
            <a:r>
              <a:rPr kumimoji="1" lang="ja-JP" altLang="en-US" dirty="0"/>
              <a:t>のモデルを同じ条件で評価</a:t>
            </a:r>
          </a:p>
          <a:p>
            <a:pPr marL="0" indent="0" algn="ctr">
              <a:buNone/>
            </a:pPr>
            <a:r>
              <a:rPr kumimoji="1" lang="en-US" altLang="ja-JP" sz="1800" dirty="0"/>
              <a:t>1. </a:t>
            </a:r>
            <a:r>
              <a:rPr kumimoji="1" lang="ja-JP" altLang="en-US" sz="1800" dirty="0"/>
              <a:t>未調整　</a:t>
            </a:r>
            <a:r>
              <a:rPr kumimoji="1" lang="en-US" altLang="ja-JP" sz="1800" dirty="0"/>
              <a:t>2. </a:t>
            </a:r>
            <a:r>
              <a:rPr kumimoji="1" lang="ja-JP" altLang="en-US" sz="1800" dirty="0"/>
              <a:t>添削済み問題で微調整　</a:t>
            </a:r>
            <a:r>
              <a:rPr kumimoji="1" lang="en-US" altLang="ja-JP" sz="1800" dirty="0"/>
              <a:t>3.</a:t>
            </a:r>
            <a:r>
              <a:rPr lang="ja-JP" altLang="en-US" sz="1800" dirty="0"/>
              <a:t>過去問で微調整　</a:t>
            </a:r>
            <a:r>
              <a:rPr lang="en-US" altLang="ja-JP" sz="1800" dirty="0"/>
              <a:t>4.</a:t>
            </a:r>
            <a:r>
              <a:rPr lang="ja-JP" altLang="en-US" sz="1800" dirty="0"/>
              <a:t>添削済み問題</a:t>
            </a:r>
            <a:r>
              <a:rPr lang="en-US" altLang="ja-JP" sz="1800" dirty="0"/>
              <a:t>+</a:t>
            </a:r>
            <a:r>
              <a:rPr lang="ja-JP" altLang="en-US" sz="1800" dirty="0"/>
              <a:t>過去問で微調整</a:t>
            </a:r>
          </a:p>
          <a:p>
            <a:pPr marL="0" indent="0">
              <a:buNone/>
            </a:pPr>
            <a:endParaRPr lang="en-US" altLang="ja-JP" dirty="0"/>
          </a:p>
          <a:p>
            <a:pPr marL="0" indent="0">
              <a:buNone/>
            </a:pPr>
            <a:endParaRPr kumimoji="1" lang="en-US" altLang="ja-JP" dirty="0"/>
          </a:p>
        </p:txBody>
      </p:sp>
      <p:graphicFrame>
        <p:nvGraphicFramePr>
          <p:cNvPr id="6" name="表 5">
            <a:extLst>
              <a:ext uri="{FF2B5EF4-FFF2-40B4-BE49-F238E27FC236}">
                <a16:creationId xmlns:a16="http://schemas.microsoft.com/office/drawing/2014/main" id="{84E2786C-E512-70A1-4DC2-433200C5EF13}"/>
              </a:ext>
            </a:extLst>
          </p:cNvPr>
          <p:cNvGraphicFramePr>
            <a:graphicFrameLocks noGrp="1"/>
          </p:cNvGraphicFramePr>
          <p:nvPr>
            <p:extLst>
              <p:ext uri="{D42A27DB-BD31-4B8C-83A1-F6EECF244321}">
                <p14:modId xmlns:p14="http://schemas.microsoft.com/office/powerpoint/2010/main" val="1655613947"/>
              </p:ext>
            </p:extLst>
          </p:nvPr>
        </p:nvGraphicFramePr>
        <p:xfrm>
          <a:off x="2797461" y="2887081"/>
          <a:ext cx="6597074" cy="1341120"/>
        </p:xfrm>
        <a:graphic>
          <a:graphicData uri="http://schemas.openxmlformats.org/drawingml/2006/table">
            <a:tbl>
              <a:tblPr bandRow="1">
                <a:tableStyleId>{3B4B98B0-60AC-42C2-AFA5-B58CD77FA1E5}</a:tableStyleId>
              </a:tblPr>
              <a:tblGrid>
                <a:gridCol w="3298537">
                  <a:extLst>
                    <a:ext uri="{9D8B030D-6E8A-4147-A177-3AD203B41FA5}">
                      <a16:colId xmlns:a16="http://schemas.microsoft.com/office/drawing/2014/main" val="740232660"/>
                    </a:ext>
                  </a:extLst>
                </a:gridCol>
                <a:gridCol w="3298537">
                  <a:extLst>
                    <a:ext uri="{9D8B030D-6E8A-4147-A177-3AD203B41FA5}">
                      <a16:colId xmlns:a16="http://schemas.microsoft.com/office/drawing/2014/main" val="2040313763"/>
                    </a:ext>
                  </a:extLst>
                </a:gridCol>
              </a:tblGrid>
              <a:tr h="320816">
                <a:tc>
                  <a:txBody>
                    <a:bodyPr/>
                    <a:lstStyle/>
                    <a:p>
                      <a:r>
                        <a:rPr kumimoji="1" lang="en-US" altLang="ja-JP" sz="1600" b="0" dirty="0"/>
                        <a:t>LLM</a:t>
                      </a:r>
                      <a:r>
                        <a:rPr kumimoji="1" lang="ja-JP" altLang="en-US" sz="1600" b="0" dirty="0"/>
                        <a:t>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600" b="1" kern="1200" dirty="0">
                          <a:solidFill>
                            <a:schemeClr val="dk1"/>
                          </a:solidFill>
                          <a:effectLst/>
                        </a:rPr>
                        <a:t>Qwen/Qwen2.5-7B-Instruct</a:t>
                      </a:r>
                      <a:endParaRPr kumimoji="1" lang="en-US" altLang="ja-JP" sz="1600" b="1" kern="1200" dirty="0">
                        <a:solidFill>
                          <a:schemeClr val="dk1"/>
                        </a:solidFill>
                        <a:effectLst/>
                      </a:endParaRPr>
                    </a:p>
                  </a:txBody>
                  <a:tcPr/>
                </a:tc>
                <a:extLst>
                  <a:ext uri="{0D108BD9-81ED-4DB2-BD59-A6C34878D82A}">
                    <a16:rowId xmlns:a16="http://schemas.microsoft.com/office/drawing/2014/main" val="2512561920"/>
                  </a:ext>
                </a:extLst>
              </a:tr>
              <a:tr h="320816">
                <a:tc>
                  <a:txBody>
                    <a:bodyPr/>
                    <a:lstStyle/>
                    <a:p>
                      <a:r>
                        <a:rPr kumimoji="1" lang="ja-JP" altLang="en-US" sz="1600" b="0" dirty="0"/>
                        <a:t>パラメーター数</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0" kern="1200" dirty="0">
                          <a:solidFill>
                            <a:schemeClr val="dk1"/>
                          </a:solidFill>
                          <a:effectLst/>
                        </a:rPr>
                        <a:t>7.61B</a:t>
                      </a:r>
                    </a:p>
                  </a:txBody>
                  <a:tcPr/>
                </a:tc>
                <a:extLst>
                  <a:ext uri="{0D108BD9-81ED-4DB2-BD59-A6C34878D82A}">
                    <a16:rowId xmlns:a16="http://schemas.microsoft.com/office/drawing/2014/main" val="3753885336"/>
                  </a:ext>
                </a:extLst>
              </a:tr>
              <a:tr h="320816">
                <a:tc>
                  <a:txBody>
                    <a:bodyPr/>
                    <a:lstStyle/>
                    <a:p>
                      <a:r>
                        <a:rPr kumimoji="1" lang="ja-JP" altLang="en-US" sz="1600" dirty="0"/>
                        <a:t>実行環境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kern="1200" dirty="0">
                          <a:solidFill>
                            <a:schemeClr val="dk1"/>
                          </a:solidFill>
                          <a:effectLst/>
                        </a:rPr>
                        <a:t>ローカル環境で実行可能</a:t>
                      </a:r>
                      <a:endParaRPr kumimoji="1" lang="ja-JP" altLang="ja-JP" sz="1600" b="0" kern="1200" dirty="0">
                        <a:solidFill>
                          <a:schemeClr val="dk1"/>
                        </a:solidFill>
                        <a:effectLst/>
                      </a:endParaRPr>
                    </a:p>
                  </a:txBody>
                  <a:tcPr/>
                </a:tc>
                <a:extLst>
                  <a:ext uri="{0D108BD9-81ED-4DB2-BD59-A6C34878D82A}">
                    <a16:rowId xmlns:a16="http://schemas.microsoft.com/office/drawing/2014/main" val="2649621748"/>
                  </a:ext>
                </a:extLst>
              </a:tr>
              <a:tr h="131326">
                <a:tc>
                  <a:txBody>
                    <a:bodyPr/>
                    <a:lstStyle/>
                    <a:p>
                      <a:r>
                        <a:rPr kumimoji="1" lang="ja-JP" altLang="en-US" sz="1600" dirty="0"/>
                        <a:t>開発元</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600" dirty="0"/>
                        <a:t>Alibaba Cloud</a:t>
                      </a:r>
                      <a:endParaRPr kumimoji="1" lang="ja-JP" altLang="ja-JP" sz="1600" b="0" kern="1200" dirty="0">
                        <a:solidFill>
                          <a:schemeClr val="dk1"/>
                        </a:solidFill>
                        <a:effectLst/>
                      </a:endParaRPr>
                    </a:p>
                  </a:txBody>
                  <a:tcPr/>
                </a:tc>
                <a:extLst>
                  <a:ext uri="{0D108BD9-81ED-4DB2-BD59-A6C34878D82A}">
                    <a16:rowId xmlns:a16="http://schemas.microsoft.com/office/drawing/2014/main" val="4292613819"/>
                  </a:ext>
                </a:extLst>
              </a:tr>
            </a:tbl>
          </a:graphicData>
        </a:graphic>
      </p:graphicFrame>
      <p:sp>
        <p:nvSpPr>
          <p:cNvPr id="8" name="テキスト ボックス 7">
            <a:extLst>
              <a:ext uri="{FF2B5EF4-FFF2-40B4-BE49-F238E27FC236}">
                <a16:creationId xmlns:a16="http://schemas.microsoft.com/office/drawing/2014/main" id="{E81E4399-5D48-576D-47E5-1358EEF99A79}"/>
              </a:ext>
            </a:extLst>
          </p:cNvPr>
          <p:cNvSpPr txBox="1"/>
          <p:nvPr/>
        </p:nvSpPr>
        <p:spPr>
          <a:xfrm>
            <a:off x="655319" y="669809"/>
            <a:ext cx="10515601" cy="276999"/>
          </a:xfrm>
          <a:prstGeom prst="rect">
            <a:avLst/>
          </a:prstGeom>
          <a:noFill/>
        </p:spPr>
        <p:txBody>
          <a:bodyPr wrap="square" rtlCol="0">
            <a:spAutoFit/>
          </a:bodyPr>
          <a:lstStyle/>
          <a:p>
            <a:pPr lvl="1" algn="r"/>
            <a:r>
              <a:rPr lang="ja-JP" altLang="en-US" sz="1200" dirty="0"/>
              <a:t>参考：</a:t>
            </a:r>
            <a:r>
              <a:rPr lang="en-US" altLang="ja-JP" sz="1200" dirty="0"/>
              <a:t>https://www.nec-solutioninnovators.co.jp/sp/contents/column/20240229_llm.html</a:t>
            </a:r>
            <a:endParaRPr lang="en-US" altLang="ja-JP" dirty="0"/>
          </a:p>
        </p:txBody>
      </p:sp>
      <p:sp>
        <p:nvSpPr>
          <p:cNvPr id="4" name="スライド番号プレースホルダー 3">
            <a:extLst>
              <a:ext uri="{FF2B5EF4-FFF2-40B4-BE49-F238E27FC236}">
                <a16:creationId xmlns:a16="http://schemas.microsoft.com/office/drawing/2014/main" id="{CF4CE790-8F5E-FB91-A287-53CFCA70FA04}"/>
              </a:ext>
            </a:extLst>
          </p:cNvPr>
          <p:cNvSpPr>
            <a:spLocks noGrp="1"/>
          </p:cNvSpPr>
          <p:nvPr>
            <p:ph type="sldNum" sz="quarter" idx="12"/>
          </p:nvPr>
        </p:nvSpPr>
        <p:spPr/>
        <p:txBody>
          <a:bodyPr/>
          <a:lstStyle/>
          <a:p>
            <a:fld id="{9FB99072-780F-43D9-B22B-8FACFE63800E}" type="slidenum">
              <a:rPr kumimoji="1" lang="ja-JP" altLang="en-US" smtClean="0"/>
              <a:t>8</a:t>
            </a:fld>
            <a:endParaRPr kumimoji="1" lang="ja-JP" altLang="en-US"/>
          </a:p>
        </p:txBody>
      </p:sp>
    </p:spTree>
    <p:extLst>
      <p:ext uri="{BB962C8B-B14F-4D97-AF65-F5344CB8AC3E}">
        <p14:creationId xmlns:p14="http://schemas.microsoft.com/office/powerpoint/2010/main" val="234288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E1576-1C37-8F15-D205-8F2E959DC49F}"/>
            </a:ext>
          </a:extLst>
        </p:cNvPr>
        <p:cNvGrpSpPr/>
        <p:nvPr/>
      </p:nvGrpSpPr>
      <p:grpSpPr>
        <a:xfrm>
          <a:off x="0" y="0"/>
          <a:ext cx="0" cy="0"/>
          <a:chOff x="0" y="0"/>
          <a:chExt cx="0" cy="0"/>
        </a:xfrm>
      </p:grpSpPr>
      <p:sp>
        <p:nvSpPr>
          <p:cNvPr id="22" name="四角形: 角を丸くする 21">
            <a:extLst>
              <a:ext uri="{FF2B5EF4-FFF2-40B4-BE49-F238E27FC236}">
                <a16:creationId xmlns:a16="http://schemas.microsoft.com/office/drawing/2014/main" id="{CA81BEBC-B002-ABB3-0FE0-8B635F944560}"/>
              </a:ext>
            </a:extLst>
          </p:cNvPr>
          <p:cNvSpPr/>
          <p:nvPr/>
        </p:nvSpPr>
        <p:spPr>
          <a:xfrm>
            <a:off x="7935913" y="115931"/>
            <a:ext cx="1362091" cy="836569"/>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C76076F-C11A-6603-157D-9B9B00EF5AFE}"/>
              </a:ext>
            </a:extLst>
          </p:cNvPr>
          <p:cNvSpPr>
            <a:spLocks noGrp="1"/>
          </p:cNvSpPr>
          <p:nvPr>
            <p:ph type="title"/>
          </p:nvPr>
        </p:nvSpPr>
        <p:spPr/>
        <p:txBody>
          <a:bodyPr/>
          <a:lstStyle/>
          <a:p>
            <a:r>
              <a:rPr lang="ja-JP" altLang="en-US" dirty="0"/>
              <a:t>研究手法①：データセットを自動作成</a:t>
            </a:r>
            <a:endParaRPr kumimoji="1" lang="ja-JP" altLang="en-US" dirty="0"/>
          </a:p>
        </p:txBody>
      </p:sp>
      <p:sp>
        <p:nvSpPr>
          <p:cNvPr id="10" name="コンテンツ プレースホルダー 3">
            <a:extLst>
              <a:ext uri="{FF2B5EF4-FFF2-40B4-BE49-F238E27FC236}">
                <a16:creationId xmlns:a16="http://schemas.microsoft.com/office/drawing/2014/main" id="{4B00646A-BB10-0D1D-64CC-820CAE5D5E5F}"/>
              </a:ext>
            </a:extLst>
          </p:cNvPr>
          <p:cNvSpPr>
            <a:spLocks noGrp="1"/>
          </p:cNvSpPr>
          <p:nvPr>
            <p:ph idx="1"/>
          </p:nvPr>
        </p:nvSpPr>
        <p:spPr>
          <a:xfrm>
            <a:off x="838199" y="4698424"/>
            <a:ext cx="10515601" cy="1644855"/>
          </a:xfrm>
        </p:spPr>
        <p:txBody>
          <a:bodyPr numCol="1">
            <a:normAutofit/>
          </a:bodyPr>
          <a:lstStyle/>
          <a:p>
            <a:pPr marL="0" indent="0">
              <a:buNone/>
            </a:pPr>
            <a:r>
              <a:rPr lang="ja-JP" altLang="en-US" b="1" dirty="0"/>
              <a:t>現状のデータセット</a:t>
            </a:r>
            <a:endParaRPr lang="en-US" altLang="ja-JP" b="1" dirty="0"/>
          </a:p>
          <a:p>
            <a:pPr marL="457200" lvl="1" indent="0">
              <a:buNone/>
            </a:pPr>
            <a:r>
              <a:rPr lang="ja-JP" altLang="en-US" dirty="0"/>
              <a:t>資格試験の新出単語と説明を入力とする</a:t>
            </a:r>
            <a:endParaRPr lang="en-US" altLang="ja-JP" dirty="0"/>
          </a:p>
          <a:p>
            <a:pPr marL="457200" lvl="1" indent="0">
              <a:buNone/>
            </a:pPr>
            <a:r>
              <a:rPr lang="ja-JP" altLang="en-US" dirty="0"/>
              <a:t>→基本情報技術者試験の新出単語と</a:t>
            </a:r>
            <a:r>
              <a:rPr lang="en-US" altLang="ja-JP" dirty="0"/>
              <a:t>Wikipedia</a:t>
            </a:r>
            <a:r>
              <a:rPr lang="ja-JP" altLang="en-US" dirty="0"/>
              <a:t>の要約を使用</a:t>
            </a:r>
            <a:endParaRPr lang="en-US" altLang="ja-JP" dirty="0"/>
          </a:p>
          <a:p>
            <a:endParaRPr lang="en-US" altLang="ja-JP" dirty="0"/>
          </a:p>
          <a:p>
            <a:endParaRPr lang="en-US" altLang="ja-JP" dirty="0"/>
          </a:p>
        </p:txBody>
      </p:sp>
      <p:sp>
        <p:nvSpPr>
          <p:cNvPr id="30" name="スライド番号プレースホルダー 29">
            <a:extLst>
              <a:ext uri="{FF2B5EF4-FFF2-40B4-BE49-F238E27FC236}">
                <a16:creationId xmlns:a16="http://schemas.microsoft.com/office/drawing/2014/main" id="{31297ACE-9E24-1EE4-676E-E346E87651F3}"/>
              </a:ext>
            </a:extLst>
          </p:cNvPr>
          <p:cNvSpPr>
            <a:spLocks noGrp="1"/>
          </p:cNvSpPr>
          <p:nvPr>
            <p:ph type="sldNum" sz="quarter" idx="12"/>
          </p:nvPr>
        </p:nvSpPr>
        <p:spPr/>
        <p:txBody>
          <a:bodyPr/>
          <a:lstStyle/>
          <a:p>
            <a:fld id="{9FB99072-780F-43D9-B22B-8FACFE63800E}" type="slidenum">
              <a:rPr kumimoji="1" lang="ja-JP" altLang="en-US" smtClean="0"/>
              <a:t>9</a:t>
            </a:fld>
            <a:endParaRPr kumimoji="1" lang="ja-JP" altLang="en-US"/>
          </a:p>
        </p:txBody>
      </p:sp>
      <p:sp>
        <p:nvSpPr>
          <p:cNvPr id="14" name="矢印: 右 13">
            <a:extLst>
              <a:ext uri="{FF2B5EF4-FFF2-40B4-BE49-F238E27FC236}">
                <a16:creationId xmlns:a16="http://schemas.microsoft.com/office/drawing/2014/main" id="{7A517C4A-BE9D-7349-9131-A33894BC6B00}"/>
              </a:ext>
            </a:extLst>
          </p:cNvPr>
          <p:cNvSpPr/>
          <p:nvPr/>
        </p:nvSpPr>
        <p:spPr>
          <a:xfrm>
            <a:off x="3702232" y="2174444"/>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矢印: 右 16">
            <a:extLst>
              <a:ext uri="{FF2B5EF4-FFF2-40B4-BE49-F238E27FC236}">
                <a16:creationId xmlns:a16="http://schemas.microsoft.com/office/drawing/2014/main" id="{D39E6C0F-B916-BA60-83F6-9A6902625C38}"/>
              </a:ext>
            </a:extLst>
          </p:cNvPr>
          <p:cNvSpPr/>
          <p:nvPr/>
        </p:nvSpPr>
        <p:spPr>
          <a:xfrm>
            <a:off x="7747363" y="2174444"/>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2A4C837-EC6B-B34D-8F18-4600BE6D487D}"/>
              </a:ext>
            </a:extLst>
          </p:cNvPr>
          <p:cNvPicPr>
            <a:picLocks noChangeAspect="1"/>
          </p:cNvPicPr>
          <p:nvPr/>
        </p:nvPicPr>
        <p:blipFill>
          <a:blip r:embed="rId3">
            <a:extLst>
              <a:ext uri="{28A0092B-C50C-407E-A947-70E740481C1C}">
                <a14:useLocalDpi xmlns:a14="http://schemas.microsoft.com/office/drawing/2010/main" val="0"/>
              </a:ext>
            </a:extLst>
          </a:blip>
          <a:srcRect l="-80" r="80" b="32286"/>
          <a:stretch>
            <a:fillRect/>
          </a:stretch>
        </p:blipFill>
        <p:spPr>
          <a:xfrm>
            <a:off x="7935913" y="115931"/>
            <a:ext cx="4252665" cy="849639"/>
          </a:xfrm>
          <a:prstGeom prst="rect">
            <a:avLst/>
          </a:prstGeom>
        </p:spPr>
      </p:pic>
      <p:pic>
        <p:nvPicPr>
          <p:cNvPr id="24" name="図 23" descr="単語帳のアイコン | フリーのアイコンイラスト素材 icon-pit">
            <a:extLst>
              <a:ext uri="{FF2B5EF4-FFF2-40B4-BE49-F238E27FC236}">
                <a16:creationId xmlns:a16="http://schemas.microsoft.com/office/drawing/2014/main" id="{FB601553-6A85-4D79-6716-6EE075DDD3AF}"/>
              </a:ext>
            </a:extLst>
          </p:cNvPr>
          <p:cNvPicPr>
            <a:picLocks noChangeAspect="1"/>
          </p:cNvPicPr>
          <p:nvPr/>
        </p:nvPicPr>
        <p:blipFill>
          <a:blip r:embed="rId4"/>
          <a:stretch>
            <a:fillRect/>
          </a:stretch>
        </p:blipFill>
        <p:spPr>
          <a:xfrm>
            <a:off x="1731230" y="1837974"/>
            <a:ext cx="1281421" cy="1281421"/>
          </a:xfrm>
          <a:prstGeom prst="rect">
            <a:avLst/>
          </a:prstGeom>
        </p:spPr>
      </p:pic>
      <p:sp>
        <p:nvSpPr>
          <p:cNvPr id="26" name="フローチャート: 代替処理 25">
            <a:extLst>
              <a:ext uri="{FF2B5EF4-FFF2-40B4-BE49-F238E27FC236}">
                <a16:creationId xmlns:a16="http://schemas.microsoft.com/office/drawing/2014/main" id="{8EDD3D6F-5FF5-5900-FB15-DC337C9485E0}"/>
              </a:ext>
            </a:extLst>
          </p:cNvPr>
          <p:cNvSpPr/>
          <p:nvPr/>
        </p:nvSpPr>
        <p:spPr>
          <a:xfrm>
            <a:off x="1079807" y="3359691"/>
            <a:ext cx="10269638"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5A19355F-3546-BEF8-68BB-9A0AFABF5986}"/>
              </a:ext>
            </a:extLst>
          </p:cNvPr>
          <p:cNvSpPr txBox="1"/>
          <p:nvPr/>
        </p:nvSpPr>
        <p:spPr>
          <a:xfrm>
            <a:off x="1079807" y="3605808"/>
            <a:ext cx="2584269" cy="553998"/>
          </a:xfrm>
          <a:prstGeom prst="rect">
            <a:avLst/>
          </a:prstGeom>
          <a:noFill/>
        </p:spPr>
        <p:txBody>
          <a:bodyPr wrap="square">
            <a:spAutoFit/>
          </a:bodyPr>
          <a:lstStyle/>
          <a:p>
            <a:pPr algn="ctr"/>
            <a:r>
              <a:rPr lang="ja-JP" altLang="en-US" sz="1600" b="1" dirty="0">
                <a:latin typeface="Yu Gothic"/>
              </a:rPr>
              <a:t>入力</a:t>
            </a:r>
          </a:p>
          <a:p>
            <a:pPr algn="ctr"/>
            <a:r>
              <a:rPr lang="ja-JP" altLang="en-US" sz="1400" dirty="0">
                <a:latin typeface="Yu Gothic"/>
              </a:rPr>
              <a:t>新出単語のみを入力</a:t>
            </a:r>
            <a:endParaRPr lang="ja-JP" altLang="en-US" sz="1200" dirty="0">
              <a:solidFill>
                <a:schemeClr val="tx1"/>
              </a:solidFill>
              <a:latin typeface="Yu Gothic"/>
            </a:endParaRPr>
          </a:p>
        </p:txBody>
      </p:sp>
      <p:sp>
        <p:nvSpPr>
          <p:cNvPr id="35" name="テキスト ボックス 34">
            <a:extLst>
              <a:ext uri="{FF2B5EF4-FFF2-40B4-BE49-F238E27FC236}">
                <a16:creationId xmlns:a16="http://schemas.microsoft.com/office/drawing/2014/main" id="{31F3CECF-1A83-0823-FFBC-D4F44DBEFAA1}"/>
              </a:ext>
            </a:extLst>
          </p:cNvPr>
          <p:cNvSpPr txBox="1"/>
          <p:nvPr/>
        </p:nvSpPr>
        <p:spPr>
          <a:xfrm>
            <a:off x="4842997" y="3528864"/>
            <a:ext cx="2485218" cy="707886"/>
          </a:xfrm>
          <a:prstGeom prst="rect">
            <a:avLst/>
          </a:prstGeom>
          <a:noFill/>
        </p:spPr>
        <p:txBody>
          <a:bodyPr wrap="square">
            <a:spAutoFit/>
          </a:bodyPr>
          <a:lstStyle/>
          <a:p>
            <a:pPr algn="ctr"/>
            <a:r>
              <a:rPr lang="ja-JP" altLang="en-US" sz="1600" b="1" dirty="0">
                <a:latin typeface="+mn-ea"/>
              </a:rPr>
              <a:t>説明文の取得</a:t>
            </a:r>
            <a:endParaRPr lang="en-US" altLang="ja-JP" sz="1600" b="1" dirty="0">
              <a:latin typeface="+mn-ea"/>
            </a:endParaRPr>
          </a:p>
          <a:p>
            <a:pPr algn="ctr"/>
            <a:r>
              <a:rPr lang="ja-JP" altLang="ja-JP" sz="1200" dirty="0"/>
              <a:t>公式資料・</a:t>
            </a:r>
            <a:r>
              <a:rPr lang="ja-JP" altLang="en-US" sz="1200" dirty="0"/>
              <a:t>過去問</a:t>
            </a:r>
            <a:r>
              <a:rPr lang="ja-JP" altLang="ja-JP" sz="1200" dirty="0"/>
              <a:t>・</a:t>
            </a:r>
            <a:r>
              <a:rPr lang="ja-JP" altLang="en-US" sz="1200" dirty="0"/>
              <a:t>用語解説</a:t>
            </a:r>
            <a:endParaRPr lang="en-US" altLang="ja-JP" sz="1200" dirty="0"/>
          </a:p>
          <a:p>
            <a:pPr algn="ctr"/>
            <a:r>
              <a:rPr lang="ja-JP" altLang="en-US" sz="1200" dirty="0"/>
              <a:t>を用いて新出単語の説明を取得</a:t>
            </a:r>
            <a:endParaRPr lang="en-US" altLang="ja-JP" sz="1200" dirty="0"/>
          </a:p>
        </p:txBody>
      </p:sp>
      <p:sp>
        <p:nvSpPr>
          <p:cNvPr id="37" name="テキスト ボックス 36">
            <a:extLst>
              <a:ext uri="{FF2B5EF4-FFF2-40B4-BE49-F238E27FC236}">
                <a16:creationId xmlns:a16="http://schemas.microsoft.com/office/drawing/2014/main" id="{08265561-8EBA-609F-3420-5E9521E86D70}"/>
              </a:ext>
            </a:extLst>
          </p:cNvPr>
          <p:cNvSpPr txBox="1"/>
          <p:nvPr/>
        </p:nvSpPr>
        <p:spPr>
          <a:xfrm>
            <a:off x="8507137" y="3528864"/>
            <a:ext cx="2485218" cy="892552"/>
          </a:xfrm>
          <a:prstGeom prst="rect">
            <a:avLst/>
          </a:prstGeom>
          <a:noFill/>
        </p:spPr>
        <p:txBody>
          <a:bodyPr wrap="square">
            <a:spAutoFit/>
          </a:bodyPr>
          <a:lstStyle/>
          <a:p>
            <a:pPr algn="ctr"/>
            <a:r>
              <a:rPr lang="ja-JP" altLang="en-US" sz="1600" b="1" dirty="0">
                <a:solidFill>
                  <a:schemeClr val="bg2">
                    <a:lumMod val="25000"/>
                  </a:schemeClr>
                </a:solidFill>
                <a:latin typeface="+mn-ea"/>
              </a:rPr>
              <a:t>出力</a:t>
            </a:r>
            <a:endParaRPr lang="en-US" altLang="ja-JP" sz="1600" b="1" dirty="0">
              <a:solidFill>
                <a:schemeClr val="bg2">
                  <a:lumMod val="25000"/>
                </a:schemeClr>
              </a:solidFill>
              <a:latin typeface="+mn-ea"/>
            </a:endParaRPr>
          </a:p>
          <a:p>
            <a:pPr algn="ctr"/>
            <a:r>
              <a:rPr lang="ja-JP" altLang="en-US" sz="1200" dirty="0">
                <a:solidFill>
                  <a:schemeClr val="bg2">
                    <a:lumMod val="25000"/>
                  </a:schemeClr>
                </a:solidFill>
                <a:latin typeface="+mn-ea"/>
              </a:rPr>
              <a:t>単語に関する</a:t>
            </a:r>
            <a:endParaRPr lang="en-US" altLang="ja-JP" sz="1200" dirty="0">
              <a:solidFill>
                <a:schemeClr val="bg2">
                  <a:lumMod val="25000"/>
                </a:schemeClr>
              </a:solidFill>
              <a:latin typeface="+mn-ea"/>
            </a:endParaRPr>
          </a:p>
          <a:p>
            <a:pPr algn="ctr"/>
            <a:r>
              <a:rPr lang="ja-JP" altLang="en-US" sz="1200" dirty="0">
                <a:solidFill>
                  <a:schemeClr val="bg2">
                    <a:lumMod val="25000"/>
                  </a:schemeClr>
                </a:solidFill>
                <a:latin typeface="+mn-ea"/>
              </a:rPr>
              <a:t>知識を収集した</a:t>
            </a:r>
          </a:p>
          <a:p>
            <a:pPr algn="ctr"/>
            <a:r>
              <a:rPr lang="ja-JP" altLang="en-US" sz="1200" dirty="0">
                <a:solidFill>
                  <a:schemeClr val="bg2">
                    <a:lumMod val="25000"/>
                  </a:schemeClr>
                </a:solidFill>
                <a:latin typeface="+mn-ea"/>
              </a:rPr>
              <a:t>新出単語＋説明で構成</a:t>
            </a:r>
          </a:p>
        </p:txBody>
      </p:sp>
      <p:pic>
        <p:nvPicPr>
          <p:cNvPr id="39" name="グラフィックス 38" descr="ドキュメント 枠線">
            <a:extLst>
              <a:ext uri="{FF2B5EF4-FFF2-40B4-BE49-F238E27FC236}">
                <a16:creationId xmlns:a16="http://schemas.microsoft.com/office/drawing/2014/main" id="{A6B0810A-FA35-7B69-9C45-FFA668C1BD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29659" y="1996541"/>
            <a:ext cx="914902" cy="914902"/>
          </a:xfrm>
          <a:prstGeom prst="rect">
            <a:avLst/>
          </a:prstGeom>
        </p:spPr>
      </p:pic>
      <p:pic>
        <p:nvPicPr>
          <p:cNvPr id="41" name="グラフィックス 40" descr="世界 枠線">
            <a:extLst>
              <a:ext uri="{FF2B5EF4-FFF2-40B4-BE49-F238E27FC236}">
                <a16:creationId xmlns:a16="http://schemas.microsoft.com/office/drawing/2014/main" id="{5DDF43AC-DC17-E23C-B0EE-0FFEDB2B55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0219" y="1996541"/>
            <a:ext cx="914902" cy="914902"/>
          </a:xfrm>
          <a:prstGeom prst="rect">
            <a:avLst/>
          </a:prstGeom>
        </p:spPr>
      </p:pic>
      <p:pic>
        <p:nvPicPr>
          <p:cNvPr id="43" name="グラフィックス 42" descr="開いた本 枠線">
            <a:extLst>
              <a:ext uri="{FF2B5EF4-FFF2-40B4-BE49-F238E27FC236}">
                <a16:creationId xmlns:a16="http://schemas.microsoft.com/office/drawing/2014/main" id="{89758C14-64C8-328A-277E-67EC69AE11E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28155" y="1996541"/>
            <a:ext cx="914902" cy="914902"/>
          </a:xfrm>
          <a:prstGeom prst="rect">
            <a:avLst/>
          </a:prstGeom>
        </p:spPr>
      </p:pic>
      <mc:AlternateContent xmlns:mc="http://schemas.openxmlformats.org/markup-compatibility/2006" xmlns:pslz="http://schemas.microsoft.com/office/powerpoint/2016/slidezoom">
        <mc:Choice Requires="pslz">
          <p:graphicFrame>
            <p:nvGraphicFramePr>
              <p:cNvPr id="49" name="スライド ズーム 48">
                <a:extLst>
                  <a:ext uri="{FF2B5EF4-FFF2-40B4-BE49-F238E27FC236}">
                    <a16:creationId xmlns:a16="http://schemas.microsoft.com/office/drawing/2014/main" id="{3F3C8A97-30DD-1CF1-69AE-84B252B44238}"/>
                  </a:ext>
                </a:extLst>
              </p:cNvPr>
              <p:cNvGraphicFramePr>
                <a:graphicFrameLocks noChangeAspect="1"/>
              </p:cNvGraphicFramePr>
              <p:nvPr>
                <p:extLst>
                  <p:ext uri="{D42A27DB-BD31-4B8C-83A1-F6EECF244321}">
                    <p14:modId xmlns:p14="http://schemas.microsoft.com/office/powerpoint/2010/main" val="1603017922"/>
                  </p:ext>
                </p:extLst>
              </p:nvPr>
            </p:nvGraphicFramePr>
            <p:xfrm>
              <a:off x="9361102" y="1857684"/>
              <a:ext cx="788399" cy="1241999"/>
            </p:xfrm>
            <a:graphic>
              <a:graphicData uri="http://schemas.microsoft.com/office/powerpoint/2016/slidezoom">
                <pslz:sldZm>
                  <pslz:sldZmObj sldId="488" cId="2509684126">
                    <pslz:zmPr id="{E1E41C2F-B773-4C7D-B625-1B38F8E6780B}" returnToParent="0" imageType="cover" transitionDur="1000">
                      <p166:blipFill xmlns:p166="http://schemas.microsoft.com/office/powerpoint/2016/6/main">
                        <a:blip>
                          <a:extLst>
                            <a:ext uri="{96DAC541-7B7A-43D3-8B79-37D633B846F1}">
                              <asvg:svgBlip xmlns:asvg="http://schemas.microsoft.com/office/drawing/2016/SVG/main" r:embed="rId8"/>
                            </a:ext>
                          </a:extLst>
                        </a:blip>
                        <a:stretch>
                          <a:fillRect/>
                        </a:stretch>
                      </p166:blipFill>
                      <p166:spPr xmlns:p166="http://schemas.microsoft.com/office/powerpoint/2016/6/main">
                        <a:xfrm>
                          <a:off x="0" y="0"/>
                          <a:ext cx="788399" cy="1241999"/>
                        </a:xfrm>
                        <a:prstGeom prst="rect">
                          <a:avLst/>
                        </a:prstGeom>
                        <a:ln w="3175">
                          <a:noFill/>
                        </a:ln>
                      </p166:spPr>
                    </pslz:zmPr>
                  </pslz:sldZmObj>
                </pslz:sldZm>
              </a:graphicData>
            </a:graphic>
          </p:graphicFrame>
        </mc:Choice>
        <mc:Fallback xmlns="">
          <p:pic>
            <p:nvPicPr>
              <p:cNvPr id="49" name="スライド ズーム 48">
                <a:hlinkClick r:id="rId9" action="ppaction://hlinksldjump"/>
                <a:extLst>
                  <a:ext uri="{FF2B5EF4-FFF2-40B4-BE49-F238E27FC236}">
                    <a16:creationId xmlns:a16="http://schemas.microsoft.com/office/drawing/2014/main" id="{3F3C8A97-30DD-1CF1-69AE-84B252B44238}"/>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10"/>
                  </a:ext>
                </a:extLst>
              </a:blip>
              <a:stretch>
                <a:fillRect/>
              </a:stretch>
            </p:blipFill>
            <p:spPr>
              <a:xfrm>
                <a:off x="9361102" y="1857684"/>
                <a:ext cx="788399" cy="1241999"/>
              </a:xfrm>
              <a:prstGeom prst="rect">
                <a:avLst/>
              </a:prstGeom>
              <a:ln w="3175">
                <a:noFill/>
              </a:ln>
            </p:spPr>
          </p:pic>
        </mc:Fallback>
      </mc:AlternateContent>
    </p:spTree>
    <p:extLst>
      <p:ext uri="{BB962C8B-B14F-4D97-AF65-F5344CB8AC3E}">
        <p14:creationId xmlns:p14="http://schemas.microsoft.com/office/powerpoint/2010/main" val="304826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3F0EE4-575E-B17A-E65B-7DDE5247D55F}"/>
              </a:ext>
            </a:extLst>
          </p:cNvPr>
          <p:cNvSpPr>
            <a:spLocks noGrp="1"/>
          </p:cNvSpPr>
          <p:nvPr>
            <p:ph type="title"/>
          </p:nvPr>
        </p:nvSpPr>
        <p:spPr/>
        <p:txBody>
          <a:bodyPr/>
          <a:lstStyle/>
          <a:p>
            <a:r>
              <a:rPr lang="ja-JP" altLang="en-US" dirty="0"/>
              <a:t>研究手法②：知識の収集・整理</a:t>
            </a:r>
            <a:endParaRPr kumimoji="1" lang="ja-JP" altLang="en-US" dirty="0"/>
          </a:p>
        </p:txBody>
      </p:sp>
      <p:sp>
        <p:nvSpPr>
          <p:cNvPr id="3" name="スライド番号プレースホルダー 2">
            <a:extLst>
              <a:ext uri="{FF2B5EF4-FFF2-40B4-BE49-F238E27FC236}">
                <a16:creationId xmlns:a16="http://schemas.microsoft.com/office/drawing/2014/main" id="{C652C5E5-5DD9-889C-263E-2F15B5474C18}"/>
              </a:ext>
            </a:extLst>
          </p:cNvPr>
          <p:cNvSpPr>
            <a:spLocks noGrp="1"/>
          </p:cNvSpPr>
          <p:nvPr>
            <p:ph type="sldNum" sz="quarter" idx="12"/>
          </p:nvPr>
        </p:nvSpPr>
        <p:spPr/>
        <p:txBody>
          <a:bodyPr/>
          <a:lstStyle/>
          <a:p>
            <a:fld id="{9FB99072-780F-43D9-B22B-8FACFE63800E}" type="slidenum">
              <a:rPr kumimoji="1" lang="ja-JP" altLang="en-US" smtClean="0"/>
              <a:t>10</a:t>
            </a:fld>
            <a:endParaRPr kumimoji="1" lang="ja-JP" altLang="en-US"/>
          </a:p>
        </p:txBody>
      </p:sp>
      <p:sp>
        <p:nvSpPr>
          <p:cNvPr id="6" name="矢印: 右 5">
            <a:extLst>
              <a:ext uri="{FF2B5EF4-FFF2-40B4-BE49-F238E27FC236}">
                <a16:creationId xmlns:a16="http://schemas.microsoft.com/office/drawing/2014/main" id="{61561C6D-4EAC-219A-2B26-D5312B8A085A}"/>
              </a:ext>
            </a:extLst>
          </p:cNvPr>
          <p:cNvSpPr/>
          <p:nvPr/>
        </p:nvSpPr>
        <p:spPr>
          <a:xfrm>
            <a:off x="2970141" y="2197754"/>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E530A704-3CCB-D942-7A5A-D07838A0E6B9}"/>
              </a:ext>
            </a:extLst>
          </p:cNvPr>
          <p:cNvSpPr/>
          <p:nvPr/>
        </p:nvSpPr>
        <p:spPr>
          <a:xfrm>
            <a:off x="8166809" y="2194027"/>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C73D894D-4101-4795-517C-C0AFA3D7AF2C}"/>
              </a:ext>
            </a:extLst>
          </p:cNvPr>
          <p:cNvPicPr>
            <a:picLocks noChangeAspect="1"/>
          </p:cNvPicPr>
          <p:nvPr/>
        </p:nvPicPr>
        <p:blipFill>
          <a:blip>
            <a:extLst>
              <a:ext uri="{96DAC541-7B7A-43D3-8B79-37D633B846F1}">
                <asvg:svgBlip xmlns:asvg="http://schemas.microsoft.com/office/drawing/2016/SVG/main" r:embed="rId3"/>
              </a:ext>
            </a:extLst>
          </a:blip>
          <a:srcRect r="36050"/>
          <a:stretch>
            <a:fillRect/>
          </a:stretch>
        </p:blipFill>
        <p:spPr>
          <a:xfrm>
            <a:off x="1731230" y="1837974"/>
            <a:ext cx="819465" cy="1281421"/>
          </a:xfrm>
          <a:prstGeom prst="rect">
            <a:avLst/>
          </a:prstGeom>
        </p:spPr>
      </p:pic>
      <p:sp>
        <p:nvSpPr>
          <p:cNvPr id="12" name="フローチャート: 代替処理 11">
            <a:extLst>
              <a:ext uri="{FF2B5EF4-FFF2-40B4-BE49-F238E27FC236}">
                <a16:creationId xmlns:a16="http://schemas.microsoft.com/office/drawing/2014/main" id="{83C1C37B-6E26-490D-46F7-02FDADC970F2}"/>
              </a:ext>
            </a:extLst>
          </p:cNvPr>
          <p:cNvSpPr/>
          <p:nvPr/>
        </p:nvSpPr>
        <p:spPr>
          <a:xfrm>
            <a:off x="1079807" y="3359691"/>
            <a:ext cx="10269638"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F78A4D1-16F3-3E9E-AE39-9754C7F46FA6}"/>
              </a:ext>
            </a:extLst>
          </p:cNvPr>
          <p:cNvSpPr txBox="1"/>
          <p:nvPr/>
        </p:nvSpPr>
        <p:spPr>
          <a:xfrm>
            <a:off x="1492831" y="3586406"/>
            <a:ext cx="12962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rPr>
              <a:t>入力データ</a:t>
            </a:r>
            <a:endParaRPr kumimoji="1" lang="en-US" altLang="ja-JP"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rPr>
              <a:t>新出単語＋説明</a:t>
            </a:r>
            <a:endParaRPr lang="ja-JP" altLang="en-US" sz="1200" dirty="0">
              <a:solidFill>
                <a:schemeClr val="tx1"/>
              </a:solidFill>
              <a:latin typeface="Yu Gothic"/>
            </a:endParaRPr>
          </a:p>
        </p:txBody>
      </p:sp>
      <p:sp>
        <p:nvSpPr>
          <p:cNvPr id="16" name="テキスト ボックス 15">
            <a:extLst>
              <a:ext uri="{FF2B5EF4-FFF2-40B4-BE49-F238E27FC236}">
                <a16:creationId xmlns:a16="http://schemas.microsoft.com/office/drawing/2014/main" id="{F44330EC-E9C3-B1EC-E038-9AE5D1F347DA}"/>
              </a:ext>
            </a:extLst>
          </p:cNvPr>
          <p:cNvSpPr txBox="1"/>
          <p:nvPr/>
        </p:nvSpPr>
        <p:spPr>
          <a:xfrm>
            <a:off x="3437575" y="3586406"/>
            <a:ext cx="1715306" cy="523220"/>
          </a:xfrm>
          <a:prstGeom prst="rect">
            <a:avLst/>
          </a:prstGeom>
          <a:noFill/>
        </p:spPr>
        <p:txBody>
          <a:bodyPr wrap="square">
            <a:spAutoFit/>
          </a:bodyPr>
          <a:lstStyle/>
          <a:p>
            <a:pPr algn="ctr"/>
            <a:r>
              <a:rPr lang="ja-JP" altLang="en-US" sz="1600" b="1" dirty="0">
                <a:latin typeface="+mn-ea"/>
              </a:rPr>
              <a:t>生成モデル</a:t>
            </a:r>
          </a:p>
          <a:p>
            <a:pPr algn="ctr"/>
            <a:r>
              <a:rPr lang="ja-JP" altLang="en-US" sz="1200" dirty="0"/>
              <a:t>未調整のモデルを使用</a:t>
            </a:r>
            <a:endParaRPr lang="en-US" altLang="ja-JP" sz="1200" dirty="0"/>
          </a:p>
        </p:txBody>
      </p:sp>
      <p:sp>
        <p:nvSpPr>
          <p:cNvPr id="18" name="テキスト ボックス 17">
            <a:extLst>
              <a:ext uri="{FF2B5EF4-FFF2-40B4-BE49-F238E27FC236}">
                <a16:creationId xmlns:a16="http://schemas.microsoft.com/office/drawing/2014/main" id="{598F8EBF-66ED-0A73-2586-7BB18EE546C7}"/>
              </a:ext>
            </a:extLst>
          </p:cNvPr>
          <p:cNvSpPr txBox="1"/>
          <p:nvPr/>
        </p:nvSpPr>
        <p:spPr>
          <a:xfrm>
            <a:off x="5801364" y="3586406"/>
            <a:ext cx="2160751" cy="523220"/>
          </a:xfrm>
          <a:prstGeom prst="rect">
            <a:avLst/>
          </a:prstGeom>
          <a:noFill/>
        </p:spPr>
        <p:txBody>
          <a:bodyPr wrap="square">
            <a:spAutoFit/>
          </a:bodyPr>
          <a:lstStyle/>
          <a:p>
            <a:pPr algn="ctr"/>
            <a:r>
              <a:rPr lang="ja-JP" altLang="en-US" sz="1600" b="1" dirty="0">
                <a:solidFill>
                  <a:schemeClr val="bg2">
                    <a:lumMod val="25000"/>
                  </a:schemeClr>
                </a:solidFill>
                <a:latin typeface="+mn-ea"/>
              </a:rPr>
              <a:t>添削</a:t>
            </a:r>
            <a:endParaRPr lang="en-US" altLang="ja-JP" sz="1600" b="1" dirty="0">
              <a:solidFill>
                <a:schemeClr val="bg2">
                  <a:lumMod val="25000"/>
                </a:schemeClr>
              </a:solidFill>
              <a:latin typeface="+mn-ea"/>
            </a:endParaRPr>
          </a:p>
          <a:p>
            <a:pPr algn="ctr"/>
            <a:r>
              <a:rPr lang="en-US" altLang="ja-JP" sz="1200" dirty="0">
                <a:solidFill>
                  <a:srgbClr val="2A3442"/>
                </a:solidFill>
                <a:latin typeface="+mn-ea"/>
              </a:rPr>
              <a:t>Python</a:t>
            </a:r>
            <a:r>
              <a:rPr lang="ja-JP" altLang="en-US" sz="1200" dirty="0">
                <a:solidFill>
                  <a:srgbClr val="2A3442"/>
                </a:solidFill>
                <a:latin typeface="+mn-ea"/>
              </a:rPr>
              <a:t>・</a:t>
            </a:r>
            <a:r>
              <a:rPr lang="en-US" altLang="ja-JP" sz="1200" dirty="0">
                <a:solidFill>
                  <a:srgbClr val="2A3442"/>
                </a:solidFill>
                <a:latin typeface="+mn-ea"/>
              </a:rPr>
              <a:t>LLM</a:t>
            </a:r>
            <a:r>
              <a:rPr lang="ja-JP" altLang="en-US" sz="1200" dirty="0">
                <a:solidFill>
                  <a:srgbClr val="2A3442"/>
                </a:solidFill>
                <a:latin typeface="+mn-ea"/>
              </a:rPr>
              <a:t>・</a:t>
            </a:r>
            <a:r>
              <a:rPr lang="en-US" altLang="ja-JP" sz="1200" dirty="0">
                <a:solidFill>
                  <a:srgbClr val="2A3442"/>
                </a:solidFill>
                <a:latin typeface="+mn-ea"/>
              </a:rPr>
              <a:t>Embedding</a:t>
            </a:r>
            <a:endParaRPr lang="ja-JP" altLang="en-US" sz="1200" dirty="0">
              <a:solidFill>
                <a:srgbClr val="2A3442"/>
              </a:solidFill>
              <a:latin typeface="+mn-ea"/>
            </a:endParaRPr>
          </a:p>
        </p:txBody>
      </p:sp>
      <p:pic>
        <p:nvPicPr>
          <p:cNvPr id="26" name="グラフィックス 25" descr="テーブル 枠線">
            <a:extLst>
              <a:ext uri="{FF2B5EF4-FFF2-40B4-BE49-F238E27FC236}">
                <a16:creationId xmlns:a16="http://schemas.microsoft.com/office/drawing/2014/main" id="{BCC3FDAB-ACB0-EA78-3625-755519C784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42847" y="2031900"/>
            <a:ext cx="914400" cy="914400"/>
          </a:xfrm>
          <a:prstGeom prst="rect">
            <a:avLst/>
          </a:prstGeom>
        </p:spPr>
      </p:pic>
      <p:sp>
        <p:nvSpPr>
          <p:cNvPr id="28" name="テキスト ボックス 27">
            <a:extLst>
              <a:ext uri="{FF2B5EF4-FFF2-40B4-BE49-F238E27FC236}">
                <a16:creationId xmlns:a16="http://schemas.microsoft.com/office/drawing/2014/main" id="{D97A9C2F-6013-2420-0025-6E4CF1087796}"/>
              </a:ext>
            </a:extLst>
          </p:cNvPr>
          <p:cNvSpPr txBox="1"/>
          <p:nvPr/>
        </p:nvSpPr>
        <p:spPr>
          <a:xfrm>
            <a:off x="8610599" y="3586406"/>
            <a:ext cx="2157009" cy="707886"/>
          </a:xfrm>
          <a:prstGeom prst="rect">
            <a:avLst/>
          </a:prstGeom>
          <a:noFill/>
        </p:spPr>
        <p:txBody>
          <a:bodyPr wrap="square">
            <a:spAutoFit/>
          </a:bodyPr>
          <a:lstStyle/>
          <a:p>
            <a:pPr algn="ctr"/>
            <a:r>
              <a:rPr lang="ja-JP" altLang="en-US" sz="1600" b="1" dirty="0">
                <a:solidFill>
                  <a:schemeClr val="bg2">
                    <a:lumMod val="25000"/>
                  </a:schemeClr>
                </a:solidFill>
                <a:latin typeface="+mn-ea"/>
              </a:rPr>
              <a:t>添削済みの生成問題</a:t>
            </a:r>
            <a:endParaRPr lang="en-US" altLang="ja-JP" sz="1600" b="1" dirty="0">
              <a:solidFill>
                <a:schemeClr val="bg2">
                  <a:lumMod val="25000"/>
                </a:schemeClr>
              </a:solidFill>
              <a:latin typeface="+mn-ea"/>
            </a:endParaRPr>
          </a:p>
          <a:p>
            <a:pPr algn="ctr"/>
            <a:r>
              <a:rPr lang="ja-JP" altLang="en-US" sz="1200" dirty="0">
                <a:solidFill>
                  <a:srgbClr val="2A3442"/>
                </a:solidFill>
                <a:latin typeface="+mn-ea"/>
              </a:rPr>
              <a:t>問題・</a:t>
            </a:r>
            <a:r>
              <a:rPr lang="en-US" altLang="ja-JP" sz="1200" dirty="0">
                <a:solidFill>
                  <a:srgbClr val="2A3442"/>
                </a:solidFill>
                <a:latin typeface="+mn-ea"/>
              </a:rPr>
              <a:t>4</a:t>
            </a:r>
            <a:r>
              <a:rPr lang="ja-JP" altLang="en-US" sz="1200" dirty="0">
                <a:solidFill>
                  <a:srgbClr val="2A3442"/>
                </a:solidFill>
                <a:latin typeface="+mn-ea"/>
              </a:rPr>
              <a:t>択・正解・解説</a:t>
            </a:r>
            <a:endParaRPr lang="en-US" altLang="ja-JP" sz="1200" dirty="0">
              <a:solidFill>
                <a:srgbClr val="2A3442"/>
              </a:solidFill>
              <a:latin typeface="+mn-ea"/>
            </a:endParaRPr>
          </a:p>
          <a:p>
            <a:pPr algn="ctr"/>
            <a:r>
              <a:rPr lang="ja-JP" altLang="en-US" sz="1200" dirty="0">
                <a:solidFill>
                  <a:srgbClr val="2A3442"/>
                </a:solidFill>
                <a:latin typeface="+mn-ea"/>
              </a:rPr>
              <a:t>学習用データセット</a:t>
            </a:r>
            <a:endParaRPr lang="en-US" altLang="ja-JP" sz="1200" dirty="0">
              <a:solidFill>
                <a:srgbClr val="2A3442"/>
              </a:solidFill>
              <a:latin typeface="+mn-ea"/>
            </a:endParaRPr>
          </a:p>
        </p:txBody>
      </p:sp>
      <p:sp>
        <p:nvSpPr>
          <p:cNvPr id="30" name="矢印: 右 29">
            <a:extLst>
              <a:ext uri="{FF2B5EF4-FFF2-40B4-BE49-F238E27FC236}">
                <a16:creationId xmlns:a16="http://schemas.microsoft.com/office/drawing/2014/main" id="{5156AD04-E2A8-A100-C1E2-F533EA1A248F}"/>
              </a:ext>
            </a:extLst>
          </p:cNvPr>
          <p:cNvSpPr/>
          <p:nvPr/>
        </p:nvSpPr>
        <p:spPr>
          <a:xfrm>
            <a:off x="5358752" y="2204443"/>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2" name="グラフィックス 31" descr="テーブル 枠線">
            <a:extLst>
              <a:ext uri="{FF2B5EF4-FFF2-40B4-BE49-F238E27FC236}">
                <a16:creationId xmlns:a16="http://schemas.microsoft.com/office/drawing/2014/main" id="{851EF93B-2442-A703-FCA3-D33F48658B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1020" y="2031900"/>
            <a:ext cx="914400" cy="914400"/>
          </a:xfrm>
          <a:prstGeom prst="rect">
            <a:avLst/>
          </a:prstGeom>
        </p:spPr>
      </p:pic>
      <p:sp>
        <p:nvSpPr>
          <p:cNvPr id="34" name="四角形: 角を丸くする 33">
            <a:extLst>
              <a:ext uri="{FF2B5EF4-FFF2-40B4-BE49-F238E27FC236}">
                <a16:creationId xmlns:a16="http://schemas.microsoft.com/office/drawing/2014/main" id="{43022377-2A93-AE92-21C7-3562015C02A6}"/>
              </a:ext>
            </a:extLst>
          </p:cNvPr>
          <p:cNvSpPr/>
          <p:nvPr/>
        </p:nvSpPr>
        <p:spPr>
          <a:xfrm>
            <a:off x="9392920" y="115932"/>
            <a:ext cx="492442" cy="45302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6" name="図 35">
            <a:extLst>
              <a:ext uri="{FF2B5EF4-FFF2-40B4-BE49-F238E27FC236}">
                <a16:creationId xmlns:a16="http://schemas.microsoft.com/office/drawing/2014/main" id="{7C01CFF1-714D-11C7-0873-47849CAE8C45}"/>
              </a:ext>
            </a:extLst>
          </p:cNvPr>
          <p:cNvPicPr>
            <a:picLocks noChangeAspect="1"/>
          </p:cNvPicPr>
          <p:nvPr/>
        </p:nvPicPr>
        <p:blipFill>
          <a:blip r:embed="rId5">
            <a:extLst>
              <a:ext uri="{28A0092B-C50C-407E-A947-70E740481C1C}">
                <a14:useLocalDpi xmlns:a14="http://schemas.microsoft.com/office/drawing/2010/main" val="0"/>
              </a:ext>
            </a:extLst>
          </a:blip>
          <a:srcRect t="410" b="31876"/>
          <a:stretch>
            <a:fillRect/>
          </a:stretch>
        </p:blipFill>
        <p:spPr>
          <a:xfrm>
            <a:off x="7962547" y="122164"/>
            <a:ext cx="4252665" cy="849639"/>
          </a:xfrm>
          <a:prstGeom prst="rect">
            <a:avLst/>
          </a:prstGeom>
        </p:spPr>
      </p:pic>
      <p:pic>
        <p:nvPicPr>
          <p:cNvPr id="38" name="グラフィックス 37" descr="人工知能 枠線">
            <a:extLst>
              <a:ext uri="{FF2B5EF4-FFF2-40B4-BE49-F238E27FC236}">
                <a16:creationId xmlns:a16="http://schemas.microsoft.com/office/drawing/2014/main" id="{3246EF8B-BE41-2B5B-284A-DB17CF0689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0329" y="2021484"/>
            <a:ext cx="914400" cy="914400"/>
          </a:xfrm>
          <a:prstGeom prst="rect">
            <a:avLst/>
          </a:prstGeom>
        </p:spPr>
      </p:pic>
      <p:pic>
        <p:nvPicPr>
          <p:cNvPr id="40" name="グラフィックス 39" descr="ベン図 枠線">
            <a:extLst>
              <a:ext uri="{FF2B5EF4-FFF2-40B4-BE49-F238E27FC236}">
                <a16:creationId xmlns:a16="http://schemas.microsoft.com/office/drawing/2014/main" id="{2F93BE93-9536-D075-FEA1-1907A376318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8419" y="2674637"/>
            <a:ext cx="587608" cy="587608"/>
          </a:xfrm>
          <a:prstGeom prst="rect">
            <a:avLst/>
          </a:prstGeom>
        </p:spPr>
      </p:pic>
      <p:pic>
        <p:nvPicPr>
          <p:cNvPr id="42" name="グラフィックス 41" descr="チェックマークを付けたチェック ボックス 枠線">
            <a:extLst>
              <a:ext uri="{FF2B5EF4-FFF2-40B4-BE49-F238E27FC236}">
                <a16:creationId xmlns:a16="http://schemas.microsoft.com/office/drawing/2014/main" id="{5F74396C-923C-35DD-731B-392120716B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9345" y="1332391"/>
            <a:ext cx="587608" cy="587608"/>
          </a:xfrm>
          <a:prstGeom prst="rect">
            <a:avLst/>
          </a:prstGeom>
        </p:spPr>
      </p:pic>
      <p:pic>
        <p:nvPicPr>
          <p:cNvPr id="44" name="グラフィックス 43" descr="人工知能 枠線">
            <a:extLst>
              <a:ext uri="{FF2B5EF4-FFF2-40B4-BE49-F238E27FC236}">
                <a16:creationId xmlns:a16="http://schemas.microsoft.com/office/drawing/2014/main" id="{5550C7B4-652C-E199-9BCD-0711430D559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68419" y="2004870"/>
            <a:ext cx="587607" cy="587607"/>
          </a:xfrm>
          <a:prstGeom prst="rect">
            <a:avLst/>
          </a:prstGeom>
        </p:spPr>
      </p:pic>
      <p:sp>
        <p:nvSpPr>
          <p:cNvPr id="46" name="テキスト ボックス 45">
            <a:extLst>
              <a:ext uri="{FF2B5EF4-FFF2-40B4-BE49-F238E27FC236}">
                <a16:creationId xmlns:a16="http://schemas.microsoft.com/office/drawing/2014/main" id="{C3FA33FE-2511-7587-113B-4FE317C29AF0}"/>
              </a:ext>
            </a:extLst>
          </p:cNvPr>
          <p:cNvSpPr txBox="1"/>
          <p:nvPr/>
        </p:nvSpPr>
        <p:spPr>
          <a:xfrm>
            <a:off x="6756026" y="1389377"/>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sp>
        <p:nvSpPr>
          <p:cNvPr id="47" name="コンテンツ プレースホルダー 3">
            <a:extLst>
              <a:ext uri="{FF2B5EF4-FFF2-40B4-BE49-F238E27FC236}">
                <a16:creationId xmlns:a16="http://schemas.microsoft.com/office/drawing/2014/main" id="{6C0FAF96-1F40-57D8-87D5-AD45B534B6FF}"/>
              </a:ext>
            </a:extLst>
          </p:cNvPr>
          <p:cNvSpPr>
            <a:spLocks noGrp="1"/>
          </p:cNvSpPr>
          <p:nvPr>
            <p:ph idx="1"/>
          </p:nvPr>
        </p:nvSpPr>
        <p:spPr>
          <a:xfrm>
            <a:off x="838199" y="4698424"/>
            <a:ext cx="10515601" cy="1644855"/>
          </a:xfrm>
        </p:spPr>
        <p:txBody>
          <a:bodyPr numCol="1">
            <a:normAutofit/>
          </a:bodyPr>
          <a:lstStyle/>
          <a:p>
            <a:pPr marL="0" indent="0">
              <a:buNone/>
            </a:pPr>
            <a:r>
              <a:rPr lang="ja-JP" altLang="en-US" b="1" dirty="0"/>
              <a:t>添削済み生成問題</a:t>
            </a:r>
            <a:endParaRPr lang="en-US" altLang="ja-JP" b="1" dirty="0"/>
          </a:p>
          <a:p>
            <a:pPr marL="457200" lvl="1" indent="0">
              <a:buNone/>
            </a:pPr>
            <a:r>
              <a:rPr lang="ja-JP" altLang="en-US" dirty="0"/>
              <a:t>モデルをファインチューニングするためのデータセットを作成する</a:t>
            </a:r>
            <a:endParaRPr lang="en-US" altLang="ja-JP" dirty="0"/>
          </a:p>
          <a:p>
            <a:pPr marL="457200" lvl="1" indent="0">
              <a:buNone/>
            </a:pPr>
            <a:r>
              <a:rPr lang="ja-JP" altLang="en-US" dirty="0"/>
              <a:t>→新出単語と説明から問題生成を行う方法を強化</a:t>
            </a:r>
            <a:endParaRPr lang="en-US" altLang="ja-JP" dirty="0"/>
          </a:p>
          <a:p>
            <a:pPr marL="457200" lvl="1" indent="0">
              <a:buNone/>
            </a:pPr>
            <a:endParaRPr lang="en-US" altLang="ja-JP" dirty="0"/>
          </a:p>
          <a:p>
            <a:endParaRPr lang="en-US" altLang="ja-JP" dirty="0"/>
          </a:p>
        </p:txBody>
      </p:sp>
    </p:spTree>
    <p:extLst>
      <p:ext uri="{BB962C8B-B14F-4D97-AF65-F5344CB8AC3E}">
        <p14:creationId xmlns:p14="http://schemas.microsoft.com/office/powerpoint/2010/main" val="2509684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D2C91B-67ED-AA11-77D9-00AFF8CC0BED}"/>
              </a:ext>
            </a:extLst>
          </p:cNvPr>
          <p:cNvSpPr>
            <a:spLocks noGrp="1"/>
          </p:cNvSpPr>
          <p:nvPr>
            <p:ph type="title"/>
          </p:nvPr>
        </p:nvSpPr>
        <p:spPr/>
        <p:txBody>
          <a:bodyPr/>
          <a:lstStyle/>
          <a:p>
            <a:r>
              <a:rPr lang="ja-JP" altLang="en-US" dirty="0"/>
              <a:t>研究手法③：問題生成</a:t>
            </a:r>
            <a:r>
              <a:rPr lang="en-US" altLang="ja-JP" dirty="0"/>
              <a:t>LLM</a:t>
            </a:r>
            <a:r>
              <a:rPr lang="ja-JP" altLang="en-US" dirty="0"/>
              <a:t>の学習・評価</a:t>
            </a:r>
            <a:endParaRPr kumimoji="1" lang="ja-JP" altLang="en-US" dirty="0"/>
          </a:p>
        </p:txBody>
      </p:sp>
      <p:sp>
        <p:nvSpPr>
          <p:cNvPr id="3" name="スライド番号プレースホルダー 2">
            <a:extLst>
              <a:ext uri="{FF2B5EF4-FFF2-40B4-BE49-F238E27FC236}">
                <a16:creationId xmlns:a16="http://schemas.microsoft.com/office/drawing/2014/main" id="{D4F7EE42-5F80-378D-5A3F-E1CA077010B2}"/>
              </a:ext>
            </a:extLst>
          </p:cNvPr>
          <p:cNvSpPr>
            <a:spLocks noGrp="1"/>
          </p:cNvSpPr>
          <p:nvPr>
            <p:ph type="sldNum" sz="quarter" idx="12"/>
          </p:nvPr>
        </p:nvSpPr>
        <p:spPr/>
        <p:txBody>
          <a:bodyPr/>
          <a:lstStyle/>
          <a:p>
            <a:fld id="{9FB99072-780F-43D9-B22B-8FACFE63800E}" type="slidenum">
              <a:rPr kumimoji="1" lang="ja-JP" altLang="en-US" smtClean="0"/>
              <a:t>11</a:t>
            </a:fld>
            <a:endParaRPr kumimoji="1" lang="ja-JP" altLang="en-US"/>
          </a:p>
        </p:txBody>
      </p:sp>
      <p:sp>
        <p:nvSpPr>
          <p:cNvPr id="12" name="フローチャート: 代替処理 11">
            <a:extLst>
              <a:ext uri="{FF2B5EF4-FFF2-40B4-BE49-F238E27FC236}">
                <a16:creationId xmlns:a16="http://schemas.microsoft.com/office/drawing/2014/main" id="{1097A574-0F3C-5FEC-FDD4-111D8FC94A9F}"/>
              </a:ext>
            </a:extLst>
          </p:cNvPr>
          <p:cNvSpPr/>
          <p:nvPr/>
        </p:nvSpPr>
        <p:spPr>
          <a:xfrm>
            <a:off x="1079807" y="4981663"/>
            <a:ext cx="4569879"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DEC2308-0533-7A44-8EB6-2C2063ECDEBC}"/>
              </a:ext>
            </a:extLst>
          </p:cNvPr>
          <p:cNvSpPr txBox="1"/>
          <p:nvPr/>
        </p:nvSpPr>
        <p:spPr>
          <a:xfrm>
            <a:off x="1492831" y="5208378"/>
            <a:ext cx="1296261"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rPr>
              <a:t>学習データ</a:t>
            </a:r>
            <a:endParaRPr lang="ja-JP" altLang="en-US" sz="1200" dirty="0">
              <a:solidFill>
                <a:schemeClr val="tx1"/>
              </a:solidFill>
              <a:latin typeface="Yu Gothic"/>
            </a:endParaRPr>
          </a:p>
        </p:txBody>
      </p:sp>
      <p:sp>
        <p:nvSpPr>
          <p:cNvPr id="16" name="テキスト ボックス 15">
            <a:extLst>
              <a:ext uri="{FF2B5EF4-FFF2-40B4-BE49-F238E27FC236}">
                <a16:creationId xmlns:a16="http://schemas.microsoft.com/office/drawing/2014/main" id="{AA1B87BF-F9C3-FEFC-C816-E022BE74435F}"/>
              </a:ext>
            </a:extLst>
          </p:cNvPr>
          <p:cNvSpPr txBox="1"/>
          <p:nvPr/>
        </p:nvSpPr>
        <p:spPr>
          <a:xfrm>
            <a:off x="3437575" y="5208378"/>
            <a:ext cx="1715306" cy="707886"/>
          </a:xfrm>
          <a:prstGeom prst="rect">
            <a:avLst/>
          </a:prstGeom>
          <a:noFill/>
        </p:spPr>
        <p:txBody>
          <a:bodyPr wrap="square">
            <a:spAutoFit/>
          </a:bodyPr>
          <a:lstStyle/>
          <a:p>
            <a:pPr algn="ctr"/>
            <a:r>
              <a:rPr lang="ja-JP" altLang="en-US" sz="1600" b="1" dirty="0">
                <a:latin typeface="+mn-ea"/>
              </a:rPr>
              <a:t>生成モデル</a:t>
            </a:r>
          </a:p>
          <a:p>
            <a:pPr algn="ctr"/>
            <a:r>
              <a:rPr lang="ja-JP" altLang="en-US" sz="1200" dirty="0"/>
              <a:t>未調整のモデルを</a:t>
            </a:r>
            <a:endParaRPr lang="en-US" altLang="ja-JP" sz="1200" dirty="0"/>
          </a:p>
          <a:p>
            <a:pPr algn="ctr"/>
            <a:r>
              <a:rPr lang="ja-JP" altLang="en-US" sz="1200" dirty="0"/>
              <a:t>ファインチューニング</a:t>
            </a:r>
            <a:endParaRPr lang="en-US" altLang="ja-JP" sz="1200" dirty="0"/>
          </a:p>
        </p:txBody>
      </p:sp>
      <p:sp>
        <p:nvSpPr>
          <p:cNvPr id="38" name="四角形: 角を丸くする 37">
            <a:extLst>
              <a:ext uri="{FF2B5EF4-FFF2-40B4-BE49-F238E27FC236}">
                <a16:creationId xmlns:a16="http://schemas.microsoft.com/office/drawing/2014/main" id="{DB384420-808A-8BA6-7C44-BF6BECE2CAF0}"/>
              </a:ext>
            </a:extLst>
          </p:cNvPr>
          <p:cNvSpPr/>
          <p:nvPr/>
        </p:nvSpPr>
        <p:spPr>
          <a:xfrm>
            <a:off x="9885363" y="415469"/>
            <a:ext cx="820737" cy="2413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0" name="図 39">
            <a:extLst>
              <a:ext uri="{FF2B5EF4-FFF2-40B4-BE49-F238E27FC236}">
                <a16:creationId xmlns:a16="http://schemas.microsoft.com/office/drawing/2014/main" id="{240C101E-E998-A9A7-9CD5-05D2691C7C8A}"/>
              </a:ext>
            </a:extLst>
          </p:cNvPr>
          <p:cNvPicPr>
            <a:picLocks noChangeAspect="1"/>
          </p:cNvPicPr>
          <p:nvPr/>
        </p:nvPicPr>
        <p:blipFill>
          <a:blip r:embed="rId3">
            <a:extLst>
              <a:ext uri="{28A0092B-C50C-407E-A947-70E740481C1C}">
                <a14:useLocalDpi xmlns:a14="http://schemas.microsoft.com/office/drawing/2010/main" val="0"/>
              </a:ext>
            </a:extLst>
          </a:blip>
          <a:srcRect l="-97" r="97" b="32286"/>
          <a:stretch>
            <a:fillRect/>
          </a:stretch>
        </p:blipFill>
        <p:spPr>
          <a:xfrm>
            <a:off x="7935913" y="110810"/>
            <a:ext cx="4252665" cy="849639"/>
          </a:xfrm>
          <a:prstGeom prst="rect">
            <a:avLst/>
          </a:prstGeom>
        </p:spPr>
      </p:pic>
      <p:pic>
        <p:nvPicPr>
          <p:cNvPr id="55" name="グラフィックス 54" descr="人工知能 枠線">
            <a:extLst>
              <a:ext uri="{FF2B5EF4-FFF2-40B4-BE49-F238E27FC236}">
                <a16:creationId xmlns:a16="http://schemas.microsoft.com/office/drawing/2014/main" id="{B5EF9543-9BE7-8856-664B-B95CF6C903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2081" y="1059757"/>
            <a:ext cx="887633" cy="887633"/>
          </a:xfrm>
          <a:prstGeom prst="rect">
            <a:avLst/>
          </a:prstGeom>
        </p:spPr>
      </p:pic>
      <p:pic>
        <p:nvPicPr>
          <p:cNvPr id="57" name="グラフィックス 56" descr="人工知能 枠線">
            <a:extLst>
              <a:ext uri="{FF2B5EF4-FFF2-40B4-BE49-F238E27FC236}">
                <a16:creationId xmlns:a16="http://schemas.microsoft.com/office/drawing/2014/main" id="{BD261D45-0B84-AC8B-A3D8-9B30EF1257C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2081" y="2039786"/>
            <a:ext cx="887633" cy="887633"/>
          </a:xfrm>
          <a:prstGeom prst="rect">
            <a:avLst/>
          </a:prstGeom>
        </p:spPr>
      </p:pic>
      <p:pic>
        <p:nvPicPr>
          <p:cNvPr id="61" name="グラフィックス 60" descr="人工知能 枠線">
            <a:extLst>
              <a:ext uri="{FF2B5EF4-FFF2-40B4-BE49-F238E27FC236}">
                <a16:creationId xmlns:a16="http://schemas.microsoft.com/office/drawing/2014/main" id="{9C545245-E905-1CC2-9D8D-AFE3FB14E9E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2080" y="3999843"/>
            <a:ext cx="887633" cy="887633"/>
          </a:xfrm>
          <a:prstGeom prst="rect">
            <a:avLst/>
          </a:prstGeom>
        </p:spPr>
      </p:pic>
      <p:grpSp>
        <p:nvGrpSpPr>
          <p:cNvPr id="63" name="グループ化 62">
            <a:extLst>
              <a:ext uri="{FF2B5EF4-FFF2-40B4-BE49-F238E27FC236}">
                <a16:creationId xmlns:a16="http://schemas.microsoft.com/office/drawing/2014/main" id="{7516308A-92B0-05DB-0283-2D479F3DEEAA}"/>
              </a:ext>
            </a:extLst>
          </p:cNvPr>
          <p:cNvGrpSpPr/>
          <p:nvPr/>
        </p:nvGrpSpPr>
        <p:grpSpPr>
          <a:xfrm>
            <a:off x="1612917" y="2205328"/>
            <a:ext cx="1297719" cy="725651"/>
            <a:chOff x="8942847" y="2031900"/>
            <a:chExt cx="1612573" cy="914400"/>
          </a:xfrm>
        </p:grpSpPr>
        <p:pic>
          <p:nvPicPr>
            <p:cNvPr id="64" name="グラフィックス 63" descr="テーブル 枠線">
              <a:extLst>
                <a:ext uri="{FF2B5EF4-FFF2-40B4-BE49-F238E27FC236}">
                  <a16:creationId xmlns:a16="http://schemas.microsoft.com/office/drawing/2014/main" id="{DB94BA38-B970-371C-01C4-C79BE4640E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2847" y="2031900"/>
              <a:ext cx="914400" cy="914400"/>
            </a:xfrm>
            <a:prstGeom prst="rect">
              <a:avLst/>
            </a:prstGeom>
          </p:spPr>
        </p:pic>
        <p:pic>
          <p:nvPicPr>
            <p:cNvPr id="65" name="グラフィックス 64" descr="テーブル 枠線">
              <a:extLst>
                <a:ext uri="{FF2B5EF4-FFF2-40B4-BE49-F238E27FC236}">
                  <a16:creationId xmlns:a16="http://schemas.microsoft.com/office/drawing/2014/main" id="{B679B0A4-58AE-6CF1-E129-0C9E3B49D6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1020" y="2031900"/>
              <a:ext cx="914400" cy="914400"/>
            </a:xfrm>
            <a:prstGeom prst="rect">
              <a:avLst/>
            </a:prstGeom>
          </p:spPr>
        </p:pic>
      </p:grpSp>
      <p:pic>
        <p:nvPicPr>
          <p:cNvPr id="67" name="グラフィックス 66" descr="開いた本 枠線">
            <a:extLst>
              <a:ext uri="{FF2B5EF4-FFF2-40B4-BE49-F238E27FC236}">
                <a16:creationId xmlns:a16="http://schemas.microsoft.com/office/drawing/2014/main" id="{6223AC9C-A47F-CCA6-B460-7A974919F2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817960" y="3060708"/>
            <a:ext cx="887634" cy="887634"/>
          </a:xfrm>
          <a:prstGeom prst="rect">
            <a:avLst/>
          </a:prstGeom>
        </p:spPr>
      </p:pic>
      <p:pic>
        <p:nvPicPr>
          <p:cNvPr id="69" name="グラフィックス 68" descr="開いた本 枠線">
            <a:extLst>
              <a:ext uri="{FF2B5EF4-FFF2-40B4-BE49-F238E27FC236}">
                <a16:creationId xmlns:a16="http://schemas.microsoft.com/office/drawing/2014/main" id="{883D61E4-F122-4185-CEED-C947032AA9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50230" y="4077929"/>
            <a:ext cx="887634" cy="887634"/>
          </a:xfrm>
          <a:prstGeom prst="rect">
            <a:avLst/>
          </a:prstGeom>
        </p:spPr>
      </p:pic>
      <p:grpSp>
        <p:nvGrpSpPr>
          <p:cNvPr id="70" name="グループ化 69">
            <a:extLst>
              <a:ext uri="{FF2B5EF4-FFF2-40B4-BE49-F238E27FC236}">
                <a16:creationId xmlns:a16="http://schemas.microsoft.com/office/drawing/2014/main" id="{F24A5AE3-DFA6-5F55-DE3E-5200EF881692}"/>
              </a:ext>
            </a:extLst>
          </p:cNvPr>
          <p:cNvGrpSpPr/>
          <p:nvPr/>
        </p:nvGrpSpPr>
        <p:grpSpPr>
          <a:xfrm>
            <a:off x="919746" y="4126425"/>
            <a:ext cx="1297719" cy="725651"/>
            <a:chOff x="8942847" y="2031900"/>
            <a:chExt cx="1612573" cy="914400"/>
          </a:xfrm>
        </p:grpSpPr>
        <p:pic>
          <p:nvPicPr>
            <p:cNvPr id="71" name="グラフィックス 70" descr="テーブル 枠線">
              <a:extLst>
                <a:ext uri="{FF2B5EF4-FFF2-40B4-BE49-F238E27FC236}">
                  <a16:creationId xmlns:a16="http://schemas.microsoft.com/office/drawing/2014/main" id="{90505713-A354-E631-184D-7587DEF93B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2847" y="2031900"/>
              <a:ext cx="914400" cy="914400"/>
            </a:xfrm>
            <a:prstGeom prst="rect">
              <a:avLst/>
            </a:prstGeom>
          </p:spPr>
        </p:pic>
        <p:pic>
          <p:nvPicPr>
            <p:cNvPr id="72" name="グラフィックス 71" descr="テーブル 枠線">
              <a:extLst>
                <a:ext uri="{FF2B5EF4-FFF2-40B4-BE49-F238E27FC236}">
                  <a16:creationId xmlns:a16="http://schemas.microsoft.com/office/drawing/2014/main" id="{F59D2AB6-C71F-B954-38CA-EF213E15B6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41020" y="2031900"/>
              <a:ext cx="914400" cy="914400"/>
            </a:xfrm>
            <a:prstGeom prst="rect">
              <a:avLst/>
            </a:prstGeom>
          </p:spPr>
        </p:pic>
      </p:grpSp>
      <p:sp>
        <p:nvSpPr>
          <p:cNvPr id="80" name="TextBox 13">
            <a:extLst>
              <a:ext uri="{FF2B5EF4-FFF2-40B4-BE49-F238E27FC236}">
                <a16:creationId xmlns:a16="http://schemas.microsoft.com/office/drawing/2014/main" id="{97DDDCCA-07A2-801B-EA3B-66D55D2F672B}"/>
              </a:ext>
            </a:extLst>
          </p:cNvPr>
          <p:cNvSpPr txBox="1"/>
          <p:nvPr/>
        </p:nvSpPr>
        <p:spPr>
          <a:xfrm>
            <a:off x="6175289" y="1192267"/>
            <a:ext cx="4751614" cy="3702552"/>
          </a:xfrm>
          <a:prstGeom prst="rect">
            <a:avLst/>
          </a:prstGeom>
          <a:noFill/>
        </p:spPr>
        <p:txBody>
          <a:bodyPr wrap="square" lIns="73152" tIns="73152" rIns="73152" bIns="73152" anchor="ctr">
            <a:spAutoFit/>
          </a:bodyPr>
          <a:lstStyle/>
          <a:p>
            <a:pPr>
              <a:spcAft>
                <a:spcPts val="200"/>
              </a:spcAft>
              <a:defRPr sz="1300" b="0" i="0">
                <a:solidFill>
                  <a:srgbClr val="2A3442"/>
                </a:solidFill>
                <a:latin typeface="Yu Gothic"/>
              </a:defRPr>
            </a:pPr>
            <a:r>
              <a:rPr lang="ja-JP" altLang="en-US" sz="2000" dirty="0">
                <a:latin typeface="+mn-ea"/>
              </a:rPr>
              <a:t>① ファインチューニングなし</a:t>
            </a:r>
            <a:endParaRPr lang="en-US" altLang="ja-JP" sz="2000" dirty="0">
              <a:latin typeface="+mn-ea"/>
            </a:endParaRPr>
          </a:p>
          <a:p>
            <a:pPr>
              <a:spcAft>
                <a:spcPts val="200"/>
              </a:spcAft>
              <a:defRPr sz="1300" b="0" i="0">
                <a:solidFill>
                  <a:srgbClr val="2A3442"/>
                </a:solidFill>
                <a:latin typeface="Yu Gothic"/>
              </a:defRPr>
            </a:pPr>
            <a:endParaRPr lang="en-US" altLang="ja-JP" sz="2000" dirty="0">
              <a:latin typeface="+mn-ea"/>
            </a:endParaRPr>
          </a:p>
          <a:p>
            <a:pPr>
              <a:spcAft>
                <a:spcPts val="200"/>
              </a:spcAft>
              <a:defRPr sz="1300" b="0" i="0">
                <a:solidFill>
                  <a:srgbClr val="2A3442"/>
                </a:solidFill>
                <a:latin typeface="Yu Gothic"/>
              </a:defRPr>
            </a:pPr>
            <a:endParaRPr lang="ja-JP" altLang="en-US" sz="2000" dirty="0">
              <a:latin typeface="+mn-ea"/>
            </a:endParaRPr>
          </a:p>
          <a:p>
            <a:r>
              <a:rPr lang="ja-JP" altLang="en-US" sz="2000" dirty="0">
                <a:latin typeface="+mn-ea"/>
              </a:rPr>
              <a:t>② 添削済みデータ：</a:t>
            </a:r>
            <a:r>
              <a:rPr lang="en-US" altLang="ja-JP" sz="2000" dirty="0">
                <a:latin typeface="+mn-ea"/>
              </a:rPr>
              <a:t>200</a:t>
            </a:r>
            <a:r>
              <a:rPr lang="ja-JP" altLang="en-US" sz="2000" dirty="0">
                <a:latin typeface="+mn-ea"/>
              </a:rPr>
              <a:t>単語・</a:t>
            </a:r>
            <a:r>
              <a:rPr lang="en-US" altLang="ja-JP" sz="2000" dirty="0">
                <a:latin typeface="+mn-ea"/>
              </a:rPr>
              <a:t>400</a:t>
            </a:r>
            <a:r>
              <a:rPr lang="ja-JP" altLang="en-US" sz="2000" dirty="0">
                <a:latin typeface="+mn-ea"/>
              </a:rPr>
              <a:t>問</a:t>
            </a:r>
          </a:p>
          <a:p>
            <a:pPr lvl="1"/>
            <a:r>
              <a:rPr lang="ja-JP" altLang="en-US" sz="1400" dirty="0">
                <a:latin typeface="+mn-ea"/>
              </a:rPr>
              <a:t>→新出単語から問題生成を行う力を強化</a:t>
            </a:r>
            <a:endParaRPr lang="en-US" altLang="ja-JP" sz="1400" dirty="0">
              <a:latin typeface="+mn-ea"/>
            </a:endParaRPr>
          </a:p>
          <a:p>
            <a:endParaRPr lang="en-US" altLang="ja-JP" sz="2000" dirty="0">
              <a:latin typeface="+mn-ea"/>
            </a:endParaRPr>
          </a:p>
          <a:p>
            <a:endParaRPr lang="en-US" altLang="ja-JP" sz="2000" dirty="0">
              <a:latin typeface="+mn-ea"/>
            </a:endParaRPr>
          </a:p>
          <a:p>
            <a:r>
              <a:rPr lang="ja-JP" altLang="en-US" sz="2000" dirty="0">
                <a:latin typeface="+mn-ea"/>
              </a:rPr>
              <a:t>③ 過去問：</a:t>
            </a:r>
            <a:r>
              <a:rPr lang="en-US" altLang="ja-JP" sz="2000" dirty="0">
                <a:latin typeface="+mn-ea"/>
              </a:rPr>
              <a:t>400</a:t>
            </a:r>
            <a:r>
              <a:rPr lang="ja-JP" altLang="en-US" sz="2000" dirty="0">
                <a:latin typeface="+mn-ea"/>
              </a:rPr>
              <a:t>問（新出単語を除外）</a:t>
            </a:r>
            <a:endParaRPr lang="en-US" altLang="ja-JP" sz="2000" dirty="0">
              <a:latin typeface="+mn-ea"/>
            </a:endParaRPr>
          </a:p>
          <a:p>
            <a:pPr lvl="1"/>
            <a:r>
              <a:rPr lang="ja-JP" altLang="en-US" sz="1400" dirty="0">
                <a:latin typeface="+mn-ea"/>
              </a:rPr>
              <a:t>→資格試験の特徴を捉えるよう強化</a:t>
            </a:r>
          </a:p>
          <a:p>
            <a:endParaRPr lang="en-US" altLang="ja-JP" dirty="0">
              <a:latin typeface="+mn-ea"/>
            </a:endParaRPr>
          </a:p>
          <a:p>
            <a:endParaRPr lang="en-US" altLang="ja-JP" sz="2000" dirty="0">
              <a:latin typeface="+mn-ea"/>
            </a:endParaRPr>
          </a:p>
          <a:p>
            <a:r>
              <a:rPr lang="ja-JP" altLang="en-US" sz="2000" dirty="0">
                <a:latin typeface="+mn-ea"/>
              </a:rPr>
              <a:t>④ 混合：添削済み</a:t>
            </a:r>
            <a:r>
              <a:rPr lang="en-US" altLang="ja-JP" sz="2000" dirty="0">
                <a:latin typeface="+mn-ea"/>
              </a:rPr>
              <a:t>200</a:t>
            </a:r>
            <a:r>
              <a:rPr lang="ja-JP" altLang="en-US" sz="2000" dirty="0">
                <a:latin typeface="+mn-ea"/>
              </a:rPr>
              <a:t>問＋過去問</a:t>
            </a:r>
            <a:r>
              <a:rPr lang="en-US" altLang="ja-JP" sz="2000" dirty="0">
                <a:latin typeface="+mn-ea"/>
              </a:rPr>
              <a:t>200</a:t>
            </a:r>
            <a:r>
              <a:rPr lang="ja-JP" altLang="en-US" sz="2000" dirty="0">
                <a:latin typeface="+mn-ea"/>
              </a:rPr>
              <a:t>問</a:t>
            </a:r>
          </a:p>
        </p:txBody>
      </p:sp>
      <p:sp>
        <p:nvSpPr>
          <p:cNvPr id="81" name="コンテンツ プレースホルダー 3">
            <a:extLst>
              <a:ext uri="{FF2B5EF4-FFF2-40B4-BE49-F238E27FC236}">
                <a16:creationId xmlns:a16="http://schemas.microsoft.com/office/drawing/2014/main" id="{9CF07DC4-0F8B-3252-25CA-5FB97AB2BA71}"/>
              </a:ext>
            </a:extLst>
          </p:cNvPr>
          <p:cNvSpPr>
            <a:spLocks noGrp="1"/>
          </p:cNvSpPr>
          <p:nvPr>
            <p:ph idx="1"/>
          </p:nvPr>
        </p:nvSpPr>
        <p:spPr>
          <a:xfrm>
            <a:off x="6175289" y="5067300"/>
            <a:ext cx="5291090" cy="1221764"/>
          </a:xfrm>
        </p:spPr>
        <p:txBody>
          <a:bodyPr numCol="1">
            <a:normAutofit/>
          </a:bodyPr>
          <a:lstStyle/>
          <a:p>
            <a:pPr marL="0" indent="0">
              <a:buNone/>
            </a:pPr>
            <a:r>
              <a:rPr lang="en-US" altLang="ja-JP" b="1" dirty="0"/>
              <a:t>4</a:t>
            </a:r>
            <a:r>
              <a:rPr lang="ja-JP" altLang="en-US" b="1" dirty="0"/>
              <a:t>パターンのモデル</a:t>
            </a:r>
            <a:endParaRPr lang="en-US" altLang="ja-JP" b="1" dirty="0"/>
          </a:p>
          <a:p>
            <a:pPr marL="457200" lvl="1" indent="0">
              <a:buNone/>
            </a:pPr>
            <a:r>
              <a:rPr lang="ja-JP" altLang="en-US" dirty="0"/>
              <a:t>テストデータを用いて問題生成を行い</a:t>
            </a:r>
            <a:endParaRPr lang="en-US" altLang="ja-JP" dirty="0"/>
          </a:p>
          <a:p>
            <a:pPr marL="457200" lvl="1" indent="0">
              <a:buNone/>
            </a:pPr>
            <a:r>
              <a:rPr lang="ja-JP" altLang="ja-JP" b="1" dirty="0">
                <a:solidFill>
                  <a:schemeClr val="accent5">
                    <a:lumMod val="75000"/>
                  </a:schemeClr>
                </a:solidFill>
              </a:rPr>
              <a:t>新出用語への対応力</a:t>
            </a:r>
            <a:r>
              <a:rPr lang="ja-JP" altLang="en-US" dirty="0"/>
              <a:t>・</a:t>
            </a:r>
            <a:r>
              <a:rPr lang="ja-JP" altLang="en-US" b="1" dirty="0">
                <a:solidFill>
                  <a:schemeClr val="accent5">
                    <a:lumMod val="75000"/>
                  </a:schemeClr>
                </a:solidFill>
              </a:rPr>
              <a:t>資格試験らしさ</a:t>
            </a:r>
            <a:r>
              <a:rPr lang="ja-JP" altLang="en-US" dirty="0"/>
              <a:t>を検証</a:t>
            </a:r>
            <a:endParaRPr lang="en-US" altLang="ja-JP" dirty="0"/>
          </a:p>
          <a:p>
            <a:pPr marL="457200" lvl="1" indent="0">
              <a:buNone/>
            </a:pPr>
            <a:endParaRPr lang="en-US" altLang="ja-JP" dirty="0"/>
          </a:p>
          <a:p>
            <a:endParaRPr lang="en-US" altLang="ja-JP" dirty="0"/>
          </a:p>
        </p:txBody>
      </p:sp>
      <p:sp>
        <p:nvSpPr>
          <p:cNvPr id="82" name="加算記号 81">
            <a:extLst>
              <a:ext uri="{FF2B5EF4-FFF2-40B4-BE49-F238E27FC236}">
                <a16:creationId xmlns:a16="http://schemas.microsoft.com/office/drawing/2014/main" id="{0A7E6E75-2D48-0A03-8C5E-F666125A5C26}"/>
              </a:ext>
            </a:extLst>
          </p:cNvPr>
          <p:cNvSpPr/>
          <p:nvPr/>
        </p:nvSpPr>
        <p:spPr>
          <a:xfrm>
            <a:off x="3364746" y="2268820"/>
            <a:ext cx="537334" cy="511251"/>
          </a:xfrm>
          <a:prstGeom prst="mathPlus">
            <a:avLst>
              <a:gd name="adj1" fmla="val 6486"/>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加算記号 83">
            <a:extLst>
              <a:ext uri="{FF2B5EF4-FFF2-40B4-BE49-F238E27FC236}">
                <a16:creationId xmlns:a16="http://schemas.microsoft.com/office/drawing/2014/main" id="{BA30661A-9D76-D925-F832-4B333DD438C3}"/>
              </a:ext>
            </a:extLst>
          </p:cNvPr>
          <p:cNvSpPr/>
          <p:nvPr/>
        </p:nvSpPr>
        <p:spPr>
          <a:xfrm>
            <a:off x="3364746" y="3173374"/>
            <a:ext cx="537334" cy="511251"/>
          </a:xfrm>
          <a:prstGeom prst="mathPlus">
            <a:avLst>
              <a:gd name="adj1" fmla="val 6486"/>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加算記号 85">
            <a:extLst>
              <a:ext uri="{FF2B5EF4-FFF2-40B4-BE49-F238E27FC236}">
                <a16:creationId xmlns:a16="http://schemas.microsoft.com/office/drawing/2014/main" id="{7C785E19-8208-B9F0-E488-FB600F486DFC}"/>
              </a:ext>
            </a:extLst>
          </p:cNvPr>
          <p:cNvSpPr/>
          <p:nvPr/>
        </p:nvSpPr>
        <p:spPr>
          <a:xfrm>
            <a:off x="3401305" y="4183513"/>
            <a:ext cx="537334" cy="511251"/>
          </a:xfrm>
          <a:prstGeom prst="mathPlus">
            <a:avLst>
              <a:gd name="adj1" fmla="val 6486"/>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pslz="http://schemas.microsoft.com/office/powerpoint/2016/slidezoom">
        <mc:Choice Requires="pslz">
          <p:graphicFrame>
            <p:nvGraphicFramePr>
              <p:cNvPr id="90" name="スライド ズーム 89">
                <a:extLst>
                  <a:ext uri="{FF2B5EF4-FFF2-40B4-BE49-F238E27FC236}">
                    <a16:creationId xmlns:a16="http://schemas.microsoft.com/office/drawing/2014/main" id="{2CFB102C-F49D-A66E-AF78-4835EE3E6ECE}"/>
                  </a:ext>
                </a:extLst>
              </p:cNvPr>
              <p:cNvGraphicFramePr>
                <a:graphicFrameLocks noChangeAspect="1"/>
              </p:cNvGraphicFramePr>
              <p:nvPr>
                <p:extLst>
                  <p:ext uri="{D42A27DB-BD31-4B8C-83A1-F6EECF244321}">
                    <p14:modId xmlns:p14="http://schemas.microsoft.com/office/powerpoint/2010/main" val="3681999620"/>
                  </p:ext>
                </p:extLst>
              </p:nvPr>
            </p:nvGraphicFramePr>
            <p:xfrm>
              <a:off x="3902080" y="3018023"/>
              <a:ext cx="874177" cy="874177"/>
            </p:xfrm>
            <a:graphic>
              <a:graphicData uri="http://schemas.microsoft.com/office/powerpoint/2016/slidezoom">
                <pslz:sldZm>
                  <pslz:sldZmObj sldId="490" cId="2896300268">
                    <pslz:zmPr id="{B4A7C6FC-3075-4BED-982B-4651E41F12D9}" returnToParent="0" imageType="cover" transitionDur="1000">
                      <p166:blipFill xmlns:p166="http://schemas.microsoft.com/office/powerpoint/2016/6/main">
                        <a:blip>
                          <a:extLst>
                            <a:ext uri="{96DAC541-7B7A-43D3-8B79-37D633B846F1}">
                              <asvg:svgBlip xmlns:asvg="http://schemas.microsoft.com/office/drawing/2016/SVG/main" r:embed="rId4"/>
                            </a:ext>
                          </a:extLst>
                        </a:blip>
                        <a:stretch>
                          <a:fillRect/>
                        </a:stretch>
                      </p166:blipFill>
                      <p166:spPr xmlns:p166="http://schemas.microsoft.com/office/powerpoint/2016/6/main">
                        <a:xfrm>
                          <a:off x="0" y="0"/>
                          <a:ext cx="874177" cy="874177"/>
                        </a:xfrm>
                        <a:prstGeom prst="rect">
                          <a:avLst/>
                        </a:prstGeom>
                        <a:ln w="3175">
                          <a:noFill/>
                        </a:ln>
                      </p166:spPr>
                    </pslz:zmPr>
                  </pslz:sldZmObj>
                </pslz:sldZm>
              </a:graphicData>
            </a:graphic>
          </p:graphicFrame>
        </mc:Choice>
        <mc:Fallback xmlns="">
          <p:pic>
            <p:nvPicPr>
              <p:cNvPr id="90" name="スライド ズーム 89">
                <a:hlinkClick r:id="rId7" action="ppaction://hlinksldjump"/>
                <a:extLst>
                  <a:ext uri="{FF2B5EF4-FFF2-40B4-BE49-F238E27FC236}">
                    <a16:creationId xmlns:a16="http://schemas.microsoft.com/office/drawing/2014/main" id="{2CFB102C-F49D-A66E-AF78-4835EE3E6ECE}"/>
                  </a:ext>
                </a:extLst>
              </p:cNvPr>
              <p:cNvPicPr>
                <a:picLocks noGrp="1" noRot="1" noChangeAspect="1" noMove="1" noResize="1" noEditPoints="1" noAdjustHandles="1" noChangeArrowheads="1" noChangeShapeType="1"/>
              </p:cNvPicPr>
              <p:nvPr/>
            </p:nvPicPr>
            <p:blipFill>
              <a:blip>
                <a:extLst>
                  <a:ext uri="{96DAC541-7B7A-43D3-8B79-37D633B846F1}">
                    <asvg:svgBlip xmlns:asvg="http://schemas.microsoft.com/office/drawing/2016/SVG/main" r:embed="rId8"/>
                  </a:ext>
                </a:extLst>
              </a:blip>
              <a:stretch>
                <a:fillRect/>
              </a:stretch>
            </p:blipFill>
            <p:spPr>
              <a:xfrm>
                <a:off x="3902080" y="3018023"/>
                <a:ext cx="874177" cy="874177"/>
              </a:xfrm>
              <a:prstGeom prst="rect">
                <a:avLst/>
              </a:prstGeom>
              <a:ln w="3175">
                <a:noFill/>
              </a:ln>
            </p:spPr>
          </p:pic>
        </mc:Fallback>
      </mc:AlternateContent>
    </p:spTree>
    <p:extLst>
      <p:ext uri="{BB962C8B-B14F-4D97-AF65-F5344CB8AC3E}">
        <p14:creationId xmlns:p14="http://schemas.microsoft.com/office/powerpoint/2010/main" val="1326064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38EC6-66BC-E922-CBDA-3457B33EDC3A}"/>
            </a:ext>
          </a:extLst>
        </p:cNvPr>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4A2158E6-BEF1-E312-C260-2AF790AAAD16}"/>
              </a:ext>
            </a:extLst>
          </p:cNvPr>
          <p:cNvSpPr>
            <a:spLocks noGrp="1"/>
          </p:cNvSpPr>
          <p:nvPr>
            <p:ph type="sldNum" sz="quarter" idx="12"/>
          </p:nvPr>
        </p:nvSpPr>
        <p:spPr/>
        <p:txBody>
          <a:bodyPr/>
          <a:lstStyle/>
          <a:p>
            <a:fld id="{9FB99072-780F-43D9-B22B-8FACFE63800E}" type="slidenum">
              <a:rPr kumimoji="1" lang="ja-JP" altLang="en-US" smtClean="0"/>
              <a:t>12</a:t>
            </a:fld>
            <a:endParaRPr kumimoji="1" lang="ja-JP" altLang="en-US" dirty="0"/>
          </a:p>
        </p:txBody>
      </p:sp>
      <p:sp>
        <p:nvSpPr>
          <p:cNvPr id="12" name="フローチャート: 代替処理 11">
            <a:extLst>
              <a:ext uri="{FF2B5EF4-FFF2-40B4-BE49-F238E27FC236}">
                <a16:creationId xmlns:a16="http://schemas.microsoft.com/office/drawing/2014/main" id="{19B83900-C7AC-7100-170E-8540E682B02C}"/>
              </a:ext>
            </a:extLst>
          </p:cNvPr>
          <p:cNvSpPr/>
          <p:nvPr/>
        </p:nvSpPr>
        <p:spPr>
          <a:xfrm>
            <a:off x="1079807" y="3359691"/>
            <a:ext cx="10269638"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13A3C1FB-3B42-5DA3-1126-014172B74DB8}"/>
              </a:ext>
            </a:extLst>
          </p:cNvPr>
          <p:cNvSpPr txBox="1"/>
          <p:nvPr/>
        </p:nvSpPr>
        <p:spPr>
          <a:xfrm>
            <a:off x="1492831" y="3586406"/>
            <a:ext cx="193616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rPr>
              <a:t>入力</a:t>
            </a:r>
          </a:p>
          <a:p>
            <a:pPr algn="ctr"/>
            <a:r>
              <a:rPr lang="ja-JP" altLang="en-US" sz="1200" dirty="0">
                <a:solidFill>
                  <a:srgbClr val="2A3442"/>
                </a:solidFill>
                <a:latin typeface="+mn-ea"/>
              </a:rPr>
              <a:t>問題・</a:t>
            </a:r>
            <a:r>
              <a:rPr lang="en-US" altLang="ja-JP" sz="1200" dirty="0">
                <a:solidFill>
                  <a:srgbClr val="2A3442"/>
                </a:solidFill>
                <a:latin typeface="+mn-ea"/>
              </a:rPr>
              <a:t>4</a:t>
            </a:r>
            <a:r>
              <a:rPr lang="ja-JP" altLang="en-US" sz="1200" dirty="0">
                <a:solidFill>
                  <a:srgbClr val="2A3442"/>
                </a:solidFill>
                <a:latin typeface="+mn-ea"/>
              </a:rPr>
              <a:t>択・正解・解説</a:t>
            </a:r>
            <a:endParaRPr lang="en-US" altLang="ja-JP" sz="1200" dirty="0">
              <a:solidFill>
                <a:srgbClr val="2A3442"/>
              </a:solidFill>
              <a:latin typeface="+mn-ea"/>
            </a:endParaRPr>
          </a:p>
        </p:txBody>
      </p:sp>
      <p:sp>
        <p:nvSpPr>
          <p:cNvPr id="28" name="テキスト ボックス 27">
            <a:extLst>
              <a:ext uri="{FF2B5EF4-FFF2-40B4-BE49-F238E27FC236}">
                <a16:creationId xmlns:a16="http://schemas.microsoft.com/office/drawing/2014/main" id="{33B6D780-AFC4-F675-A299-1CD9E503E66E}"/>
              </a:ext>
            </a:extLst>
          </p:cNvPr>
          <p:cNvSpPr txBox="1"/>
          <p:nvPr/>
        </p:nvSpPr>
        <p:spPr>
          <a:xfrm>
            <a:off x="8610599" y="3586406"/>
            <a:ext cx="2157009" cy="523220"/>
          </a:xfrm>
          <a:prstGeom prst="rect">
            <a:avLst/>
          </a:prstGeom>
          <a:noFill/>
        </p:spPr>
        <p:txBody>
          <a:bodyPr wrap="square">
            <a:spAutoFit/>
          </a:bodyPr>
          <a:lstStyle/>
          <a:p>
            <a:pPr algn="ctr"/>
            <a:r>
              <a:rPr lang="ja-JP" altLang="en-US" sz="1600" b="1" dirty="0">
                <a:solidFill>
                  <a:schemeClr val="bg2">
                    <a:lumMod val="25000"/>
                  </a:schemeClr>
                </a:solidFill>
                <a:latin typeface="+mn-ea"/>
              </a:rPr>
              <a:t>最終判定</a:t>
            </a:r>
            <a:endParaRPr lang="en-US" altLang="ja-JP" sz="1600" b="1" dirty="0">
              <a:solidFill>
                <a:schemeClr val="bg2">
                  <a:lumMod val="25000"/>
                </a:schemeClr>
              </a:solidFill>
              <a:latin typeface="+mn-ea"/>
            </a:endParaRPr>
          </a:p>
          <a:p>
            <a:pPr algn="ctr"/>
            <a:r>
              <a:rPr lang="ja-JP" altLang="en-US" sz="1200" dirty="0">
                <a:solidFill>
                  <a:srgbClr val="2A3442"/>
                </a:solidFill>
                <a:latin typeface="+mn-ea"/>
              </a:rPr>
              <a:t>使用可能か判定する</a:t>
            </a:r>
          </a:p>
        </p:txBody>
      </p:sp>
      <p:pic>
        <p:nvPicPr>
          <p:cNvPr id="40" name="グラフィックス 39" descr="ベン図 枠線">
            <a:extLst>
              <a:ext uri="{FF2B5EF4-FFF2-40B4-BE49-F238E27FC236}">
                <a16:creationId xmlns:a16="http://schemas.microsoft.com/office/drawing/2014/main" id="{78C21427-6723-C844-3733-36CE265F5F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188703" y="2674637"/>
            <a:ext cx="587608" cy="587608"/>
          </a:xfrm>
          <a:prstGeom prst="rect">
            <a:avLst/>
          </a:prstGeom>
        </p:spPr>
      </p:pic>
      <p:pic>
        <p:nvPicPr>
          <p:cNvPr id="42" name="グラフィックス 41" descr="チェックマークを付けたチェック ボックス 枠線">
            <a:extLst>
              <a:ext uri="{FF2B5EF4-FFF2-40B4-BE49-F238E27FC236}">
                <a16:creationId xmlns:a16="http://schemas.microsoft.com/office/drawing/2014/main" id="{29AB6453-298C-8C95-2F19-CEAD2FF480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9629" y="1332391"/>
            <a:ext cx="587608" cy="587608"/>
          </a:xfrm>
          <a:prstGeom prst="rect">
            <a:avLst/>
          </a:prstGeom>
        </p:spPr>
      </p:pic>
      <p:pic>
        <p:nvPicPr>
          <p:cNvPr id="44" name="グラフィックス 43" descr="人工知能 枠線">
            <a:extLst>
              <a:ext uri="{FF2B5EF4-FFF2-40B4-BE49-F238E27FC236}">
                <a16:creationId xmlns:a16="http://schemas.microsoft.com/office/drawing/2014/main" id="{8319BA1C-4DD6-5522-90AF-A4D69B202EF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88703" y="2004870"/>
            <a:ext cx="587607" cy="587607"/>
          </a:xfrm>
          <a:prstGeom prst="rect">
            <a:avLst/>
          </a:prstGeom>
        </p:spPr>
      </p:pic>
      <p:sp>
        <p:nvSpPr>
          <p:cNvPr id="46" name="テキスト ボックス 45">
            <a:extLst>
              <a:ext uri="{FF2B5EF4-FFF2-40B4-BE49-F238E27FC236}">
                <a16:creationId xmlns:a16="http://schemas.microsoft.com/office/drawing/2014/main" id="{B8AF2C1A-6094-43C2-C5E5-04578C567DB0}"/>
              </a:ext>
            </a:extLst>
          </p:cNvPr>
          <p:cNvSpPr txBox="1"/>
          <p:nvPr/>
        </p:nvSpPr>
        <p:spPr>
          <a:xfrm>
            <a:off x="5776310" y="1389377"/>
            <a:ext cx="1118721" cy="2154436"/>
          </a:xfrm>
          <a:prstGeom prst="rect">
            <a:avLst/>
          </a:prstGeom>
          <a:noFill/>
        </p:spPr>
        <p:txBody>
          <a:bodyPr wrap="square" rtlCol="0">
            <a:spAutoFit/>
          </a:bodyPr>
          <a:lstStyle/>
          <a:p>
            <a:r>
              <a:rPr kumimoji="1" lang="en-US" altLang="ja-JP" sz="1600" dirty="0"/>
              <a:t>Python</a:t>
            </a:r>
          </a:p>
          <a:p>
            <a:r>
              <a:rPr lang="ja-JP" altLang="en-US" sz="1200" dirty="0"/>
              <a:t>形式的評価</a:t>
            </a:r>
            <a:endParaRPr lang="en-US" altLang="ja-JP" sz="1200" dirty="0"/>
          </a:p>
          <a:p>
            <a:endParaRPr lang="en-US" altLang="ja-JP" sz="1600" dirty="0"/>
          </a:p>
          <a:p>
            <a:r>
              <a:rPr kumimoji="1" lang="en-US" altLang="ja-JP" sz="1600" dirty="0"/>
              <a:t>LLM</a:t>
            </a:r>
          </a:p>
          <a:p>
            <a:r>
              <a:rPr lang="ja-JP" altLang="en-US" sz="1200" dirty="0"/>
              <a:t>意味的評価</a:t>
            </a:r>
            <a:endParaRPr kumimoji="1" lang="en-US" altLang="ja-JP" sz="1200" dirty="0"/>
          </a:p>
          <a:p>
            <a:endParaRPr lang="en-US" altLang="ja-JP" sz="1600" dirty="0"/>
          </a:p>
          <a:p>
            <a:r>
              <a:rPr kumimoji="1" lang="en-US" altLang="ja-JP" sz="1600" dirty="0"/>
              <a:t>Embedding</a:t>
            </a:r>
          </a:p>
          <a:p>
            <a:r>
              <a:rPr lang="ja-JP" altLang="en-US" sz="1200" dirty="0"/>
              <a:t>類似度評価</a:t>
            </a:r>
            <a:endParaRPr lang="en-US" altLang="ja-JP" sz="1200" dirty="0"/>
          </a:p>
          <a:p>
            <a:endParaRPr kumimoji="1" lang="en-US" altLang="ja-JP" sz="1600" dirty="0"/>
          </a:p>
        </p:txBody>
      </p:sp>
      <p:sp>
        <p:nvSpPr>
          <p:cNvPr id="47" name="コンテンツ プレースホルダー 3">
            <a:extLst>
              <a:ext uri="{FF2B5EF4-FFF2-40B4-BE49-F238E27FC236}">
                <a16:creationId xmlns:a16="http://schemas.microsoft.com/office/drawing/2014/main" id="{50CA2A1E-7700-E30E-D8B1-9B03D93BF953}"/>
              </a:ext>
            </a:extLst>
          </p:cNvPr>
          <p:cNvSpPr>
            <a:spLocks noGrp="1"/>
          </p:cNvSpPr>
          <p:nvPr>
            <p:ph idx="1"/>
          </p:nvPr>
        </p:nvSpPr>
        <p:spPr>
          <a:xfrm>
            <a:off x="838199" y="4698424"/>
            <a:ext cx="10515601" cy="827185"/>
          </a:xfrm>
        </p:spPr>
        <p:txBody>
          <a:bodyPr numCol="1">
            <a:normAutofit/>
          </a:bodyPr>
          <a:lstStyle/>
          <a:p>
            <a:pPr marL="0" indent="0">
              <a:buNone/>
            </a:pPr>
            <a:r>
              <a:rPr lang="ja-JP" altLang="en-US" b="1" dirty="0"/>
              <a:t>評価方法</a:t>
            </a:r>
            <a:endParaRPr lang="en-US" altLang="ja-JP" b="1" dirty="0"/>
          </a:p>
          <a:p>
            <a:pPr marL="457200" lvl="1" indent="0">
              <a:buNone/>
            </a:pPr>
            <a:r>
              <a:rPr lang="ja-JP" altLang="en-US" dirty="0"/>
              <a:t>研究手法②と同じく</a:t>
            </a:r>
            <a:r>
              <a:rPr lang="en-US" altLang="ja-JP" dirty="0"/>
              <a:t>3</a:t>
            </a:r>
            <a:r>
              <a:rPr lang="ja-JP" altLang="en-US" dirty="0"/>
              <a:t>つの手法を組み合わせた評価方法により最終判定を行う</a:t>
            </a:r>
            <a:endParaRPr lang="en-US" altLang="ja-JP" dirty="0"/>
          </a:p>
          <a:p>
            <a:pPr marL="457200" lvl="1" indent="0">
              <a:buNone/>
            </a:pPr>
            <a:endParaRPr lang="en-US" altLang="ja-JP" dirty="0"/>
          </a:p>
          <a:p>
            <a:endParaRPr lang="en-US" altLang="ja-JP" dirty="0"/>
          </a:p>
        </p:txBody>
      </p:sp>
      <p:sp>
        <p:nvSpPr>
          <p:cNvPr id="11" name="タイトル 1">
            <a:extLst>
              <a:ext uri="{FF2B5EF4-FFF2-40B4-BE49-F238E27FC236}">
                <a16:creationId xmlns:a16="http://schemas.microsoft.com/office/drawing/2014/main" id="{1DE3A593-A889-AE73-3082-9EABF403E82D}"/>
              </a:ext>
            </a:extLst>
          </p:cNvPr>
          <p:cNvSpPr>
            <a:spLocks noGrp="1"/>
          </p:cNvSpPr>
          <p:nvPr>
            <p:ph type="title"/>
          </p:nvPr>
        </p:nvSpPr>
        <p:spPr>
          <a:xfrm>
            <a:off x="838200" y="419100"/>
            <a:ext cx="10515600" cy="546100"/>
          </a:xfrm>
        </p:spPr>
        <p:txBody>
          <a:bodyPr/>
          <a:lstStyle/>
          <a:p>
            <a:r>
              <a:rPr lang="ja-JP" altLang="en-US" dirty="0"/>
              <a:t>研究手法③：問題生成</a:t>
            </a:r>
            <a:r>
              <a:rPr lang="en-US" altLang="ja-JP" dirty="0"/>
              <a:t>LLM</a:t>
            </a:r>
            <a:r>
              <a:rPr lang="ja-JP" altLang="en-US" dirty="0"/>
              <a:t>の学習・評価</a:t>
            </a:r>
            <a:endParaRPr kumimoji="1" lang="ja-JP" altLang="en-US" dirty="0"/>
          </a:p>
        </p:txBody>
      </p:sp>
      <p:sp>
        <p:nvSpPr>
          <p:cNvPr id="15" name="四角形: 角を丸くする 14">
            <a:extLst>
              <a:ext uri="{FF2B5EF4-FFF2-40B4-BE49-F238E27FC236}">
                <a16:creationId xmlns:a16="http://schemas.microsoft.com/office/drawing/2014/main" id="{F81E6151-BDB9-474E-9575-EF71F6F9891E}"/>
              </a:ext>
            </a:extLst>
          </p:cNvPr>
          <p:cNvSpPr/>
          <p:nvPr/>
        </p:nvSpPr>
        <p:spPr>
          <a:xfrm>
            <a:off x="10693400" y="117845"/>
            <a:ext cx="736600" cy="836243"/>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 18">
            <a:extLst>
              <a:ext uri="{FF2B5EF4-FFF2-40B4-BE49-F238E27FC236}">
                <a16:creationId xmlns:a16="http://schemas.microsoft.com/office/drawing/2014/main" id="{B1783D83-9FF4-4EE7-975D-FEBBBA4152BD}"/>
              </a:ext>
            </a:extLst>
          </p:cNvPr>
          <p:cNvPicPr>
            <a:picLocks noChangeAspect="1"/>
          </p:cNvPicPr>
          <p:nvPr/>
        </p:nvPicPr>
        <p:blipFill>
          <a:blip r:embed="rId6">
            <a:extLst>
              <a:ext uri="{28A0092B-C50C-407E-A947-70E740481C1C}">
                <a14:useLocalDpi xmlns:a14="http://schemas.microsoft.com/office/drawing/2010/main" val="0"/>
              </a:ext>
            </a:extLst>
          </a:blip>
          <a:srcRect l="-80" t="460" r="80" b="31826"/>
          <a:stretch>
            <a:fillRect/>
          </a:stretch>
        </p:blipFill>
        <p:spPr>
          <a:xfrm>
            <a:off x="7935913" y="115931"/>
            <a:ext cx="4252665" cy="849639"/>
          </a:xfrm>
          <a:prstGeom prst="rect">
            <a:avLst/>
          </a:prstGeom>
        </p:spPr>
      </p:pic>
      <p:sp>
        <p:nvSpPr>
          <p:cNvPr id="59" name="矢印: 右 58">
            <a:extLst>
              <a:ext uri="{FF2B5EF4-FFF2-40B4-BE49-F238E27FC236}">
                <a16:creationId xmlns:a16="http://schemas.microsoft.com/office/drawing/2014/main" id="{6DA98925-A448-4464-9A67-0C0FD72F4D19}"/>
              </a:ext>
            </a:extLst>
          </p:cNvPr>
          <p:cNvSpPr/>
          <p:nvPr/>
        </p:nvSpPr>
        <p:spPr>
          <a:xfrm>
            <a:off x="3702232" y="2174444"/>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右 60">
            <a:extLst>
              <a:ext uri="{FF2B5EF4-FFF2-40B4-BE49-F238E27FC236}">
                <a16:creationId xmlns:a16="http://schemas.microsoft.com/office/drawing/2014/main" id="{C925F906-348D-6F56-4B95-2E378B3F88B4}"/>
              </a:ext>
            </a:extLst>
          </p:cNvPr>
          <p:cNvSpPr/>
          <p:nvPr/>
        </p:nvSpPr>
        <p:spPr>
          <a:xfrm>
            <a:off x="7747363" y="2174444"/>
            <a:ext cx="346165" cy="5693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4544B902-20DF-0CB2-5D7B-68A7915CD947}"/>
              </a:ext>
            </a:extLst>
          </p:cNvPr>
          <p:cNvSpPr txBox="1"/>
          <p:nvPr/>
        </p:nvSpPr>
        <p:spPr>
          <a:xfrm>
            <a:off x="4842997" y="3528864"/>
            <a:ext cx="248521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rPr>
              <a:t>添削</a:t>
            </a:r>
            <a:endParaRPr kumimoji="1" lang="en-US" altLang="ja-JP" sz="1600" b="1" i="0" u="none" strike="noStrike" kern="1200" cap="none" spc="0" normalizeH="0" baseline="0" noProof="0" dirty="0">
              <a:ln>
                <a:noFill/>
              </a:ln>
              <a:solidFill>
                <a:srgbClr val="E7E6E6">
                  <a:lumMod val="25000"/>
                </a:srgbClr>
              </a:solidFill>
              <a:effectLst/>
              <a:uLnTx/>
              <a:uFillTx/>
              <a:latin typeface="メイリオ" panose="020B0604030504040204" pitchFamily="50" charset="-128"/>
              <a:ea typeface="メイリオ" panose="020B0604030504040204"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rPr>
              <a:t>Python</a:t>
            </a:r>
            <a:r>
              <a:rPr kumimoji="1" lang="ja-JP" altLang="en-US"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rPr>
              <a:t>・</a:t>
            </a:r>
            <a:r>
              <a:rPr kumimoji="1" lang="en-US" altLang="ja-JP"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rPr>
              <a:t>LLM</a:t>
            </a:r>
            <a:r>
              <a:rPr kumimoji="1" lang="ja-JP" altLang="en-US"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rPr>
              <a:t>・</a:t>
            </a:r>
            <a:r>
              <a:rPr kumimoji="1" lang="en-US" altLang="ja-JP"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rPr>
              <a:t>Embedding</a:t>
            </a:r>
            <a:endParaRPr kumimoji="1" lang="ja-JP" altLang="en-US" sz="1200" b="0" i="0" u="none" strike="noStrike" kern="1200" cap="none" spc="0" normalizeH="0" baseline="0" noProof="0" dirty="0">
              <a:ln>
                <a:noFill/>
              </a:ln>
              <a:solidFill>
                <a:srgbClr val="2A3442"/>
              </a:solidFill>
              <a:effectLst/>
              <a:uLnTx/>
              <a:uFillTx/>
              <a:latin typeface="メイリオ" panose="020B0604030504040204" pitchFamily="50" charset="-128"/>
              <a:ea typeface="メイリオ" panose="020B0604030504040204" pitchFamily="50" charset="-128"/>
              <a:cs typeface="+mn-cs"/>
            </a:endParaRPr>
          </a:p>
        </p:txBody>
      </p:sp>
      <p:pic>
        <p:nvPicPr>
          <p:cNvPr id="73" name="グラフィックス 72" descr="リスト 枠線">
            <a:extLst>
              <a:ext uri="{FF2B5EF4-FFF2-40B4-BE49-F238E27FC236}">
                <a16:creationId xmlns:a16="http://schemas.microsoft.com/office/drawing/2014/main" id="{E09E8036-7E88-69B3-DCAD-1E4DA852B89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965468" y="2004870"/>
            <a:ext cx="990894" cy="990894"/>
          </a:xfrm>
          <a:prstGeom prst="rect">
            <a:avLst/>
          </a:prstGeom>
        </p:spPr>
      </p:pic>
      <p:pic>
        <p:nvPicPr>
          <p:cNvPr id="75" name="グラフィックス 74" descr="リスト 枠線">
            <a:extLst>
              <a:ext uri="{FF2B5EF4-FFF2-40B4-BE49-F238E27FC236}">
                <a16:creationId xmlns:a16="http://schemas.microsoft.com/office/drawing/2014/main" id="{39F20630-FC54-F809-C582-4D03866BAFF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93656" y="1919999"/>
            <a:ext cx="990894" cy="990894"/>
          </a:xfrm>
          <a:prstGeom prst="rect">
            <a:avLst/>
          </a:prstGeom>
        </p:spPr>
      </p:pic>
      <p:sp>
        <p:nvSpPr>
          <p:cNvPr id="76" name="乗算記号 75">
            <a:extLst>
              <a:ext uri="{FF2B5EF4-FFF2-40B4-BE49-F238E27FC236}">
                <a16:creationId xmlns:a16="http://schemas.microsoft.com/office/drawing/2014/main" id="{716C3A6B-40B4-6C81-021B-F84EE7D4119D}"/>
              </a:ext>
            </a:extLst>
          </p:cNvPr>
          <p:cNvSpPr/>
          <p:nvPr/>
        </p:nvSpPr>
        <p:spPr>
          <a:xfrm>
            <a:off x="10105233" y="2238354"/>
            <a:ext cx="220134" cy="226615"/>
          </a:xfrm>
          <a:prstGeom prst="mathMultiply">
            <a:avLst>
              <a:gd name="adj1" fmla="val 5353"/>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C9B26399-372F-8759-AAD4-E7F093D1BF09}"/>
              </a:ext>
            </a:extLst>
          </p:cNvPr>
          <p:cNvSpPr/>
          <p:nvPr/>
        </p:nvSpPr>
        <p:spPr>
          <a:xfrm>
            <a:off x="10144875" y="2102407"/>
            <a:ext cx="140850" cy="1440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楕円 78">
            <a:extLst>
              <a:ext uri="{FF2B5EF4-FFF2-40B4-BE49-F238E27FC236}">
                <a16:creationId xmlns:a16="http://schemas.microsoft.com/office/drawing/2014/main" id="{C02A620E-B0D6-BEF6-E508-CDB8C271A31D}"/>
              </a:ext>
            </a:extLst>
          </p:cNvPr>
          <p:cNvSpPr/>
          <p:nvPr/>
        </p:nvSpPr>
        <p:spPr>
          <a:xfrm>
            <a:off x="10144875" y="2439220"/>
            <a:ext cx="140850" cy="1440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楕円 80">
            <a:extLst>
              <a:ext uri="{FF2B5EF4-FFF2-40B4-BE49-F238E27FC236}">
                <a16:creationId xmlns:a16="http://schemas.microsoft.com/office/drawing/2014/main" id="{F3F020B5-5C4B-F51D-724F-E6E464ADC775}"/>
              </a:ext>
            </a:extLst>
          </p:cNvPr>
          <p:cNvSpPr/>
          <p:nvPr/>
        </p:nvSpPr>
        <p:spPr>
          <a:xfrm>
            <a:off x="10144875" y="2610407"/>
            <a:ext cx="140850" cy="14407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コンテンツ プレースホルダー 3">
            <a:extLst>
              <a:ext uri="{FF2B5EF4-FFF2-40B4-BE49-F238E27FC236}">
                <a16:creationId xmlns:a16="http://schemas.microsoft.com/office/drawing/2014/main" id="{83BFB009-3057-0DE9-51E7-C872A97925C7}"/>
              </a:ext>
            </a:extLst>
          </p:cNvPr>
          <p:cNvSpPr txBox="1">
            <a:spLocks/>
          </p:cNvSpPr>
          <p:nvPr/>
        </p:nvSpPr>
        <p:spPr>
          <a:xfrm>
            <a:off x="2161217" y="5405755"/>
            <a:ext cx="8348906" cy="1452245"/>
          </a:xfrm>
          <a:prstGeom prst="rect">
            <a:avLst/>
          </a:prstGeom>
        </p:spPr>
        <p:txBody>
          <a:bodyPr vert="horz" lIns="91440" tIns="45720" rIns="91440" bIns="45720" numCol="3" rtlCol="0">
            <a:noAutofit/>
          </a:bodyPr>
          <a:lstStyle>
            <a:lvl1pPr marL="342900" indent="-342900" algn="l" defTabSz="914400" rtl="0" eaLnBrk="1" latinLnBrk="0" hangingPunct="1">
              <a:lnSpc>
                <a:spcPct val="110000"/>
              </a:lnSpc>
              <a:spcBef>
                <a:spcPts val="1000"/>
              </a:spcBef>
              <a:buFont typeface="Wingdings" panose="05000000000000000000" pitchFamily="2" charset="2"/>
              <a:buChar char="u"/>
              <a:defRPr kumimoji="1" sz="2000" kern="1200">
                <a:solidFill>
                  <a:schemeClr val="tx1"/>
                </a:solidFill>
                <a:latin typeface="+mn-ea"/>
                <a:ea typeface="+mn-ea"/>
                <a:cs typeface="+mn-cs"/>
              </a:defRPr>
            </a:lvl1pPr>
            <a:lvl2pPr marL="800100" indent="-342900" algn="l" defTabSz="914400" rtl="0" eaLnBrk="1" latinLnBrk="0" hangingPunct="1">
              <a:lnSpc>
                <a:spcPct val="110000"/>
              </a:lnSpc>
              <a:spcBef>
                <a:spcPts val="500"/>
              </a:spcBef>
              <a:buFont typeface="Wingdings" panose="05000000000000000000" pitchFamily="2" charset="2"/>
              <a:buChar char="u"/>
              <a:defRPr kumimoji="1" sz="1800" kern="1200">
                <a:solidFill>
                  <a:schemeClr val="tx1"/>
                </a:solidFill>
                <a:latin typeface="+mn-ea"/>
                <a:ea typeface="+mn-ea"/>
                <a:cs typeface="+mn-cs"/>
              </a:defRPr>
            </a:lvl2pPr>
            <a:lvl3pPr marL="1200150" indent="-285750" algn="l" defTabSz="914400" rtl="0" eaLnBrk="1" latinLnBrk="0" hangingPunct="1">
              <a:lnSpc>
                <a:spcPct val="110000"/>
              </a:lnSpc>
              <a:spcBef>
                <a:spcPts val="500"/>
              </a:spcBef>
              <a:buFont typeface="Wingdings" panose="05000000000000000000" pitchFamily="2" charset="2"/>
              <a:buChar char="u"/>
              <a:defRPr kumimoji="1" sz="1600" kern="1200">
                <a:solidFill>
                  <a:schemeClr val="tx1"/>
                </a:solidFill>
                <a:latin typeface="+mn-ea"/>
                <a:ea typeface="+mn-ea"/>
                <a:cs typeface="+mn-cs"/>
              </a:defRPr>
            </a:lvl3pPr>
            <a:lvl4pPr marL="16573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4pPr>
            <a:lvl5pPr marL="21145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u="sng" dirty="0">
                <a:latin typeface="+mn-lt"/>
              </a:rPr>
              <a:t>Python</a:t>
            </a:r>
          </a:p>
          <a:p>
            <a:pPr marL="0" indent="0">
              <a:spcAft>
                <a:spcPts val="200"/>
              </a:spcAft>
              <a:buNone/>
              <a:defRPr sz="1300" b="0" i="0">
                <a:solidFill>
                  <a:srgbClr val="2A3442"/>
                </a:solidFill>
                <a:latin typeface="Yu Gothic"/>
              </a:defRPr>
            </a:pPr>
            <a:r>
              <a:rPr lang="ja-JP" altLang="en-US" sz="1200" dirty="0"/>
              <a:t>生成結果が空でないか</a:t>
            </a:r>
          </a:p>
          <a:p>
            <a:pPr marL="0" indent="0">
              <a:spcAft>
                <a:spcPts val="200"/>
              </a:spcAft>
              <a:buNone/>
              <a:defRPr sz="1300" b="0" i="0">
                <a:solidFill>
                  <a:srgbClr val="2A3442"/>
                </a:solidFill>
                <a:latin typeface="Yu Gothic"/>
              </a:defRPr>
            </a:pPr>
            <a:r>
              <a:rPr lang="ja-JP" altLang="en-US" sz="1200" dirty="0"/>
              <a:t>選択肢の文字数に差があるか</a:t>
            </a:r>
          </a:p>
          <a:p>
            <a:pPr marL="0" indent="0">
              <a:spcAft>
                <a:spcPts val="200"/>
              </a:spcAft>
              <a:buNone/>
              <a:defRPr sz="1300" b="0" i="0">
                <a:solidFill>
                  <a:srgbClr val="2A3442"/>
                </a:solidFill>
                <a:latin typeface="Yu Gothic"/>
              </a:defRPr>
            </a:pPr>
            <a:r>
              <a:rPr lang="ja-JP" altLang="en-US" sz="1200" dirty="0"/>
              <a:t>日本語が出力されているか</a:t>
            </a:r>
            <a:endParaRPr lang="en-US" altLang="ja-JP" sz="1200" dirty="0"/>
          </a:p>
          <a:p>
            <a:pPr marL="0" indent="0">
              <a:spcAft>
                <a:spcPts val="200"/>
              </a:spcAft>
              <a:buNone/>
              <a:defRPr sz="1300" b="0" i="0">
                <a:solidFill>
                  <a:srgbClr val="2A3442"/>
                </a:solidFill>
                <a:latin typeface="Yu Gothic"/>
              </a:defRPr>
            </a:pPr>
            <a:r>
              <a:rPr lang="en-US" altLang="ja-JP" sz="1600" u="sng" dirty="0">
                <a:latin typeface="+mn-lt"/>
              </a:rPr>
              <a:t>LLM</a:t>
            </a:r>
          </a:p>
          <a:p>
            <a:pPr marL="0" indent="0">
              <a:spcAft>
                <a:spcPts val="200"/>
              </a:spcAft>
              <a:buNone/>
              <a:defRPr sz="1300" b="0" i="0">
                <a:solidFill>
                  <a:srgbClr val="2A3442"/>
                </a:solidFill>
                <a:latin typeface="Yu Gothic"/>
              </a:defRPr>
            </a:pPr>
            <a:r>
              <a:rPr lang="ja-JP" altLang="en-US" sz="1200" dirty="0"/>
              <a:t>問題文が自然か</a:t>
            </a:r>
          </a:p>
          <a:p>
            <a:pPr marL="0" indent="0">
              <a:spcAft>
                <a:spcPts val="200"/>
              </a:spcAft>
              <a:buNone/>
              <a:defRPr sz="1300" b="0" i="0">
                <a:solidFill>
                  <a:srgbClr val="2A3442"/>
                </a:solidFill>
                <a:latin typeface="Yu Gothic"/>
              </a:defRPr>
            </a:pPr>
            <a:r>
              <a:rPr lang="ja-JP" altLang="en-US" sz="1200" dirty="0"/>
              <a:t>内容に誤りがないか</a:t>
            </a:r>
            <a:endParaRPr lang="en-US" altLang="ja-JP" sz="1200" dirty="0"/>
          </a:p>
          <a:p>
            <a:pPr marL="0" indent="0">
              <a:spcAft>
                <a:spcPts val="200"/>
              </a:spcAft>
              <a:buNone/>
              <a:defRPr sz="1300" b="0" i="0">
                <a:solidFill>
                  <a:srgbClr val="2A3442"/>
                </a:solidFill>
                <a:latin typeface="Yu Gothic"/>
              </a:defRPr>
            </a:pPr>
            <a:r>
              <a:rPr lang="ja-JP" altLang="en-US" sz="1200" dirty="0"/>
              <a:t>正解・解説が妥当か</a:t>
            </a:r>
            <a:endParaRPr lang="en-US" altLang="ja-JP" sz="1200" dirty="0"/>
          </a:p>
          <a:p>
            <a:pPr marL="0" indent="0">
              <a:spcAft>
                <a:spcPts val="200"/>
              </a:spcAft>
              <a:buNone/>
              <a:defRPr sz="1300" b="0" i="0">
                <a:solidFill>
                  <a:srgbClr val="2A3442"/>
                </a:solidFill>
                <a:latin typeface="Yu Gothic"/>
              </a:defRPr>
            </a:pPr>
            <a:r>
              <a:rPr lang="en-US" altLang="ja-JP" sz="1600" u="sng" dirty="0">
                <a:latin typeface="+mn-lt"/>
              </a:rPr>
              <a:t>Embedding</a:t>
            </a:r>
          </a:p>
          <a:p>
            <a:pPr marL="0" indent="0">
              <a:spcAft>
                <a:spcPts val="200"/>
              </a:spcAft>
              <a:buNone/>
              <a:defRPr sz="1300" b="0" i="0">
                <a:solidFill>
                  <a:srgbClr val="2A3442"/>
                </a:solidFill>
                <a:latin typeface="Yu Gothic"/>
              </a:defRPr>
            </a:pPr>
            <a:r>
              <a:rPr lang="en-US" altLang="ja-JP" sz="1200" dirty="0">
                <a:latin typeface="+mn-lt"/>
              </a:rPr>
              <a:t>Sentence-BERT</a:t>
            </a:r>
            <a:r>
              <a:rPr lang="ja-JP" altLang="en-US" sz="1200" dirty="0"/>
              <a:t>で文章をベクトル化</a:t>
            </a:r>
          </a:p>
          <a:p>
            <a:pPr marL="0" indent="0">
              <a:spcAft>
                <a:spcPts val="200"/>
              </a:spcAft>
              <a:buNone/>
              <a:defRPr sz="1300" b="0" i="0">
                <a:solidFill>
                  <a:srgbClr val="2A3442"/>
                </a:solidFill>
                <a:latin typeface="Yu Gothic"/>
              </a:defRPr>
            </a:pPr>
            <a:r>
              <a:rPr lang="ja-JP" altLang="en-US" sz="1200" dirty="0"/>
              <a:t>要約と問題文の類似度を計算</a:t>
            </a:r>
            <a:endParaRPr lang="en-US" altLang="ja-JP" sz="1200" dirty="0"/>
          </a:p>
          <a:p>
            <a:pPr marL="0" indent="0">
              <a:spcAft>
                <a:spcPts val="200"/>
              </a:spcAft>
              <a:buNone/>
              <a:defRPr sz="1300" b="0" i="0">
                <a:solidFill>
                  <a:srgbClr val="2A3442"/>
                </a:solidFill>
                <a:latin typeface="Yu Gothic"/>
              </a:defRPr>
            </a:pPr>
            <a:r>
              <a:rPr lang="ja-JP" altLang="en-US" sz="1200" dirty="0"/>
              <a:t>閾値</a:t>
            </a:r>
            <a:r>
              <a:rPr lang="en-US" altLang="ja-JP" sz="1200" dirty="0"/>
              <a:t>0.6</a:t>
            </a:r>
            <a:r>
              <a:rPr lang="ja-JP" altLang="en-US" sz="1200" dirty="0"/>
              <a:t>以上を基準として検討</a:t>
            </a:r>
          </a:p>
        </p:txBody>
      </p:sp>
      <p:sp>
        <p:nvSpPr>
          <p:cNvPr id="2" name="乗算記号 1">
            <a:extLst>
              <a:ext uri="{FF2B5EF4-FFF2-40B4-BE49-F238E27FC236}">
                <a16:creationId xmlns:a16="http://schemas.microsoft.com/office/drawing/2014/main" id="{5FB79140-47CA-233A-9357-2E135A0D4328}"/>
              </a:ext>
            </a:extLst>
          </p:cNvPr>
          <p:cNvSpPr/>
          <p:nvPr/>
        </p:nvSpPr>
        <p:spPr>
          <a:xfrm>
            <a:off x="4349065" y="5922913"/>
            <a:ext cx="371475" cy="417927"/>
          </a:xfrm>
          <a:prstGeom prst="mathMultiply">
            <a:avLst>
              <a:gd name="adj1" fmla="val 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乗算記号 4">
            <a:extLst>
              <a:ext uri="{FF2B5EF4-FFF2-40B4-BE49-F238E27FC236}">
                <a16:creationId xmlns:a16="http://schemas.microsoft.com/office/drawing/2014/main" id="{92ABEF94-68E9-E17B-E948-F347185662F5}"/>
              </a:ext>
            </a:extLst>
          </p:cNvPr>
          <p:cNvSpPr/>
          <p:nvPr/>
        </p:nvSpPr>
        <p:spPr>
          <a:xfrm>
            <a:off x="6709293" y="5922913"/>
            <a:ext cx="371475" cy="417927"/>
          </a:xfrm>
          <a:prstGeom prst="mathMultiply">
            <a:avLst>
              <a:gd name="adj1" fmla="val 44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96300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61815A69-8362-73BE-065B-705371D66F1C}"/>
              </a:ext>
            </a:extLst>
          </p:cNvPr>
          <p:cNvSpPr>
            <a:spLocks noGrp="1"/>
          </p:cNvSpPr>
          <p:nvPr>
            <p:ph idx="1"/>
          </p:nvPr>
        </p:nvSpPr>
        <p:spPr>
          <a:xfrm>
            <a:off x="838199" y="1066800"/>
            <a:ext cx="10515601" cy="5372682"/>
          </a:xfrm>
        </p:spPr>
        <p:txBody>
          <a:bodyPr>
            <a:normAutofit/>
          </a:bodyPr>
          <a:lstStyle/>
          <a:p>
            <a:pPr marL="0" indent="0">
              <a:buNone/>
            </a:pPr>
            <a:r>
              <a:rPr lang="ja-JP" altLang="en-US" b="1" dirty="0"/>
              <a:t>単語からデータセットを作成</a:t>
            </a:r>
            <a:endParaRPr lang="en-US" altLang="ja-JP" b="1" dirty="0"/>
          </a:p>
          <a:p>
            <a:pPr marL="0" indent="0">
              <a:buNone/>
            </a:pPr>
            <a:endParaRPr lang="en-US" altLang="ja-JP" b="1" dirty="0"/>
          </a:p>
          <a:p>
            <a:pPr marL="457200" lvl="1" indent="0">
              <a:buNone/>
            </a:pPr>
            <a:r>
              <a:rPr lang="en-US" altLang="ja-JP" sz="2000" dirty="0"/>
              <a:t>Wikipedia API</a:t>
            </a:r>
            <a:r>
              <a:rPr lang="ja-JP" altLang="en-US" sz="2000" dirty="0"/>
              <a:t>と人力で基本情報技術者試験の新出単語データセット</a:t>
            </a:r>
            <a:r>
              <a:rPr lang="en-US" altLang="ja-JP" sz="2000" dirty="0"/>
              <a:t>251</a:t>
            </a:r>
            <a:r>
              <a:rPr lang="ja-JP" altLang="en-US" sz="2000" dirty="0"/>
              <a:t>語を作成</a:t>
            </a:r>
            <a:endParaRPr lang="en-US" altLang="ja-JP" sz="2000" dirty="0"/>
          </a:p>
          <a:p>
            <a:pPr marL="457200" lvl="1" indent="0" algn="ctr">
              <a:buNone/>
            </a:pPr>
            <a:r>
              <a:rPr lang="ja-JP" altLang="en-US" sz="2000" dirty="0"/>
              <a:t>自動抽出</a:t>
            </a:r>
            <a:r>
              <a:rPr lang="en-US" altLang="ja-JP" sz="2000" dirty="0"/>
              <a:t>156</a:t>
            </a:r>
            <a:r>
              <a:rPr lang="ja-JP" altLang="en-US" sz="2000" dirty="0"/>
              <a:t>語</a:t>
            </a:r>
            <a:r>
              <a:rPr lang="en-US" altLang="ja-JP" sz="2000" dirty="0"/>
              <a:t>(62.1%)</a:t>
            </a:r>
            <a:r>
              <a:rPr lang="ja-JP" altLang="en-US" sz="2000" dirty="0"/>
              <a:t>　手動抽出</a:t>
            </a:r>
            <a:r>
              <a:rPr lang="en-US" altLang="ja-JP" sz="2000" dirty="0"/>
              <a:t>95</a:t>
            </a:r>
            <a:r>
              <a:rPr lang="ja-JP" altLang="en-US" sz="2000" dirty="0"/>
              <a:t>語</a:t>
            </a:r>
            <a:r>
              <a:rPr lang="en-US" altLang="ja-JP" sz="2000" dirty="0"/>
              <a:t>(37.8%)</a:t>
            </a:r>
          </a:p>
          <a:p>
            <a:pPr marL="457200" lvl="1" indent="0">
              <a:buNone/>
            </a:pPr>
            <a:endParaRPr lang="en-US" altLang="ja-JP" sz="2000" dirty="0"/>
          </a:p>
          <a:p>
            <a:pPr marL="457200" lvl="1" indent="0">
              <a:buNone/>
            </a:pPr>
            <a:endParaRPr lang="en-US" altLang="ja-JP" sz="2000" dirty="0"/>
          </a:p>
          <a:p>
            <a:pPr marL="0" indent="0">
              <a:buNone/>
            </a:pPr>
            <a:r>
              <a:rPr lang="ja-JP" altLang="en-US" sz="2200" b="1" dirty="0"/>
              <a:t>課題</a:t>
            </a:r>
            <a:endParaRPr lang="en-US" altLang="ja-JP" sz="2200" b="1" dirty="0"/>
          </a:p>
          <a:p>
            <a:pPr marL="457200" lvl="1" indent="0">
              <a:buNone/>
            </a:pPr>
            <a:endParaRPr lang="en-US" altLang="ja-JP" sz="2000" b="1" dirty="0"/>
          </a:p>
          <a:p>
            <a:pPr marL="914400" lvl="1" indent="-457200">
              <a:buFont typeface="+mj-lt"/>
              <a:buAutoNum type="arabicPeriod"/>
            </a:pPr>
            <a:r>
              <a:rPr lang="ja-JP" altLang="en-US" sz="2000" dirty="0"/>
              <a:t>知識収集・整理を</a:t>
            </a:r>
            <a:r>
              <a:rPr lang="ja-JP" altLang="en-US" sz="2000" dirty="0">
                <a:solidFill>
                  <a:schemeClr val="accent5">
                    <a:lumMod val="75000"/>
                  </a:schemeClr>
                </a:solidFill>
              </a:rPr>
              <a:t>自動化</a:t>
            </a:r>
            <a:r>
              <a:rPr lang="ja-JP" altLang="en-US" sz="2000" dirty="0"/>
              <a:t>する</a:t>
            </a:r>
            <a:endParaRPr lang="en-US" altLang="ja-JP" sz="2000" dirty="0"/>
          </a:p>
          <a:p>
            <a:pPr marL="914400" lvl="1" indent="-457200">
              <a:buFont typeface="+mj-lt"/>
              <a:buAutoNum type="arabicPeriod"/>
            </a:pPr>
            <a:r>
              <a:rPr lang="ja-JP" altLang="en-US" sz="2000" dirty="0">
                <a:solidFill>
                  <a:schemeClr val="accent5">
                    <a:lumMod val="75000"/>
                  </a:schemeClr>
                </a:solidFill>
              </a:rPr>
              <a:t>複数の知識源</a:t>
            </a:r>
            <a:r>
              <a:rPr lang="ja-JP" altLang="en-US" sz="2000" dirty="0"/>
              <a:t>を利用する方法を考える</a:t>
            </a:r>
            <a:endParaRPr lang="en-US" altLang="ja-JP" sz="2000" dirty="0"/>
          </a:p>
          <a:p>
            <a:pPr marL="457200" lvl="1" indent="0">
              <a:buNone/>
            </a:pPr>
            <a:endParaRPr lang="en-US" altLang="ja-JP" sz="2000" dirty="0"/>
          </a:p>
          <a:p>
            <a:endParaRPr kumimoji="1" lang="en-US" altLang="ja-JP" dirty="0"/>
          </a:p>
        </p:txBody>
      </p:sp>
      <p:sp>
        <p:nvSpPr>
          <p:cNvPr id="2" name="タイトル 1">
            <a:extLst>
              <a:ext uri="{FF2B5EF4-FFF2-40B4-BE49-F238E27FC236}">
                <a16:creationId xmlns:a16="http://schemas.microsoft.com/office/drawing/2014/main" id="{EFA707BE-F4D4-A790-9E55-CCA2024BB48E}"/>
              </a:ext>
            </a:extLst>
          </p:cNvPr>
          <p:cNvSpPr>
            <a:spLocks noGrp="1"/>
          </p:cNvSpPr>
          <p:nvPr>
            <p:ph type="title"/>
          </p:nvPr>
        </p:nvSpPr>
        <p:spPr/>
        <p:txBody>
          <a:bodyPr/>
          <a:lstStyle/>
          <a:p>
            <a:r>
              <a:rPr lang="ja-JP" altLang="en-US" dirty="0"/>
              <a:t>現状の成果①：新出単語データセット</a:t>
            </a:r>
            <a:endParaRPr kumimoji="1" lang="ja-JP" altLang="en-US" dirty="0"/>
          </a:p>
        </p:txBody>
      </p:sp>
      <p:sp>
        <p:nvSpPr>
          <p:cNvPr id="25" name="スライド番号プレースホルダー 24">
            <a:extLst>
              <a:ext uri="{FF2B5EF4-FFF2-40B4-BE49-F238E27FC236}">
                <a16:creationId xmlns:a16="http://schemas.microsoft.com/office/drawing/2014/main" id="{933721E6-7131-50FB-B448-26C269A1269B}"/>
              </a:ext>
            </a:extLst>
          </p:cNvPr>
          <p:cNvSpPr>
            <a:spLocks noGrp="1"/>
          </p:cNvSpPr>
          <p:nvPr>
            <p:ph type="sldNum" sz="quarter" idx="12"/>
          </p:nvPr>
        </p:nvSpPr>
        <p:spPr/>
        <p:txBody>
          <a:bodyPr/>
          <a:lstStyle/>
          <a:p>
            <a:fld id="{9FB99072-780F-43D9-B22B-8FACFE63800E}" type="slidenum">
              <a:rPr kumimoji="1" lang="ja-JP" altLang="en-US" smtClean="0"/>
              <a:t>13</a:t>
            </a:fld>
            <a:endParaRPr kumimoji="1" lang="ja-JP" altLang="en-US"/>
          </a:p>
        </p:txBody>
      </p:sp>
    </p:spTree>
    <p:extLst>
      <p:ext uri="{BB962C8B-B14F-4D97-AF65-F5344CB8AC3E}">
        <p14:creationId xmlns:p14="http://schemas.microsoft.com/office/powerpoint/2010/main" val="351326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32217F-2B29-86DD-BA2C-4883BA0FE3A4}"/>
              </a:ext>
            </a:extLst>
          </p:cNvPr>
          <p:cNvSpPr>
            <a:spLocks noGrp="1"/>
          </p:cNvSpPr>
          <p:nvPr>
            <p:ph type="title"/>
          </p:nvPr>
        </p:nvSpPr>
        <p:spPr/>
        <p:txBody>
          <a:bodyPr/>
          <a:lstStyle/>
          <a:p>
            <a:r>
              <a:rPr kumimoji="1" lang="ja-JP" altLang="en-US" dirty="0"/>
              <a:t>現状の成果</a:t>
            </a:r>
            <a:r>
              <a:rPr lang="ja-JP" altLang="en-US" dirty="0"/>
              <a:t>②：添削済み生成問題の収集</a:t>
            </a:r>
            <a:endParaRPr kumimoji="1" lang="ja-JP" altLang="en-US" dirty="0"/>
          </a:p>
        </p:txBody>
      </p:sp>
      <p:sp>
        <p:nvSpPr>
          <p:cNvPr id="4" name="コンテンツ プレースホルダー 3">
            <a:extLst>
              <a:ext uri="{FF2B5EF4-FFF2-40B4-BE49-F238E27FC236}">
                <a16:creationId xmlns:a16="http://schemas.microsoft.com/office/drawing/2014/main" id="{1CDB2A06-AFCD-D055-CDF1-F58A6C4F7EC7}"/>
              </a:ext>
            </a:extLst>
          </p:cNvPr>
          <p:cNvSpPr>
            <a:spLocks noGrp="1"/>
          </p:cNvSpPr>
          <p:nvPr>
            <p:ph idx="1"/>
          </p:nvPr>
        </p:nvSpPr>
        <p:spPr/>
        <p:txBody>
          <a:bodyPr/>
          <a:lstStyle/>
          <a:p>
            <a:pPr marL="0" indent="0">
              <a:buNone/>
            </a:pPr>
            <a:r>
              <a:rPr lang="ja-JP" altLang="en-US" b="1" dirty="0"/>
              <a:t>問題生成</a:t>
            </a:r>
            <a:endParaRPr lang="en-US" altLang="ja-JP" b="1" dirty="0"/>
          </a:p>
          <a:p>
            <a:pPr marL="457200" lvl="1" indent="0">
              <a:buNone/>
            </a:pPr>
            <a:r>
              <a:rPr lang="ja-JP" altLang="en-US" b="1" dirty="0">
                <a:solidFill>
                  <a:schemeClr val="accent5">
                    <a:lumMod val="75000"/>
                  </a:schemeClr>
                </a:solidFill>
              </a:rPr>
              <a:t>目標：</a:t>
            </a:r>
            <a:r>
              <a:rPr lang="en-US" altLang="ja-JP" b="1" dirty="0">
                <a:solidFill>
                  <a:schemeClr val="accent5">
                    <a:lumMod val="75000"/>
                  </a:schemeClr>
                </a:solidFill>
              </a:rPr>
              <a:t>200</a:t>
            </a:r>
            <a:r>
              <a:rPr lang="ja-JP" altLang="en-US" b="1" dirty="0">
                <a:solidFill>
                  <a:schemeClr val="accent5">
                    <a:lumMod val="75000"/>
                  </a:schemeClr>
                </a:solidFill>
              </a:rPr>
              <a:t>単語</a:t>
            </a:r>
            <a:r>
              <a:rPr lang="en-US" altLang="ja-JP" b="1" dirty="0">
                <a:solidFill>
                  <a:schemeClr val="accent5">
                    <a:lumMod val="75000"/>
                  </a:schemeClr>
                </a:solidFill>
              </a:rPr>
              <a:t>/</a:t>
            </a:r>
            <a:r>
              <a:rPr lang="ja-JP" altLang="en-US" b="1" dirty="0">
                <a:solidFill>
                  <a:schemeClr val="accent5">
                    <a:lumMod val="75000"/>
                  </a:schemeClr>
                </a:solidFill>
              </a:rPr>
              <a:t>現在：</a:t>
            </a:r>
            <a:r>
              <a:rPr lang="en-US" altLang="ja-JP" b="1" dirty="0">
                <a:solidFill>
                  <a:schemeClr val="accent5">
                    <a:lumMod val="75000"/>
                  </a:schemeClr>
                </a:solidFill>
              </a:rPr>
              <a:t>182</a:t>
            </a:r>
            <a:r>
              <a:rPr lang="ja-JP" altLang="en-US" b="1" dirty="0">
                <a:solidFill>
                  <a:schemeClr val="accent5">
                    <a:lumMod val="75000"/>
                  </a:schemeClr>
                </a:solidFill>
              </a:rPr>
              <a:t>単語</a:t>
            </a:r>
            <a:endParaRPr lang="en-US" altLang="ja-JP" b="1" dirty="0">
              <a:solidFill>
                <a:schemeClr val="accent5">
                  <a:lumMod val="75000"/>
                </a:schemeClr>
              </a:solidFill>
            </a:endParaRPr>
          </a:p>
          <a:p>
            <a:pPr marL="457200" lvl="1" indent="0">
              <a:buNone/>
            </a:pPr>
            <a:endParaRPr lang="en-US" altLang="ja-JP" dirty="0"/>
          </a:p>
          <a:p>
            <a:pPr marL="457200" lvl="1" indent="0">
              <a:buNone/>
            </a:pPr>
            <a:r>
              <a:rPr lang="ja-JP" altLang="en-US" dirty="0"/>
              <a:t>生成できた単語数の推移が</a:t>
            </a:r>
            <a:r>
              <a:rPr lang="ja-JP" altLang="en-US" dirty="0">
                <a:solidFill>
                  <a:schemeClr val="accent5">
                    <a:lumMod val="75000"/>
                  </a:schemeClr>
                </a:solidFill>
              </a:rPr>
              <a:t>停滞</a:t>
            </a:r>
            <a:r>
              <a:rPr lang="ja-JP" altLang="en-US" dirty="0"/>
              <a:t>気味</a:t>
            </a:r>
            <a:endParaRPr lang="en-US" altLang="ja-JP" dirty="0"/>
          </a:p>
          <a:p>
            <a:pPr marL="457200" lvl="1" indent="0">
              <a:buNone/>
            </a:pPr>
            <a:r>
              <a:rPr lang="ja-JP" altLang="en-US" dirty="0"/>
              <a:t>→モデルの影響があるまたは問題精査過程が厳しすぎる</a:t>
            </a:r>
            <a:endParaRPr lang="en-US" altLang="ja-JP" dirty="0"/>
          </a:p>
          <a:p>
            <a:pPr marL="457200" lvl="1" indent="0">
              <a:buNone/>
            </a:pPr>
            <a:endParaRPr lang="en-US" altLang="ja-JP" dirty="0"/>
          </a:p>
          <a:p>
            <a:pPr marL="457200" lvl="1" indent="0">
              <a:buNone/>
            </a:pPr>
            <a:r>
              <a:rPr lang="ja-JP" altLang="en-US" dirty="0"/>
              <a:t>基本情報技術者試験が制定する分類によって</a:t>
            </a:r>
            <a:endParaRPr lang="en-US" altLang="ja-JP" dirty="0"/>
          </a:p>
          <a:p>
            <a:pPr marL="457200" lvl="1" indent="0">
              <a:buNone/>
            </a:pPr>
            <a:r>
              <a:rPr lang="ja-JP" altLang="en-US" dirty="0">
                <a:solidFill>
                  <a:schemeClr val="accent5">
                    <a:lumMod val="75000"/>
                  </a:schemeClr>
                </a:solidFill>
              </a:rPr>
              <a:t>収集割合が異なる</a:t>
            </a:r>
            <a:endParaRPr lang="en-US" altLang="ja-JP" dirty="0">
              <a:solidFill>
                <a:schemeClr val="accent5">
                  <a:lumMod val="75000"/>
                </a:schemeClr>
              </a:solidFill>
            </a:endParaRPr>
          </a:p>
          <a:p>
            <a:pPr marL="457200" lvl="1" indent="0">
              <a:buNone/>
            </a:pPr>
            <a:r>
              <a:rPr lang="ja-JP" altLang="en-US" dirty="0"/>
              <a:t>→単語による問題生成難易度の違いがある</a:t>
            </a:r>
            <a:endParaRPr lang="en-US" altLang="ja-JP" dirty="0"/>
          </a:p>
        </p:txBody>
      </p:sp>
      <p:pic>
        <p:nvPicPr>
          <p:cNvPr id="7" name="図 6">
            <a:extLst>
              <a:ext uri="{FF2B5EF4-FFF2-40B4-BE49-F238E27FC236}">
                <a16:creationId xmlns:a16="http://schemas.microsoft.com/office/drawing/2014/main" id="{415B9D99-7B46-4E05-BFE3-0FB832D688E5}"/>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436725" y="3132849"/>
            <a:ext cx="5553094" cy="3292124"/>
          </a:xfrm>
          <a:prstGeom prst="rect">
            <a:avLst/>
          </a:prstGeom>
        </p:spPr>
      </p:pic>
      <p:pic>
        <p:nvPicPr>
          <p:cNvPr id="10" name="図 9">
            <a:extLst>
              <a:ext uri="{FF2B5EF4-FFF2-40B4-BE49-F238E27FC236}">
                <a16:creationId xmlns:a16="http://schemas.microsoft.com/office/drawing/2014/main" id="{43F4A956-3CCC-C62D-FAC0-1FBD28E8F49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53236" y="4933710"/>
            <a:ext cx="5442764" cy="1491263"/>
          </a:xfrm>
          <a:prstGeom prst="rect">
            <a:avLst/>
          </a:prstGeom>
        </p:spPr>
      </p:pic>
      <p:sp>
        <p:nvSpPr>
          <p:cNvPr id="3" name="スライド番号プレースホルダー 2">
            <a:extLst>
              <a:ext uri="{FF2B5EF4-FFF2-40B4-BE49-F238E27FC236}">
                <a16:creationId xmlns:a16="http://schemas.microsoft.com/office/drawing/2014/main" id="{7EFD207E-2DBA-74E3-0FE3-865AE9A8A66A}"/>
              </a:ext>
            </a:extLst>
          </p:cNvPr>
          <p:cNvSpPr>
            <a:spLocks noGrp="1"/>
          </p:cNvSpPr>
          <p:nvPr>
            <p:ph type="sldNum" sz="quarter" idx="12"/>
          </p:nvPr>
        </p:nvSpPr>
        <p:spPr/>
        <p:txBody>
          <a:bodyPr/>
          <a:lstStyle/>
          <a:p>
            <a:fld id="{9FB99072-780F-43D9-B22B-8FACFE63800E}" type="slidenum">
              <a:rPr kumimoji="1" lang="ja-JP" altLang="en-US" smtClean="0"/>
              <a:t>14</a:t>
            </a:fld>
            <a:endParaRPr kumimoji="1" lang="ja-JP" altLang="en-US"/>
          </a:p>
        </p:txBody>
      </p:sp>
    </p:spTree>
    <p:extLst>
      <p:ext uri="{BB962C8B-B14F-4D97-AF65-F5344CB8AC3E}">
        <p14:creationId xmlns:p14="http://schemas.microsoft.com/office/powerpoint/2010/main" val="18852579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CCD578-F1F5-7ADA-390E-288C7B637530}"/>
              </a:ext>
            </a:extLst>
          </p:cNvPr>
          <p:cNvSpPr>
            <a:spLocks noGrp="1"/>
          </p:cNvSpPr>
          <p:nvPr>
            <p:ph type="title"/>
          </p:nvPr>
        </p:nvSpPr>
        <p:spPr/>
        <p:txBody>
          <a:bodyPr/>
          <a:lstStyle/>
          <a:p>
            <a:r>
              <a:rPr kumimoji="1" lang="ja-JP" altLang="en-US" dirty="0"/>
              <a:t>現状の成果③：</a:t>
            </a:r>
            <a:r>
              <a:rPr lang="ja-JP" altLang="ja-JP" dirty="0"/>
              <a:t>ファインチューニングの評価計画</a:t>
            </a:r>
            <a:endParaRPr kumimoji="1" lang="ja-JP" altLang="en-US" dirty="0"/>
          </a:p>
        </p:txBody>
      </p:sp>
      <p:sp>
        <p:nvSpPr>
          <p:cNvPr id="4" name="コンテンツ プレースホルダー 3">
            <a:extLst>
              <a:ext uri="{FF2B5EF4-FFF2-40B4-BE49-F238E27FC236}">
                <a16:creationId xmlns:a16="http://schemas.microsoft.com/office/drawing/2014/main" id="{F6DEB819-6C64-C71B-8867-B56B3DA3EB7F}"/>
              </a:ext>
            </a:extLst>
          </p:cNvPr>
          <p:cNvSpPr>
            <a:spLocks noGrp="1"/>
          </p:cNvSpPr>
          <p:nvPr>
            <p:ph idx="1"/>
          </p:nvPr>
        </p:nvSpPr>
        <p:spPr>
          <a:xfrm>
            <a:off x="838199" y="1023729"/>
            <a:ext cx="10515601" cy="5583899"/>
          </a:xfrm>
        </p:spPr>
        <p:txBody>
          <a:bodyPr anchor="t">
            <a:normAutofit/>
          </a:bodyPr>
          <a:lstStyle/>
          <a:p>
            <a:pPr marL="0" lvl="0" indent="0">
              <a:buNone/>
            </a:pPr>
            <a:r>
              <a:rPr lang="ja-JP" altLang="en-US" dirty="0"/>
              <a:t>　</a:t>
            </a:r>
            <a:r>
              <a:rPr lang="ja-JP" altLang="ja-JP" dirty="0"/>
              <a:t>目的</a:t>
            </a:r>
            <a:r>
              <a:rPr lang="ja-JP" altLang="en-US" dirty="0"/>
              <a:t>　</a:t>
            </a:r>
            <a:r>
              <a:rPr lang="ja-JP" altLang="ja-JP" dirty="0"/>
              <a:t>： 学習データの種類による問題生成品質の違いを検証</a:t>
            </a:r>
          </a:p>
          <a:p>
            <a:pPr marL="0" lvl="0" indent="0">
              <a:buNone/>
            </a:pPr>
            <a:r>
              <a:rPr lang="ja-JP" altLang="ja-JP" dirty="0"/>
              <a:t>比較条件： 未調整、添削済み生成問題、過去問、混合データの4条件</a:t>
            </a:r>
          </a:p>
          <a:p>
            <a:pPr marL="0" lvl="0" indent="0">
              <a:buNone/>
            </a:pPr>
            <a:r>
              <a:rPr lang="ja-JP" altLang="ja-JP" dirty="0"/>
              <a:t>評価方法： 同一の評価用データを用い、同一の添削器で評価</a:t>
            </a:r>
          </a:p>
          <a:p>
            <a:pPr marL="0" lvl="0" indent="0">
              <a:buNone/>
            </a:pPr>
            <a:r>
              <a:rPr lang="ja-JP" altLang="ja-JP" dirty="0"/>
              <a:t>評価指標： 添削器の最終採用率、除外理由、各評価スコア</a:t>
            </a:r>
            <a:endParaRPr kumimoji="1" lang="en-US" altLang="ja-JP" b="1" dirty="0"/>
          </a:p>
          <a:p>
            <a:pPr marL="0" indent="0">
              <a:buNone/>
            </a:pPr>
            <a:endParaRPr lang="en-US" altLang="ja-JP" b="1" dirty="0"/>
          </a:p>
          <a:p>
            <a:pPr marL="0" indent="0">
              <a:buNone/>
            </a:pPr>
            <a:r>
              <a:rPr kumimoji="1" lang="ja-JP" altLang="en-US" b="1" dirty="0"/>
              <a:t>予備実験による目標値設定</a:t>
            </a:r>
            <a:endParaRPr lang="en-US" altLang="ja-JP" dirty="0"/>
          </a:p>
          <a:p>
            <a:pPr marL="0" indent="0" algn="ctr">
              <a:buNone/>
            </a:pPr>
            <a:r>
              <a:rPr lang="ja-JP" altLang="en-US" dirty="0"/>
              <a:t>ファインチューニングしていないモデルに新出単語</a:t>
            </a:r>
            <a:r>
              <a:rPr lang="en-US" altLang="ja-JP" dirty="0"/>
              <a:t>251</a:t>
            </a:r>
            <a:r>
              <a:rPr lang="ja-JP" altLang="en-US" dirty="0"/>
              <a:t>語を投入し、添削器に投入</a:t>
            </a:r>
            <a:endParaRPr lang="en-US" altLang="ja-JP" dirty="0"/>
          </a:p>
          <a:p>
            <a:pPr marL="0" indent="0" algn="ctr">
              <a:buNone/>
            </a:pPr>
            <a:endParaRPr lang="en-US" altLang="ja-JP" dirty="0"/>
          </a:p>
          <a:p>
            <a:pPr marL="0" indent="0" algn="ctr">
              <a:buNone/>
            </a:pPr>
            <a:endParaRPr lang="en-US" altLang="ja-JP" dirty="0"/>
          </a:p>
          <a:p>
            <a:pPr marL="0" indent="0" algn="ctr">
              <a:buNone/>
            </a:pPr>
            <a:endParaRPr lang="en-US" altLang="ja-JP" dirty="0"/>
          </a:p>
          <a:p>
            <a:pPr marL="0" indent="0" algn="ctr">
              <a:buNone/>
            </a:pPr>
            <a:r>
              <a:rPr lang="ja-JP" altLang="en-US" dirty="0"/>
              <a:t>目標：ファインチューニング後のモデルにおいて</a:t>
            </a:r>
            <a:endParaRPr lang="en-US" altLang="ja-JP" dirty="0"/>
          </a:p>
          <a:p>
            <a:pPr marL="0" indent="0" algn="ctr">
              <a:buNone/>
            </a:pPr>
            <a:r>
              <a:rPr lang="ja-JP" altLang="en-US" dirty="0"/>
              <a:t>テストデータ</a:t>
            </a:r>
            <a:r>
              <a:rPr lang="en-US" altLang="ja-JP" dirty="0"/>
              <a:t>51</a:t>
            </a:r>
            <a:r>
              <a:rPr lang="ja-JP" altLang="en-US" dirty="0"/>
              <a:t>語を入力としたとき最終判定を通過する問題が</a:t>
            </a:r>
            <a:r>
              <a:rPr lang="en-US" altLang="ja-JP" dirty="0">
                <a:solidFill>
                  <a:schemeClr val="accent5">
                    <a:lumMod val="75000"/>
                  </a:schemeClr>
                </a:solidFill>
              </a:rPr>
              <a:t>11.6%</a:t>
            </a:r>
            <a:r>
              <a:rPr lang="ja-JP" altLang="en-US" dirty="0">
                <a:solidFill>
                  <a:schemeClr val="accent5">
                    <a:lumMod val="75000"/>
                  </a:schemeClr>
                </a:solidFill>
              </a:rPr>
              <a:t>を超える</a:t>
            </a:r>
            <a:endParaRPr lang="en-US" altLang="ja-JP" dirty="0">
              <a:solidFill>
                <a:schemeClr val="accent5">
                  <a:lumMod val="75000"/>
                </a:schemeClr>
              </a:solidFill>
            </a:endParaRPr>
          </a:p>
        </p:txBody>
      </p:sp>
      <p:pic>
        <p:nvPicPr>
          <p:cNvPr id="6" name="図 5">
            <a:extLst>
              <a:ext uri="{FF2B5EF4-FFF2-40B4-BE49-F238E27FC236}">
                <a16:creationId xmlns:a16="http://schemas.microsoft.com/office/drawing/2014/main" id="{5F33903B-EA7D-297B-97A2-9C3FF7094F9F}"/>
              </a:ext>
            </a:extLst>
          </p:cNvPr>
          <p:cNvPicPr>
            <a:picLocks noChangeAspect="1"/>
          </p:cNvPicPr>
          <p:nvPr/>
        </p:nvPicPr>
        <p:blipFill>
          <a:blip r:embed="rId3"/>
          <a:stretch>
            <a:fillRect/>
          </a:stretch>
        </p:blipFill>
        <p:spPr>
          <a:xfrm>
            <a:off x="2235649" y="4254329"/>
            <a:ext cx="7481212" cy="991149"/>
          </a:xfrm>
          <a:prstGeom prst="rect">
            <a:avLst/>
          </a:prstGeom>
        </p:spPr>
      </p:pic>
      <p:sp>
        <p:nvSpPr>
          <p:cNvPr id="8" name="矢印: 下 7">
            <a:extLst>
              <a:ext uri="{FF2B5EF4-FFF2-40B4-BE49-F238E27FC236}">
                <a16:creationId xmlns:a16="http://schemas.microsoft.com/office/drawing/2014/main" id="{DB44F7F6-20C6-22ED-49D1-A53C653D44D0}"/>
              </a:ext>
            </a:extLst>
          </p:cNvPr>
          <p:cNvSpPr/>
          <p:nvPr/>
        </p:nvSpPr>
        <p:spPr>
          <a:xfrm>
            <a:off x="5796643" y="5303638"/>
            <a:ext cx="598714" cy="2830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8">
            <a:extLst>
              <a:ext uri="{FF2B5EF4-FFF2-40B4-BE49-F238E27FC236}">
                <a16:creationId xmlns:a16="http://schemas.microsoft.com/office/drawing/2014/main" id="{217AE5EF-86A0-CEEF-9B05-0D9CE1ED64F0}"/>
              </a:ext>
            </a:extLst>
          </p:cNvPr>
          <p:cNvSpPr>
            <a:spLocks noGrp="1"/>
          </p:cNvSpPr>
          <p:nvPr>
            <p:ph type="sldNum" sz="quarter" idx="12"/>
          </p:nvPr>
        </p:nvSpPr>
        <p:spPr/>
        <p:txBody>
          <a:bodyPr/>
          <a:lstStyle/>
          <a:p>
            <a:fld id="{9FB99072-780F-43D9-B22B-8FACFE63800E}" type="slidenum">
              <a:rPr kumimoji="1" lang="ja-JP" altLang="en-US" smtClean="0"/>
              <a:t>15</a:t>
            </a:fld>
            <a:endParaRPr kumimoji="1" lang="ja-JP" altLang="en-US"/>
          </a:p>
        </p:txBody>
      </p:sp>
    </p:spTree>
    <p:extLst>
      <p:ext uri="{BB962C8B-B14F-4D97-AF65-F5344CB8AC3E}">
        <p14:creationId xmlns:p14="http://schemas.microsoft.com/office/powerpoint/2010/main" val="2301645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4FDA55-1EBA-C33E-B7A7-7AAC7E906459}"/>
              </a:ext>
            </a:extLst>
          </p:cNvPr>
          <p:cNvSpPr>
            <a:spLocks noGrp="1"/>
          </p:cNvSpPr>
          <p:nvPr>
            <p:ph type="title"/>
          </p:nvPr>
        </p:nvSpPr>
        <p:spPr/>
        <p:txBody>
          <a:bodyPr/>
          <a:lstStyle/>
          <a:p>
            <a:r>
              <a:rPr kumimoji="1" lang="ja-JP" altLang="en-US" dirty="0"/>
              <a:t>今後の展望</a:t>
            </a:r>
          </a:p>
        </p:txBody>
      </p:sp>
      <p:sp>
        <p:nvSpPr>
          <p:cNvPr id="7" name="Rounded Rectangle 6">
            <a:extLst>
              <a:ext uri="{FF2B5EF4-FFF2-40B4-BE49-F238E27FC236}">
                <a16:creationId xmlns:a16="http://schemas.microsoft.com/office/drawing/2014/main" id="{1C8490AA-D370-92E3-80C3-E66C441B04F0}"/>
              </a:ext>
            </a:extLst>
          </p:cNvPr>
          <p:cNvSpPr/>
          <p:nvPr/>
        </p:nvSpPr>
        <p:spPr>
          <a:xfrm>
            <a:off x="929640" y="1804854"/>
            <a:ext cx="1417320" cy="713232"/>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3770B8"/>
                </a:solidFill>
                <a:latin typeface="Yu Gothic"/>
              </a:defRPr>
            </a:pPr>
            <a:r>
              <a:rPr lang="ja-JP" altLang="en-US" dirty="0">
                <a:latin typeface="+mn-ea"/>
              </a:rPr>
              <a:t>短期</a:t>
            </a:r>
            <a:endParaRPr dirty="0">
              <a:latin typeface="+mn-ea"/>
            </a:endParaRPr>
          </a:p>
        </p:txBody>
      </p:sp>
      <p:cxnSp>
        <p:nvCxnSpPr>
          <p:cNvPr id="10" name="Connector 9">
            <a:extLst>
              <a:ext uri="{FF2B5EF4-FFF2-40B4-BE49-F238E27FC236}">
                <a16:creationId xmlns:a16="http://schemas.microsoft.com/office/drawing/2014/main" id="{BF7663F6-B91D-3391-0F76-C41743FEC119}"/>
              </a:ext>
            </a:extLst>
          </p:cNvPr>
          <p:cNvCxnSpPr>
            <a:cxnSpLocks/>
            <a:stCxn id="7" idx="2"/>
            <a:endCxn id="11" idx="0"/>
          </p:cNvCxnSpPr>
          <p:nvPr/>
        </p:nvCxnSpPr>
        <p:spPr>
          <a:xfrm>
            <a:off x="1638300" y="2518086"/>
            <a:ext cx="0" cy="239373"/>
          </a:xfrm>
          <a:prstGeom prst="line">
            <a:avLst/>
          </a:prstGeom>
          <a:ln w="16510">
            <a:solidFill>
              <a:srgbClr val="616D7C"/>
            </a:solidFill>
          </a:ln>
        </p:spPr>
        <p:style>
          <a:lnRef idx="2">
            <a:schemeClr val="accent1"/>
          </a:lnRef>
          <a:fillRef idx="0">
            <a:schemeClr val="accent1"/>
          </a:fillRef>
          <a:effectRef idx="1">
            <a:schemeClr val="accent1"/>
          </a:effectRef>
          <a:fontRef idx="minor">
            <a:schemeClr val="tx1"/>
          </a:fontRef>
        </p:style>
      </p:cxnSp>
      <p:sp>
        <p:nvSpPr>
          <p:cNvPr id="11" name="Rounded Rectangle 10">
            <a:extLst>
              <a:ext uri="{FF2B5EF4-FFF2-40B4-BE49-F238E27FC236}">
                <a16:creationId xmlns:a16="http://schemas.microsoft.com/office/drawing/2014/main" id="{24914DE1-B6DD-CE15-2330-0AE2F4A4C604}"/>
              </a:ext>
            </a:extLst>
          </p:cNvPr>
          <p:cNvSpPr/>
          <p:nvPr/>
        </p:nvSpPr>
        <p:spPr>
          <a:xfrm>
            <a:off x="929640" y="2757459"/>
            <a:ext cx="1417320" cy="713232"/>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3770B8"/>
                </a:solidFill>
                <a:latin typeface="Yu Gothic"/>
              </a:defRPr>
            </a:pPr>
            <a:r>
              <a:rPr lang="ja-JP" altLang="en-US" dirty="0">
                <a:latin typeface="+mn-ea"/>
              </a:rPr>
              <a:t>次段階</a:t>
            </a:r>
            <a:endParaRPr dirty="0">
              <a:latin typeface="+mn-ea"/>
            </a:endParaRPr>
          </a:p>
        </p:txBody>
      </p:sp>
      <p:cxnSp>
        <p:nvCxnSpPr>
          <p:cNvPr id="14" name="Connector 13">
            <a:extLst>
              <a:ext uri="{FF2B5EF4-FFF2-40B4-BE49-F238E27FC236}">
                <a16:creationId xmlns:a16="http://schemas.microsoft.com/office/drawing/2014/main" id="{8D53CBDC-69B5-8E20-A656-A36D4C85BF05}"/>
              </a:ext>
            </a:extLst>
          </p:cNvPr>
          <p:cNvCxnSpPr>
            <a:cxnSpLocks/>
            <a:stCxn id="11" idx="2"/>
            <a:endCxn id="15" idx="0"/>
          </p:cNvCxnSpPr>
          <p:nvPr/>
        </p:nvCxnSpPr>
        <p:spPr>
          <a:xfrm>
            <a:off x="1638300" y="3470691"/>
            <a:ext cx="0" cy="228600"/>
          </a:xfrm>
          <a:prstGeom prst="line">
            <a:avLst/>
          </a:prstGeom>
          <a:ln w="16510">
            <a:solidFill>
              <a:srgbClr val="616D7C"/>
            </a:solidFill>
          </a:ln>
        </p:spPr>
        <p:style>
          <a:lnRef idx="2">
            <a:schemeClr val="accent1"/>
          </a:lnRef>
          <a:fillRef idx="0">
            <a:schemeClr val="accent1"/>
          </a:fillRef>
          <a:effectRef idx="1">
            <a:schemeClr val="accent1"/>
          </a:effectRef>
          <a:fontRef idx="minor">
            <a:schemeClr val="tx1"/>
          </a:fontRef>
        </p:style>
      </p:cxnSp>
      <p:sp>
        <p:nvSpPr>
          <p:cNvPr id="15" name="Rounded Rectangle 14">
            <a:extLst>
              <a:ext uri="{FF2B5EF4-FFF2-40B4-BE49-F238E27FC236}">
                <a16:creationId xmlns:a16="http://schemas.microsoft.com/office/drawing/2014/main" id="{413E6635-CB5F-9052-0679-26B511BA7696}"/>
              </a:ext>
            </a:extLst>
          </p:cNvPr>
          <p:cNvSpPr/>
          <p:nvPr/>
        </p:nvSpPr>
        <p:spPr>
          <a:xfrm>
            <a:off x="929640" y="3699291"/>
            <a:ext cx="1417320" cy="713232"/>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3770B8"/>
                </a:solidFill>
                <a:latin typeface="Yu Gothic"/>
              </a:defRPr>
            </a:pPr>
            <a:r>
              <a:rPr lang="ja-JP" altLang="en-US" dirty="0">
                <a:latin typeface="+mn-ea"/>
              </a:rPr>
              <a:t>発展</a:t>
            </a:r>
          </a:p>
        </p:txBody>
      </p:sp>
      <p:cxnSp>
        <p:nvCxnSpPr>
          <p:cNvPr id="18" name="Connector 17">
            <a:extLst>
              <a:ext uri="{FF2B5EF4-FFF2-40B4-BE49-F238E27FC236}">
                <a16:creationId xmlns:a16="http://schemas.microsoft.com/office/drawing/2014/main" id="{8ED539CD-73E7-F6B6-CA16-9212DAE3EEE0}"/>
              </a:ext>
            </a:extLst>
          </p:cNvPr>
          <p:cNvCxnSpPr>
            <a:cxnSpLocks/>
            <a:stCxn id="15" idx="2"/>
            <a:endCxn id="19" idx="0"/>
          </p:cNvCxnSpPr>
          <p:nvPr/>
        </p:nvCxnSpPr>
        <p:spPr>
          <a:xfrm>
            <a:off x="1638300" y="4412523"/>
            <a:ext cx="0" cy="239373"/>
          </a:xfrm>
          <a:prstGeom prst="line">
            <a:avLst/>
          </a:prstGeom>
          <a:ln w="16510">
            <a:solidFill>
              <a:srgbClr val="616D7C"/>
            </a:solidFill>
          </a:ln>
        </p:spPr>
        <p:style>
          <a:lnRef idx="2">
            <a:schemeClr val="accent1"/>
          </a:lnRef>
          <a:fillRef idx="0">
            <a:schemeClr val="accent1"/>
          </a:fillRef>
          <a:effectRef idx="1">
            <a:schemeClr val="accent1"/>
          </a:effectRef>
          <a:fontRef idx="minor">
            <a:schemeClr val="tx1"/>
          </a:fontRef>
        </p:style>
      </p:cxnSp>
      <p:sp>
        <p:nvSpPr>
          <p:cNvPr id="19" name="Rounded Rectangle 18">
            <a:extLst>
              <a:ext uri="{FF2B5EF4-FFF2-40B4-BE49-F238E27FC236}">
                <a16:creationId xmlns:a16="http://schemas.microsoft.com/office/drawing/2014/main" id="{A5146D64-5F97-AD3C-BC96-30E263A2F143}"/>
              </a:ext>
            </a:extLst>
          </p:cNvPr>
          <p:cNvSpPr/>
          <p:nvPr/>
        </p:nvSpPr>
        <p:spPr>
          <a:xfrm>
            <a:off x="929640" y="4651896"/>
            <a:ext cx="1417320" cy="713232"/>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3770B8"/>
                </a:solidFill>
                <a:latin typeface="Yu Gothic"/>
              </a:defRPr>
            </a:pPr>
            <a:r>
              <a:rPr lang="ja-JP" altLang="en-US" dirty="0">
                <a:latin typeface="+mn-ea"/>
              </a:rPr>
              <a:t>将来</a:t>
            </a:r>
            <a:endParaRPr dirty="0">
              <a:latin typeface="+mn-ea"/>
            </a:endParaRPr>
          </a:p>
        </p:txBody>
      </p:sp>
      <p:sp>
        <p:nvSpPr>
          <p:cNvPr id="35" name="コンテンツ プレースホルダー 3">
            <a:extLst>
              <a:ext uri="{FF2B5EF4-FFF2-40B4-BE49-F238E27FC236}">
                <a16:creationId xmlns:a16="http://schemas.microsoft.com/office/drawing/2014/main" id="{EDF65F36-644C-70DF-3ADE-AEE57AF7998D}"/>
              </a:ext>
            </a:extLst>
          </p:cNvPr>
          <p:cNvSpPr txBox="1">
            <a:spLocks/>
          </p:cNvSpPr>
          <p:nvPr/>
        </p:nvSpPr>
        <p:spPr>
          <a:xfrm>
            <a:off x="2447652" y="965570"/>
            <a:ext cx="9744348" cy="4772706"/>
          </a:xfrm>
          <a:prstGeom prst="rect">
            <a:avLst/>
          </a:prstGeom>
        </p:spPr>
        <p:txBody>
          <a:bodyPr vert="horz" lIns="91440" tIns="45720" rIns="91440" bIns="45720" rtlCol="0" anchor="ctr">
            <a:normAutofit/>
          </a:bodyPr>
          <a:lstStyle>
            <a:lvl1pPr marL="342900" indent="-342900" algn="l" defTabSz="914400" rtl="0" eaLnBrk="1" latinLnBrk="0" hangingPunct="1">
              <a:lnSpc>
                <a:spcPct val="110000"/>
              </a:lnSpc>
              <a:spcBef>
                <a:spcPts val="1000"/>
              </a:spcBef>
              <a:buFont typeface="Wingdings" panose="05000000000000000000" pitchFamily="2" charset="2"/>
              <a:buChar char="u"/>
              <a:defRPr kumimoji="1" sz="2000" kern="1200">
                <a:solidFill>
                  <a:schemeClr val="tx1"/>
                </a:solidFill>
                <a:latin typeface="+mn-ea"/>
                <a:ea typeface="+mn-ea"/>
                <a:cs typeface="+mn-cs"/>
              </a:defRPr>
            </a:lvl1pPr>
            <a:lvl2pPr marL="800100" indent="-342900" algn="l" defTabSz="914400" rtl="0" eaLnBrk="1" latinLnBrk="0" hangingPunct="1">
              <a:lnSpc>
                <a:spcPct val="110000"/>
              </a:lnSpc>
              <a:spcBef>
                <a:spcPts val="500"/>
              </a:spcBef>
              <a:buFont typeface="Wingdings" panose="05000000000000000000" pitchFamily="2" charset="2"/>
              <a:buChar char="u"/>
              <a:defRPr kumimoji="1" sz="1800" kern="1200">
                <a:solidFill>
                  <a:schemeClr val="tx1"/>
                </a:solidFill>
                <a:latin typeface="+mn-ea"/>
                <a:ea typeface="+mn-ea"/>
                <a:cs typeface="+mn-cs"/>
              </a:defRPr>
            </a:lvl2pPr>
            <a:lvl3pPr marL="1200150" indent="-285750" algn="l" defTabSz="914400" rtl="0" eaLnBrk="1" latinLnBrk="0" hangingPunct="1">
              <a:lnSpc>
                <a:spcPct val="110000"/>
              </a:lnSpc>
              <a:spcBef>
                <a:spcPts val="500"/>
              </a:spcBef>
              <a:buFont typeface="Wingdings" panose="05000000000000000000" pitchFamily="2" charset="2"/>
              <a:buChar char="u"/>
              <a:defRPr kumimoji="1" sz="1600" kern="1200">
                <a:solidFill>
                  <a:schemeClr val="tx1"/>
                </a:solidFill>
                <a:latin typeface="+mn-ea"/>
                <a:ea typeface="+mn-ea"/>
                <a:cs typeface="+mn-cs"/>
              </a:defRPr>
            </a:lvl3pPr>
            <a:lvl4pPr marL="16573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4pPr>
            <a:lvl5pPr marL="21145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300000"/>
              </a:lnSpc>
              <a:buNone/>
            </a:pPr>
            <a:r>
              <a:rPr lang="ja-JP" altLang="en-US" sz="1800" b="1" dirty="0"/>
              <a:t>問題生成・評価の改善　　　　　　</a:t>
            </a:r>
            <a:r>
              <a:rPr lang="ja-JP" altLang="en-US" sz="1400" dirty="0"/>
              <a:t>除外理由を分析し、生成・採用率を改善</a:t>
            </a:r>
            <a:endParaRPr lang="ja-JP" altLang="en-US" sz="1800" b="1" dirty="0"/>
          </a:p>
          <a:p>
            <a:pPr marL="0" indent="0">
              <a:lnSpc>
                <a:spcPct val="300000"/>
              </a:lnSpc>
              <a:buNone/>
            </a:pPr>
            <a:r>
              <a:rPr lang="ja-JP" altLang="en-US" sz="1800" b="1" dirty="0"/>
              <a:t>ファインチューニングの比較　　　</a:t>
            </a:r>
            <a:r>
              <a:rPr lang="ja-JP" altLang="en-US" sz="1400" dirty="0"/>
              <a:t>未調整・添削済み・過去問・混合の</a:t>
            </a:r>
            <a:r>
              <a:rPr lang="en-US" altLang="ja-JP" sz="1400" dirty="0"/>
              <a:t>4</a:t>
            </a:r>
            <a:r>
              <a:rPr lang="ja-JP" altLang="en-US" sz="1400" dirty="0"/>
              <a:t>条件を同じ基準で評価</a:t>
            </a:r>
            <a:endParaRPr lang="en-US" altLang="ja-JP" sz="1800" b="1" dirty="0"/>
          </a:p>
          <a:p>
            <a:pPr marL="0" indent="0">
              <a:lnSpc>
                <a:spcPct val="300000"/>
              </a:lnSpc>
              <a:buNone/>
            </a:pPr>
            <a:r>
              <a:rPr lang="ja-JP" altLang="en-US" sz="1800" b="1" dirty="0"/>
              <a:t>知識データ構築の自動化　　　　　</a:t>
            </a:r>
            <a:r>
              <a:rPr lang="ja-JP" altLang="en-US" sz="1400" dirty="0"/>
              <a:t>複数の情報源を統合し、新出単語のデータセット作成</a:t>
            </a:r>
            <a:endParaRPr lang="en-US" altLang="ja-JP" sz="1400" b="1" dirty="0"/>
          </a:p>
          <a:p>
            <a:pPr marL="0" indent="0">
              <a:lnSpc>
                <a:spcPct val="300000"/>
              </a:lnSpc>
              <a:buNone/>
            </a:pPr>
            <a:r>
              <a:rPr lang="ja-JP" altLang="en-US" sz="1800" b="1" dirty="0"/>
              <a:t>学習者への支援　　　　　　　　　</a:t>
            </a:r>
            <a:r>
              <a:rPr lang="ja-JP" altLang="en-US" sz="1400" dirty="0"/>
              <a:t>解答結果に応じた解説・復習問題を提示</a:t>
            </a:r>
            <a:endParaRPr lang="ja-JP" altLang="en-US" sz="1800" b="1" dirty="0"/>
          </a:p>
        </p:txBody>
      </p:sp>
      <p:sp>
        <p:nvSpPr>
          <p:cNvPr id="50" name="スライド番号プレースホルダー 49">
            <a:extLst>
              <a:ext uri="{FF2B5EF4-FFF2-40B4-BE49-F238E27FC236}">
                <a16:creationId xmlns:a16="http://schemas.microsoft.com/office/drawing/2014/main" id="{8CF5261A-09C1-172A-C6E3-8DA7F98FD8CA}"/>
              </a:ext>
            </a:extLst>
          </p:cNvPr>
          <p:cNvSpPr>
            <a:spLocks noGrp="1"/>
          </p:cNvSpPr>
          <p:nvPr>
            <p:ph type="sldNum" sz="quarter" idx="12"/>
          </p:nvPr>
        </p:nvSpPr>
        <p:spPr/>
        <p:txBody>
          <a:bodyPr/>
          <a:lstStyle/>
          <a:p>
            <a:fld id="{9FB99072-780F-43D9-B22B-8FACFE63800E}" type="slidenum">
              <a:rPr kumimoji="1" lang="ja-JP" altLang="en-US" smtClean="0"/>
              <a:t>16</a:t>
            </a:fld>
            <a:endParaRPr kumimoji="1" lang="ja-JP" altLang="en-US"/>
          </a:p>
        </p:txBody>
      </p:sp>
    </p:spTree>
    <p:extLst>
      <p:ext uri="{BB962C8B-B14F-4D97-AF65-F5344CB8AC3E}">
        <p14:creationId xmlns:p14="http://schemas.microsoft.com/office/powerpoint/2010/main" val="1237248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CE85A90-4C29-C3F0-BF9B-62D435C45487}"/>
              </a:ext>
            </a:extLst>
          </p:cNvPr>
          <p:cNvSpPr>
            <a:spLocks noGrp="1"/>
          </p:cNvSpPr>
          <p:nvPr>
            <p:ph idx="1"/>
          </p:nvPr>
        </p:nvSpPr>
        <p:spPr>
          <a:xfrm>
            <a:off x="3556986" y="3232173"/>
            <a:ext cx="5078027" cy="393654"/>
          </a:xfrm>
        </p:spPr>
        <p:txBody>
          <a:bodyPr>
            <a:noAutofit/>
          </a:bodyPr>
          <a:lstStyle/>
          <a:p>
            <a:pPr marL="0" indent="0" algn="ctr">
              <a:buNone/>
            </a:pPr>
            <a:r>
              <a:rPr kumimoji="1" lang="ja-JP" altLang="en-US" sz="2400" dirty="0"/>
              <a:t>ご清聴ありがとうございました</a:t>
            </a:r>
          </a:p>
        </p:txBody>
      </p:sp>
      <p:sp>
        <p:nvSpPr>
          <p:cNvPr id="2" name="スライド番号プレースホルダー 1">
            <a:extLst>
              <a:ext uri="{FF2B5EF4-FFF2-40B4-BE49-F238E27FC236}">
                <a16:creationId xmlns:a16="http://schemas.microsoft.com/office/drawing/2014/main" id="{320D3B13-E8CC-4242-535B-A2DE3D582548}"/>
              </a:ext>
            </a:extLst>
          </p:cNvPr>
          <p:cNvSpPr>
            <a:spLocks noGrp="1"/>
          </p:cNvSpPr>
          <p:nvPr>
            <p:ph type="sldNum" sz="quarter" idx="12"/>
          </p:nvPr>
        </p:nvSpPr>
        <p:spPr/>
        <p:txBody>
          <a:bodyPr/>
          <a:lstStyle/>
          <a:p>
            <a:fld id="{9FB99072-780F-43D9-B22B-8FACFE63800E}" type="slidenum">
              <a:rPr kumimoji="1" lang="ja-JP" altLang="en-US" smtClean="0"/>
              <a:t>17</a:t>
            </a:fld>
            <a:endParaRPr kumimoji="1" lang="ja-JP" altLang="en-US"/>
          </a:p>
        </p:txBody>
      </p:sp>
    </p:spTree>
    <p:extLst>
      <p:ext uri="{BB962C8B-B14F-4D97-AF65-F5344CB8AC3E}">
        <p14:creationId xmlns:p14="http://schemas.microsoft.com/office/powerpoint/2010/main" val="510728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19CB8C-E859-2D4F-C85E-2A6BDF2B97C4}"/>
              </a:ext>
            </a:extLst>
          </p:cNvPr>
          <p:cNvSpPr>
            <a:spLocks noGrp="1"/>
          </p:cNvSpPr>
          <p:nvPr>
            <p:ph type="title"/>
          </p:nvPr>
        </p:nvSpPr>
        <p:spPr/>
        <p:txBody>
          <a:bodyPr/>
          <a:lstStyle/>
          <a:p>
            <a:r>
              <a:rPr kumimoji="1" lang="ja-JP" altLang="en-US" dirty="0"/>
              <a:t>補足：基本情報の出題パターン</a:t>
            </a:r>
          </a:p>
        </p:txBody>
      </p:sp>
      <p:sp>
        <p:nvSpPr>
          <p:cNvPr id="3" name="コンテンツ プレースホルダー 2">
            <a:extLst>
              <a:ext uri="{FF2B5EF4-FFF2-40B4-BE49-F238E27FC236}">
                <a16:creationId xmlns:a16="http://schemas.microsoft.com/office/drawing/2014/main" id="{B2E8460B-6A61-EBB0-17C5-96FE8B0FA1DC}"/>
              </a:ext>
            </a:extLst>
          </p:cNvPr>
          <p:cNvSpPr>
            <a:spLocks noGrp="1"/>
          </p:cNvSpPr>
          <p:nvPr>
            <p:ph idx="1"/>
          </p:nvPr>
        </p:nvSpPr>
        <p:spPr>
          <a:xfrm>
            <a:off x="838199" y="1023730"/>
            <a:ext cx="6193972" cy="5153234"/>
          </a:xfrm>
        </p:spPr>
        <p:txBody>
          <a:bodyPr/>
          <a:lstStyle/>
          <a:p>
            <a:pPr marL="0" indent="0">
              <a:buNone/>
            </a:pPr>
            <a:r>
              <a:rPr kumimoji="1" lang="ja-JP" altLang="en-US" b="1" dirty="0"/>
              <a:t>過去問における基本情報技術者試験の出題パターン</a:t>
            </a:r>
            <a:endParaRPr kumimoji="1" lang="en-US" altLang="ja-JP" b="1" dirty="0"/>
          </a:p>
          <a:p>
            <a:pPr lvl="1">
              <a:buFont typeface="+mj-lt"/>
              <a:buAutoNum type="arabicPeriod"/>
            </a:pPr>
            <a:r>
              <a:rPr kumimoji="1" lang="ja-JP" altLang="en-US" b="1" dirty="0"/>
              <a:t>知識確認型</a:t>
            </a:r>
            <a:endParaRPr kumimoji="1" lang="en-US" altLang="ja-JP" b="1" dirty="0"/>
          </a:p>
          <a:p>
            <a:pPr lvl="1">
              <a:buFont typeface="+mj-lt"/>
              <a:buAutoNum type="arabicPeriod"/>
            </a:pPr>
            <a:r>
              <a:rPr lang="ja-JP" altLang="en-US" dirty="0"/>
              <a:t>計算型</a:t>
            </a:r>
            <a:endParaRPr lang="en-US" altLang="ja-JP" dirty="0"/>
          </a:p>
          <a:p>
            <a:pPr lvl="1">
              <a:buFont typeface="+mj-lt"/>
              <a:buAutoNum type="arabicPeriod"/>
            </a:pPr>
            <a:r>
              <a:rPr kumimoji="1" lang="ja-JP" altLang="en-US" dirty="0"/>
              <a:t>図表確認型</a:t>
            </a:r>
            <a:endParaRPr kumimoji="1" lang="en-US" altLang="ja-JP" dirty="0"/>
          </a:p>
          <a:p>
            <a:pPr lvl="1">
              <a:buFont typeface="+mj-lt"/>
              <a:buAutoNum type="arabicPeriod"/>
            </a:pPr>
            <a:r>
              <a:rPr lang="ja-JP" altLang="en-US" dirty="0"/>
              <a:t>推論型</a:t>
            </a:r>
            <a:endParaRPr lang="en-US" altLang="ja-JP" dirty="0"/>
          </a:p>
          <a:p>
            <a:pPr lvl="1">
              <a:buFont typeface="+mj-lt"/>
              <a:buAutoNum type="arabicPeriod"/>
            </a:pPr>
            <a:r>
              <a:rPr kumimoji="1" lang="ja-JP" altLang="en-US" dirty="0"/>
              <a:t>状況判断型</a:t>
            </a:r>
          </a:p>
        </p:txBody>
      </p:sp>
      <p:pic>
        <p:nvPicPr>
          <p:cNvPr id="9" name="図 8">
            <a:extLst>
              <a:ext uri="{FF2B5EF4-FFF2-40B4-BE49-F238E27FC236}">
                <a16:creationId xmlns:a16="http://schemas.microsoft.com/office/drawing/2014/main" id="{8F40D484-ED25-A5AA-93A4-FC222982BC3A}"/>
              </a:ext>
            </a:extLst>
          </p:cNvPr>
          <p:cNvPicPr>
            <a:picLocks noChangeAspect="1"/>
          </p:cNvPicPr>
          <p:nvPr/>
        </p:nvPicPr>
        <p:blipFill>
          <a:blip r:embed="rId2"/>
          <a:stretch>
            <a:fillRect/>
          </a:stretch>
        </p:blipFill>
        <p:spPr>
          <a:xfrm>
            <a:off x="4211346" y="2438176"/>
            <a:ext cx="1568493" cy="4087131"/>
          </a:xfrm>
          <a:prstGeom prst="rect">
            <a:avLst/>
          </a:prstGeom>
        </p:spPr>
      </p:pic>
      <p:sp>
        <p:nvSpPr>
          <p:cNvPr id="4" name="コンテンツ プレースホルダー 2">
            <a:extLst>
              <a:ext uri="{FF2B5EF4-FFF2-40B4-BE49-F238E27FC236}">
                <a16:creationId xmlns:a16="http://schemas.microsoft.com/office/drawing/2014/main" id="{303A0718-BD6F-78D6-97BB-9A9C4A448680}"/>
              </a:ext>
            </a:extLst>
          </p:cNvPr>
          <p:cNvSpPr txBox="1">
            <a:spLocks/>
          </p:cNvSpPr>
          <p:nvPr/>
        </p:nvSpPr>
        <p:spPr>
          <a:xfrm>
            <a:off x="6092156" y="1803760"/>
            <a:ext cx="5706270" cy="4841290"/>
          </a:xfrm>
          <a:prstGeom prst="rect">
            <a:avLst/>
          </a:prstGeom>
        </p:spPr>
        <p:txBody>
          <a:bodyPr vert="horz" lIns="91440" tIns="45720" rIns="91440" bIns="45720" rtlCol="0">
            <a:normAutofit/>
          </a:bodyPr>
          <a:lstStyle>
            <a:lvl1pPr marL="342900" indent="-342900" algn="l" defTabSz="914400" rtl="0" eaLnBrk="1" latinLnBrk="0" hangingPunct="1">
              <a:lnSpc>
                <a:spcPct val="110000"/>
              </a:lnSpc>
              <a:spcBef>
                <a:spcPts val="1000"/>
              </a:spcBef>
              <a:buFont typeface="Wingdings" panose="05000000000000000000" pitchFamily="2" charset="2"/>
              <a:buChar char="u"/>
              <a:defRPr kumimoji="1" sz="2000" kern="1200">
                <a:solidFill>
                  <a:schemeClr val="tx1"/>
                </a:solidFill>
                <a:latin typeface="+mn-ea"/>
                <a:ea typeface="+mn-ea"/>
                <a:cs typeface="+mn-cs"/>
              </a:defRPr>
            </a:lvl1pPr>
            <a:lvl2pPr marL="800100" indent="-342900" algn="l" defTabSz="914400" rtl="0" eaLnBrk="1" latinLnBrk="0" hangingPunct="1">
              <a:lnSpc>
                <a:spcPct val="110000"/>
              </a:lnSpc>
              <a:spcBef>
                <a:spcPts val="500"/>
              </a:spcBef>
              <a:buFont typeface="Wingdings" panose="05000000000000000000" pitchFamily="2" charset="2"/>
              <a:buChar char="u"/>
              <a:defRPr kumimoji="1" sz="1800" kern="1200">
                <a:solidFill>
                  <a:schemeClr val="tx1"/>
                </a:solidFill>
                <a:latin typeface="+mn-ea"/>
                <a:ea typeface="+mn-ea"/>
                <a:cs typeface="+mn-cs"/>
              </a:defRPr>
            </a:lvl2pPr>
            <a:lvl3pPr marL="1200150" indent="-285750" algn="l" defTabSz="914400" rtl="0" eaLnBrk="1" latinLnBrk="0" hangingPunct="1">
              <a:lnSpc>
                <a:spcPct val="110000"/>
              </a:lnSpc>
              <a:spcBef>
                <a:spcPts val="500"/>
              </a:spcBef>
              <a:buFont typeface="Wingdings" panose="05000000000000000000" pitchFamily="2" charset="2"/>
              <a:buChar char="u"/>
              <a:defRPr kumimoji="1" sz="1600" kern="1200">
                <a:solidFill>
                  <a:schemeClr val="tx1"/>
                </a:solidFill>
                <a:latin typeface="+mn-ea"/>
                <a:ea typeface="+mn-ea"/>
                <a:cs typeface="+mn-cs"/>
              </a:defRPr>
            </a:lvl3pPr>
            <a:lvl4pPr marL="16573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4pPr>
            <a:lvl5pPr marL="2114550" indent="-285750" algn="l" defTabSz="914400" rtl="0" eaLnBrk="1" latinLnBrk="0" hangingPunct="1">
              <a:lnSpc>
                <a:spcPct val="110000"/>
              </a:lnSpc>
              <a:spcBef>
                <a:spcPts val="500"/>
              </a:spcBef>
              <a:buFont typeface="Wingdings" panose="05000000000000000000" pitchFamily="2" charset="2"/>
              <a:buChar char="u"/>
              <a:defRPr kumimoji="1" sz="14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dirty="0"/>
              <a:t>1-1. </a:t>
            </a:r>
            <a:r>
              <a:rPr lang="ja-JP" altLang="en-US" sz="1600" dirty="0"/>
              <a:t>単語から意味を推測</a:t>
            </a:r>
            <a:endParaRPr lang="en-US" altLang="ja-JP" sz="1600" dirty="0"/>
          </a:p>
          <a:p>
            <a:pPr marL="457200" indent="-457200">
              <a:buFont typeface="+mj-lt"/>
              <a:buAutoNum type="arabicPeriod"/>
            </a:pPr>
            <a:endParaRPr lang="en-US" altLang="ja-JP" sz="1600" dirty="0"/>
          </a:p>
          <a:p>
            <a:pPr marL="457200" indent="-457200">
              <a:buFont typeface="+mj-lt"/>
              <a:buAutoNum type="arabicPeriod"/>
            </a:pPr>
            <a:endParaRPr lang="en-US" altLang="ja-JP" sz="1600" dirty="0"/>
          </a:p>
          <a:p>
            <a:pPr marL="457200" indent="-457200">
              <a:buFont typeface="+mj-lt"/>
              <a:buAutoNum type="arabicPeriod"/>
            </a:pPr>
            <a:endParaRPr lang="en-US" altLang="ja-JP" sz="1600" dirty="0"/>
          </a:p>
          <a:p>
            <a:pPr marL="457200" indent="-457200">
              <a:buFont typeface="+mj-lt"/>
              <a:buAutoNum type="arabicPeriod"/>
            </a:pPr>
            <a:endParaRPr lang="en-US" altLang="ja-JP" sz="1600" dirty="0"/>
          </a:p>
          <a:p>
            <a:pPr marL="457200" indent="-457200">
              <a:buFont typeface="+mj-lt"/>
              <a:buAutoNum type="arabicPeriod"/>
            </a:pPr>
            <a:endParaRPr lang="en-US" altLang="ja-JP" sz="1600" dirty="0"/>
          </a:p>
          <a:p>
            <a:pPr marL="457200" indent="-457200">
              <a:buFont typeface="+mj-lt"/>
              <a:buAutoNum type="arabicPeriod"/>
            </a:pPr>
            <a:endParaRPr lang="en-US" altLang="ja-JP" sz="1600" dirty="0"/>
          </a:p>
          <a:p>
            <a:pPr marL="0" indent="0">
              <a:buNone/>
            </a:pPr>
            <a:r>
              <a:rPr lang="en-US" altLang="ja-JP" sz="1600" dirty="0"/>
              <a:t>1-2. </a:t>
            </a:r>
            <a:r>
              <a:rPr lang="ja-JP" altLang="en-US" sz="1600" dirty="0"/>
              <a:t>意味から単語を推測</a:t>
            </a:r>
          </a:p>
          <a:p>
            <a:pPr marL="457200" lvl="1" indent="0">
              <a:buNone/>
            </a:pPr>
            <a:endParaRPr lang="ja-JP" altLang="en-US" sz="1400" dirty="0"/>
          </a:p>
        </p:txBody>
      </p:sp>
      <p:pic>
        <p:nvPicPr>
          <p:cNvPr id="6" name="図 5">
            <a:extLst>
              <a:ext uri="{FF2B5EF4-FFF2-40B4-BE49-F238E27FC236}">
                <a16:creationId xmlns:a16="http://schemas.microsoft.com/office/drawing/2014/main" id="{40AEBBAB-D16A-57DA-51ED-5B0BA86B1111}"/>
              </a:ext>
            </a:extLst>
          </p:cNvPr>
          <p:cNvPicPr>
            <a:picLocks noChangeAspect="1"/>
          </p:cNvPicPr>
          <p:nvPr/>
        </p:nvPicPr>
        <p:blipFill>
          <a:blip r:embed="rId3"/>
          <a:stretch>
            <a:fillRect/>
          </a:stretch>
        </p:blipFill>
        <p:spPr>
          <a:xfrm>
            <a:off x="7203791" y="2168496"/>
            <a:ext cx="4871017" cy="2211881"/>
          </a:xfrm>
          <a:prstGeom prst="rect">
            <a:avLst/>
          </a:prstGeom>
        </p:spPr>
      </p:pic>
      <p:pic>
        <p:nvPicPr>
          <p:cNvPr id="8" name="図 7">
            <a:extLst>
              <a:ext uri="{FF2B5EF4-FFF2-40B4-BE49-F238E27FC236}">
                <a16:creationId xmlns:a16="http://schemas.microsoft.com/office/drawing/2014/main" id="{9F5C3433-8013-4233-0AF4-D2E99A718534}"/>
              </a:ext>
            </a:extLst>
          </p:cNvPr>
          <p:cNvPicPr>
            <a:picLocks noChangeAspect="1"/>
          </p:cNvPicPr>
          <p:nvPr/>
        </p:nvPicPr>
        <p:blipFill>
          <a:blip r:embed="rId4"/>
          <a:stretch>
            <a:fillRect/>
          </a:stretch>
        </p:blipFill>
        <p:spPr>
          <a:xfrm>
            <a:off x="7307938" y="5057056"/>
            <a:ext cx="4871017" cy="1382426"/>
          </a:xfrm>
          <a:prstGeom prst="rect">
            <a:avLst/>
          </a:prstGeom>
        </p:spPr>
      </p:pic>
      <p:cxnSp>
        <p:nvCxnSpPr>
          <p:cNvPr id="11" name="直線コネクタ 10">
            <a:extLst>
              <a:ext uri="{FF2B5EF4-FFF2-40B4-BE49-F238E27FC236}">
                <a16:creationId xmlns:a16="http://schemas.microsoft.com/office/drawing/2014/main" id="{74D9BCDC-07BF-95E8-ACCC-C8784E06CC00}"/>
              </a:ext>
            </a:extLst>
          </p:cNvPr>
          <p:cNvCxnSpPr/>
          <p:nvPr/>
        </p:nvCxnSpPr>
        <p:spPr>
          <a:xfrm flipH="1">
            <a:off x="6092156" y="1803760"/>
            <a:ext cx="3844" cy="4542611"/>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64535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236C87-99B6-D6F2-3E92-CAAC8AF2210A}"/>
              </a:ext>
            </a:extLst>
          </p:cNvPr>
          <p:cNvSpPr>
            <a:spLocks noGrp="1"/>
          </p:cNvSpPr>
          <p:nvPr>
            <p:ph type="title"/>
          </p:nvPr>
        </p:nvSpPr>
        <p:spPr/>
        <p:txBody>
          <a:bodyPr>
            <a:normAutofit/>
          </a:bodyPr>
          <a:lstStyle/>
          <a:p>
            <a:r>
              <a:rPr lang="ja-JP" altLang="en-US" dirty="0"/>
              <a:t>補足：</a:t>
            </a:r>
            <a:r>
              <a:rPr lang="en-US" altLang="ja-JP" dirty="0"/>
              <a:t>Embedding</a:t>
            </a:r>
            <a:r>
              <a:rPr lang="ja-JP" altLang="en-US" dirty="0"/>
              <a:t>の閾値</a:t>
            </a:r>
            <a:r>
              <a:rPr lang="en-US" altLang="ja-JP" dirty="0"/>
              <a:t>0.6</a:t>
            </a:r>
            <a:endParaRPr kumimoji="1" lang="ja-JP" altLang="en-US" dirty="0"/>
          </a:p>
        </p:txBody>
      </p:sp>
      <p:sp>
        <p:nvSpPr>
          <p:cNvPr id="3" name="コンテンツ プレースホルダー 2">
            <a:extLst>
              <a:ext uri="{FF2B5EF4-FFF2-40B4-BE49-F238E27FC236}">
                <a16:creationId xmlns:a16="http://schemas.microsoft.com/office/drawing/2014/main" id="{3C4C5BEF-8183-BE42-33D0-14C3DC3FB426}"/>
              </a:ext>
            </a:extLst>
          </p:cNvPr>
          <p:cNvSpPr>
            <a:spLocks noGrp="1"/>
          </p:cNvSpPr>
          <p:nvPr>
            <p:ph idx="1"/>
          </p:nvPr>
        </p:nvSpPr>
        <p:spPr>
          <a:xfrm>
            <a:off x="6314303" y="1572925"/>
            <a:ext cx="5562011" cy="4506599"/>
          </a:xfrm>
        </p:spPr>
        <p:txBody>
          <a:bodyPr>
            <a:normAutofit/>
          </a:bodyPr>
          <a:lstStyle/>
          <a:p>
            <a:pPr marL="0" indent="0">
              <a:buNone/>
            </a:pPr>
            <a:r>
              <a:rPr lang="en-US" altLang="ja-JP" sz="2000" b="1" dirty="0"/>
              <a:t>Sentence-BERT</a:t>
            </a:r>
          </a:p>
          <a:p>
            <a:pPr marL="457200" lvl="1" indent="0">
              <a:buNone/>
            </a:pPr>
            <a:r>
              <a:rPr lang="ja-JP" altLang="en-US" sz="1600" dirty="0"/>
              <a:t>文章をベクトル化して意味で比較</a:t>
            </a:r>
          </a:p>
          <a:p>
            <a:pPr marL="0" indent="0">
              <a:buNone/>
            </a:pPr>
            <a:endParaRPr lang="en-US" altLang="ja-JP" sz="2000" dirty="0"/>
          </a:p>
          <a:p>
            <a:pPr marL="0" indent="0">
              <a:buNone/>
            </a:pPr>
            <a:r>
              <a:rPr lang="en-US" altLang="ja-JP" sz="2000" dirty="0"/>
              <a:t>R8</a:t>
            </a:r>
            <a:r>
              <a:rPr lang="ja-JP" altLang="en-US" sz="2000" dirty="0"/>
              <a:t>基本情報技術者試験過去問使用</a:t>
            </a:r>
            <a:endParaRPr lang="en-US" altLang="ja-JP" sz="2000" dirty="0"/>
          </a:p>
          <a:p>
            <a:pPr marL="0" indent="0">
              <a:buNone/>
            </a:pPr>
            <a:r>
              <a:rPr lang="en-US" altLang="ja-JP" sz="2000" dirty="0"/>
              <a:t>Wikipedia</a:t>
            </a:r>
            <a:r>
              <a:rPr lang="ja-JP" altLang="en-US" sz="2000" dirty="0"/>
              <a:t>に記載がある場合要約を使用</a:t>
            </a:r>
            <a:endParaRPr lang="en-US" altLang="ja-JP" sz="2000" dirty="0"/>
          </a:p>
          <a:p>
            <a:pPr marL="0" indent="0">
              <a:buNone/>
            </a:pPr>
            <a:endParaRPr lang="en-US" altLang="ja-JP" dirty="0"/>
          </a:p>
          <a:p>
            <a:pPr marL="0" indent="0">
              <a:buNone/>
            </a:pPr>
            <a:endParaRPr lang="en-US" altLang="ja-JP" sz="2000" dirty="0"/>
          </a:p>
          <a:p>
            <a:pPr marL="0" indent="0">
              <a:buNone/>
            </a:pPr>
            <a:r>
              <a:rPr lang="ja-JP" altLang="en-US" dirty="0"/>
              <a:t>→過去問と</a:t>
            </a:r>
            <a:r>
              <a:rPr lang="en-US" altLang="ja-JP" dirty="0"/>
              <a:t>Wikipedia</a:t>
            </a:r>
            <a:r>
              <a:rPr lang="ja-JP" altLang="en-US" dirty="0"/>
              <a:t>要約に</a:t>
            </a:r>
            <a:endParaRPr lang="en-US" altLang="ja-JP" dirty="0"/>
          </a:p>
          <a:p>
            <a:pPr marL="0" indent="0">
              <a:buNone/>
            </a:pPr>
            <a:r>
              <a:rPr lang="ja-JP" altLang="en-US" dirty="0"/>
              <a:t>　</a:t>
            </a:r>
            <a:r>
              <a:rPr lang="en-US" altLang="ja-JP" dirty="0">
                <a:solidFill>
                  <a:schemeClr val="accent5">
                    <a:lumMod val="75000"/>
                  </a:schemeClr>
                </a:solidFill>
              </a:rPr>
              <a:t>0.6</a:t>
            </a:r>
            <a:r>
              <a:rPr lang="ja-JP" altLang="en-US" dirty="0">
                <a:solidFill>
                  <a:schemeClr val="accent5">
                    <a:lumMod val="75000"/>
                  </a:schemeClr>
                </a:solidFill>
              </a:rPr>
              <a:t>以上の類似</a:t>
            </a:r>
            <a:r>
              <a:rPr lang="ja-JP" altLang="en-US" dirty="0"/>
              <a:t>がある</a:t>
            </a:r>
            <a:endParaRPr lang="en-US" altLang="ja-JP" sz="2000" dirty="0"/>
          </a:p>
          <a:p>
            <a:pPr marL="0" indent="0">
              <a:buNone/>
            </a:pPr>
            <a:endParaRPr lang="en-US" altLang="ja-JP" sz="2000" dirty="0"/>
          </a:p>
        </p:txBody>
      </p:sp>
      <p:pic>
        <p:nvPicPr>
          <p:cNvPr id="12" name="図 11">
            <a:extLst>
              <a:ext uri="{FF2B5EF4-FFF2-40B4-BE49-F238E27FC236}">
                <a16:creationId xmlns:a16="http://schemas.microsoft.com/office/drawing/2014/main" id="{8416329E-DEE5-BC3A-11BD-8A9591507FCD}"/>
              </a:ext>
            </a:extLst>
          </p:cNvPr>
          <p:cNvPicPr>
            <a:picLocks noChangeAspect="1"/>
          </p:cNvPicPr>
          <p:nvPr/>
        </p:nvPicPr>
        <p:blipFill>
          <a:blip r:embed="rId2"/>
          <a:stretch>
            <a:fillRect/>
          </a:stretch>
        </p:blipFill>
        <p:spPr>
          <a:xfrm>
            <a:off x="1404573" y="1738178"/>
            <a:ext cx="3938608" cy="3765100"/>
          </a:xfrm>
          <a:prstGeom prst="rect">
            <a:avLst/>
          </a:prstGeom>
        </p:spPr>
      </p:pic>
    </p:spTree>
    <p:extLst>
      <p:ext uri="{BB962C8B-B14F-4D97-AF65-F5344CB8AC3E}">
        <p14:creationId xmlns:p14="http://schemas.microsoft.com/office/powerpoint/2010/main" val="2660475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DC96EC-B0C1-59CE-E1F8-86CE098320DB}"/>
              </a:ext>
            </a:extLst>
          </p:cNvPr>
          <p:cNvSpPr>
            <a:spLocks noGrp="1"/>
          </p:cNvSpPr>
          <p:nvPr>
            <p:ph type="title"/>
          </p:nvPr>
        </p:nvSpPr>
        <p:spPr/>
        <p:txBody>
          <a:bodyPr/>
          <a:lstStyle/>
          <a:p>
            <a:r>
              <a:rPr kumimoji="1" lang="ja-JP" altLang="en-US" dirty="0"/>
              <a:t>考察</a:t>
            </a:r>
          </a:p>
        </p:txBody>
      </p:sp>
      <p:sp>
        <p:nvSpPr>
          <p:cNvPr id="5" name="コンテンツ プレースホルダー 4">
            <a:extLst>
              <a:ext uri="{FF2B5EF4-FFF2-40B4-BE49-F238E27FC236}">
                <a16:creationId xmlns:a16="http://schemas.microsoft.com/office/drawing/2014/main" id="{17B14DBF-EAFF-CF72-E24E-F1373547DF80}"/>
              </a:ext>
            </a:extLst>
          </p:cNvPr>
          <p:cNvSpPr>
            <a:spLocks noGrp="1"/>
          </p:cNvSpPr>
          <p:nvPr>
            <p:ph idx="1"/>
          </p:nvPr>
        </p:nvSpPr>
        <p:spPr>
          <a:xfrm>
            <a:off x="838199" y="1023729"/>
            <a:ext cx="10515601" cy="5697745"/>
          </a:xfrm>
        </p:spPr>
        <p:txBody>
          <a:bodyPr>
            <a:normAutofit fontScale="92500" lnSpcReduction="10000"/>
          </a:bodyPr>
          <a:lstStyle/>
          <a:p>
            <a:pPr marL="0" indent="0">
              <a:buNone/>
            </a:pPr>
            <a:r>
              <a:rPr lang="ja-JP" altLang="en-US" b="1" dirty="0"/>
              <a:t>良い点</a:t>
            </a:r>
            <a:endParaRPr lang="en-US" altLang="ja-JP" b="1" dirty="0"/>
          </a:p>
          <a:p>
            <a:pPr marL="457200" indent="-457200">
              <a:buFont typeface="+mj-lt"/>
              <a:buAutoNum type="arabicPeriod"/>
            </a:pPr>
            <a:r>
              <a:rPr lang="ja-JP" altLang="en-US" dirty="0"/>
              <a:t>問題生成を自動で行えるようになる</a:t>
            </a:r>
            <a:endParaRPr lang="en-US" altLang="ja-JP" dirty="0"/>
          </a:p>
          <a:p>
            <a:pPr marL="457200" lvl="1" indent="0">
              <a:buNone/>
            </a:pPr>
            <a:r>
              <a:rPr lang="ja-JP" altLang="en-US" dirty="0"/>
              <a:t>→資格試験の学習者が新出単語を即座に学べる環境を作成できる</a:t>
            </a:r>
            <a:endParaRPr lang="en-US" altLang="ja-JP" dirty="0"/>
          </a:p>
          <a:p>
            <a:pPr marL="457200" indent="-457200">
              <a:buFont typeface="+mj-lt"/>
              <a:buAutoNum type="arabicPeriod"/>
            </a:pPr>
            <a:r>
              <a:rPr lang="ja-JP" altLang="en-US" dirty="0"/>
              <a:t>出題傾向に沿った問題を作成できる</a:t>
            </a:r>
            <a:endParaRPr lang="en-US" altLang="ja-JP" dirty="0"/>
          </a:p>
          <a:p>
            <a:pPr marL="457200" lvl="1" indent="0">
              <a:buNone/>
            </a:pPr>
            <a:r>
              <a:rPr lang="ja-JP" altLang="en-US" dirty="0"/>
              <a:t>→モデルのファインチューニングを行うことにより資格試験らしさを維持できる</a:t>
            </a:r>
            <a:endParaRPr lang="en-US" altLang="ja-JP" dirty="0"/>
          </a:p>
          <a:p>
            <a:pPr marL="457200" lvl="1" indent="0">
              <a:buNone/>
            </a:pPr>
            <a:r>
              <a:rPr lang="ja-JP" altLang="en-US" dirty="0"/>
              <a:t>　ファインチューニングなしの結果を超えたい</a:t>
            </a:r>
            <a:endParaRPr lang="en-US" altLang="ja-JP" dirty="0"/>
          </a:p>
          <a:p>
            <a:pPr marL="457200" lvl="1" indent="0">
              <a:buNone/>
            </a:pPr>
            <a:r>
              <a:rPr lang="ja-JP" altLang="en-US" dirty="0"/>
              <a:t>→基本情報技術者試験以外の資格試験にも柔軟に対応できる</a:t>
            </a:r>
            <a:endParaRPr lang="en-US" altLang="ja-JP" dirty="0"/>
          </a:p>
          <a:p>
            <a:pPr marL="0" indent="0">
              <a:buNone/>
            </a:pPr>
            <a:endParaRPr lang="en-US" altLang="ja-JP" dirty="0"/>
          </a:p>
          <a:p>
            <a:pPr marL="0" indent="0">
              <a:buNone/>
            </a:pPr>
            <a:r>
              <a:rPr lang="ja-JP" altLang="en-US" b="1" dirty="0"/>
              <a:t>問題点</a:t>
            </a:r>
            <a:endParaRPr lang="en-US" altLang="ja-JP" b="1" dirty="0"/>
          </a:p>
          <a:p>
            <a:pPr marL="457200" indent="-457200">
              <a:buFont typeface="+mj-lt"/>
              <a:buAutoNum type="arabicPeriod"/>
            </a:pPr>
            <a:r>
              <a:rPr lang="ja-JP" altLang="en-US" dirty="0"/>
              <a:t>誤った問題をファインチューニングさせてしまう</a:t>
            </a:r>
            <a:endParaRPr lang="en-US" altLang="ja-JP" dirty="0"/>
          </a:p>
          <a:p>
            <a:pPr marL="457200" lvl="1" indent="0">
              <a:buNone/>
            </a:pPr>
            <a:r>
              <a:rPr lang="ja-JP" altLang="en-US" dirty="0"/>
              <a:t>⇔時間を削減できる</a:t>
            </a:r>
            <a:endParaRPr lang="en-US" altLang="ja-JP" dirty="0"/>
          </a:p>
          <a:p>
            <a:pPr marL="457200" indent="-457200">
              <a:buFont typeface="+mj-lt"/>
              <a:buAutoNum type="arabicPeriod"/>
            </a:pPr>
            <a:r>
              <a:rPr lang="ja-JP" altLang="en-US" dirty="0"/>
              <a:t>図表問題に対応できない</a:t>
            </a:r>
            <a:endParaRPr lang="en-US" altLang="ja-JP" dirty="0"/>
          </a:p>
          <a:p>
            <a:pPr marL="457200" lvl="1" indent="0">
              <a:buNone/>
            </a:pPr>
            <a:r>
              <a:rPr lang="ja-JP" altLang="en-US" dirty="0"/>
              <a:t>→基本情報技術者試験の合格率は</a:t>
            </a:r>
            <a:r>
              <a:rPr lang="en-US" altLang="ja-JP" dirty="0"/>
              <a:t>60%</a:t>
            </a:r>
            <a:r>
              <a:rPr lang="ja-JP" altLang="en-US" dirty="0"/>
              <a:t>以上であり、単語の理解で</a:t>
            </a:r>
            <a:r>
              <a:rPr lang="en-US" altLang="ja-JP" dirty="0"/>
              <a:t>60%</a:t>
            </a:r>
            <a:r>
              <a:rPr lang="ja-JP" altLang="en-US" dirty="0"/>
              <a:t>～</a:t>
            </a:r>
            <a:r>
              <a:rPr lang="en-US" altLang="ja-JP" dirty="0"/>
              <a:t>70%</a:t>
            </a:r>
            <a:r>
              <a:rPr lang="ja-JP" altLang="en-US" dirty="0"/>
              <a:t>の点数を取得できる　</a:t>
            </a:r>
            <a:endParaRPr lang="en-US" altLang="ja-JP" dirty="0"/>
          </a:p>
          <a:p>
            <a:pPr marL="457200" indent="-457200">
              <a:buFont typeface="+mj-lt"/>
              <a:buAutoNum type="arabicPeriod"/>
            </a:pPr>
            <a:r>
              <a:rPr lang="en-US" altLang="ja-JP" dirty="0"/>
              <a:t>Wikipedia</a:t>
            </a:r>
            <a:r>
              <a:rPr lang="ja-JP" altLang="en-US" dirty="0"/>
              <a:t>を入力としている</a:t>
            </a:r>
            <a:endParaRPr lang="en-US" altLang="ja-JP" dirty="0"/>
          </a:p>
          <a:p>
            <a:pPr marL="457200" lvl="1" indent="0">
              <a:buNone/>
            </a:pPr>
            <a:r>
              <a:rPr lang="ja-JP" altLang="en-US" dirty="0"/>
              <a:t>→単語からデータセットを自動作成できるようにしたい</a:t>
            </a:r>
            <a:endParaRPr lang="en-US" altLang="ja-JP" dirty="0"/>
          </a:p>
          <a:p>
            <a:pPr marL="457200" lvl="1" indent="0">
              <a:buNone/>
            </a:pPr>
            <a:endParaRPr lang="en-US" altLang="ja-JP" dirty="0"/>
          </a:p>
          <a:p>
            <a:pPr marL="457200" indent="-457200">
              <a:buFont typeface="+mj-lt"/>
              <a:buAutoNum type="arabicPeriod"/>
            </a:pPr>
            <a:endParaRPr lang="en-US" altLang="ja-JP" dirty="0"/>
          </a:p>
        </p:txBody>
      </p:sp>
      <p:sp>
        <p:nvSpPr>
          <p:cNvPr id="4" name="スライド番号プレースホルダー 3">
            <a:extLst>
              <a:ext uri="{FF2B5EF4-FFF2-40B4-BE49-F238E27FC236}">
                <a16:creationId xmlns:a16="http://schemas.microsoft.com/office/drawing/2014/main" id="{6D8665BA-D65E-FD12-2D34-F96F98F699DE}"/>
              </a:ext>
            </a:extLst>
          </p:cNvPr>
          <p:cNvSpPr>
            <a:spLocks noGrp="1"/>
          </p:cNvSpPr>
          <p:nvPr>
            <p:ph type="sldNum" sz="quarter" idx="12"/>
          </p:nvPr>
        </p:nvSpPr>
        <p:spPr/>
        <p:txBody>
          <a:bodyPr/>
          <a:lstStyle/>
          <a:p>
            <a:fld id="{9FB99072-780F-43D9-B22B-8FACFE63800E}" type="slidenum">
              <a:rPr kumimoji="1" lang="ja-JP" altLang="en-US" smtClean="0"/>
              <a:t>20</a:t>
            </a:fld>
            <a:endParaRPr kumimoji="1" lang="ja-JP" altLang="en-US"/>
          </a:p>
        </p:txBody>
      </p:sp>
    </p:spTree>
    <p:extLst>
      <p:ext uri="{BB962C8B-B14F-4D97-AF65-F5344CB8AC3E}">
        <p14:creationId xmlns:p14="http://schemas.microsoft.com/office/powerpoint/2010/main" val="2578913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A6498642-FA5D-84CC-A7BD-706A30BAECA0}"/>
              </a:ext>
            </a:extLst>
          </p:cNvPr>
          <p:cNvSpPr/>
          <p:nvPr/>
        </p:nvSpPr>
        <p:spPr>
          <a:xfrm>
            <a:off x="8824360" y="1759449"/>
            <a:ext cx="2529439" cy="43034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正方形/長方形 17">
            <a:extLst>
              <a:ext uri="{FF2B5EF4-FFF2-40B4-BE49-F238E27FC236}">
                <a16:creationId xmlns:a16="http://schemas.microsoft.com/office/drawing/2014/main" id="{F1371A8B-FC6A-6DAB-CE7D-B498C3D49F13}"/>
              </a:ext>
            </a:extLst>
          </p:cNvPr>
          <p:cNvSpPr/>
          <p:nvPr/>
        </p:nvSpPr>
        <p:spPr>
          <a:xfrm>
            <a:off x="6195458" y="1759449"/>
            <a:ext cx="2529438" cy="43034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A228AEA7-C83A-5897-15F9-FCE26D2BD832}"/>
              </a:ext>
            </a:extLst>
          </p:cNvPr>
          <p:cNvSpPr/>
          <p:nvPr/>
        </p:nvSpPr>
        <p:spPr>
          <a:xfrm>
            <a:off x="838198" y="1730943"/>
            <a:ext cx="2529438" cy="430342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13138820-A0AE-119A-1C07-72F6454C7936}"/>
              </a:ext>
            </a:extLst>
          </p:cNvPr>
          <p:cNvSpPr/>
          <p:nvPr/>
        </p:nvSpPr>
        <p:spPr>
          <a:xfrm>
            <a:off x="3467100" y="1730943"/>
            <a:ext cx="2529439" cy="430342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4C5433B-7814-EA87-B545-579B4DF6B6B1}"/>
              </a:ext>
            </a:extLst>
          </p:cNvPr>
          <p:cNvSpPr>
            <a:spLocks noGrp="1"/>
          </p:cNvSpPr>
          <p:nvPr>
            <p:ph type="title"/>
          </p:nvPr>
        </p:nvSpPr>
        <p:spPr/>
        <p:txBody>
          <a:bodyPr/>
          <a:lstStyle/>
          <a:p>
            <a:r>
              <a:rPr kumimoji="1" lang="ja-JP" altLang="en-US" dirty="0"/>
              <a:t>先行研究の図</a:t>
            </a:r>
          </a:p>
        </p:txBody>
      </p:sp>
      <p:sp>
        <p:nvSpPr>
          <p:cNvPr id="3" name="スライド番号プレースホルダー 2">
            <a:extLst>
              <a:ext uri="{FF2B5EF4-FFF2-40B4-BE49-F238E27FC236}">
                <a16:creationId xmlns:a16="http://schemas.microsoft.com/office/drawing/2014/main" id="{E65C2D66-D6C9-5990-3922-325FB1537E13}"/>
              </a:ext>
            </a:extLst>
          </p:cNvPr>
          <p:cNvSpPr>
            <a:spLocks noGrp="1"/>
          </p:cNvSpPr>
          <p:nvPr>
            <p:ph type="sldNum" sz="quarter" idx="12"/>
          </p:nvPr>
        </p:nvSpPr>
        <p:spPr/>
        <p:txBody>
          <a:bodyPr/>
          <a:lstStyle/>
          <a:p>
            <a:fld id="{9FB99072-780F-43D9-B22B-8FACFE63800E}" type="slidenum">
              <a:rPr kumimoji="1" lang="ja-JP" altLang="en-US" smtClean="0"/>
              <a:t>21</a:t>
            </a:fld>
            <a:endParaRPr kumimoji="1" lang="ja-JP" altLang="en-US"/>
          </a:p>
        </p:txBody>
      </p:sp>
      <p:sp>
        <p:nvSpPr>
          <p:cNvPr id="5" name="正方形/長方形 4">
            <a:extLst>
              <a:ext uri="{FF2B5EF4-FFF2-40B4-BE49-F238E27FC236}">
                <a16:creationId xmlns:a16="http://schemas.microsoft.com/office/drawing/2014/main" id="{78A4AFC6-48D8-2E6C-3EF8-14D205EA6722}"/>
              </a:ext>
            </a:extLst>
          </p:cNvPr>
          <p:cNvSpPr/>
          <p:nvPr/>
        </p:nvSpPr>
        <p:spPr>
          <a:xfrm>
            <a:off x="838198" y="1193533"/>
            <a:ext cx="5158341" cy="3850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t>本システム</a:t>
            </a:r>
          </a:p>
        </p:txBody>
      </p:sp>
      <p:sp>
        <p:nvSpPr>
          <p:cNvPr id="7" name="正方形/長方形 6">
            <a:extLst>
              <a:ext uri="{FF2B5EF4-FFF2-40B4-BE49-F238E27FC236}">
                <a16:creationId xmlns:a16="http://schemas.microsoft.com/office/drawing/2014/main" id="{E138E5B1-AE26-BE4E-96A1-162CF53D9C99}"/>
              </a:ext>
            </a:extLst>
          </p:cNvPr>
          <p:cNvSpPr/>
          <p:nvPr/>
        </p:nvSpPr>
        <p:spPr>
          <a:xfrm>
            <a:off x="6195461" y="1193533"/>
            <a:ext cx="5158338" cy="385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Web</a:t>
            </a:r>
            <a:r>
              <a:rPr lang="ja-JP" altLang="en-US" dirty="0"/>
              <a:t>サービス</a:t>
            </a:r>
            <a:endParaRPr kumimoji="1" lang="ja-JP" altLang="en-US" dirty="0"/>
          </a:p>
        </p:txBody>
      </p:sp>
      <p:pic>
        <p:nvPicPr>
          <p:cNvPr id="9" name="グラフィックス 8" descr="オフィス ワーカー (男性) 枠線">
            <a:extLst>
              <a:ext uri="{FF2B5EF4-FFF2-40B4-BE49-F238E27FC236}">
                <a16:creationId xmlns:a16="http://schemas.microsoft.com/office/drawing/2014/main" id="{42141542-53FF-6FE6-9B4B-B46059782D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26488" y="1908106"/>
            <a:ext cx="914400" cy="914400"/>
          </a:xfrm>
          <a:prstGeom prst="rect">
            <a:avLst/>
          </a:prstGeom>
        </p:spPr>
      </p:pic>
      <p:pic>
        <p:nvPicPr>
          <p:cNvPr id="11" name="グラフィックス 10" descr="オフィス ワーカー (女性) 枠線">
            <a:extLst>
              <a:ext uri="{FF2B5EF4-FFF2-40B4-BE49-F238E27FC236}">
                <a16:creationId xmlns:a16="http://schemas.microsoft.com/office/drawing/2014/main" id="{98DEECE4-5747-5DB6-1824-2A212C6A37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2977" y="1908106"/>
            <a:ext cx="914400" cy="914400"/>
          </a:xfrm>
          <a:prstGeom prst="rect">
            <a:avLst/>
          </a:prstGeom>
        </p:spPr>
      </p:pic>
      <p:pic>
        <p:nvPicPr>
          <p:cNvPr id="13" name="グラフィックス 12" descr="男子生徒 枠線">
            <a:extLst>
              <a:ext uri="{FF2B5EF4-FFF2-40B4-BE49-F238E27FC236}">
                <a16:creationId xmlns:a16="http://schemas.microsoft.com/office/drawing/2014/main" id="{17BF0B8B-D5CE-DD77-25B5-4A18B74408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4999" y="1908106"/>
            <a:ext cx="914400" cy="914400"/>
          </a:xfrm>
          <a:prstGeom prst="rect">
            <a:avLst/>
          </a:prstGeom>
        </p:spPr>
      </p:pic>
      <p:sp>
        <p:nvSpPr>
          <p:cNvPr id="21" name="テキスト ボックス 20">
            <a:extLst>
              <a:ext uri="{FF2B5EF4-FFF2-40B4-BE49-F238E27FC236}">
                <a16:creationId xmlns:a16="http://schemas.microsoft.com/office/drawing/2014/main" id="{25AFFC4E-4FEE-4F9C-B36A-F8E52AD503AD}"/>
              </a:ext>
            </a:extLst>
          </p:cNvPr>
          <p:cNvSpPr txBox="1"/>
          <p:nvPr/>
        </p:nvSpPr>
        <p:spPr>
          <a:xfrm>
            <a:off x="6910365" y="2783230"/>
            <a:ext cx="1099623" cy="276999"/>
          </a:xfrm>
          <a:prstGeom prst="rect">
            <a:avLst/>
          </a:prstGeom>
          <a:noFill/>
        </p:spPr>
        <p:txBody>
          <a:bodyPr wrap="square" rtlCol="0">
            <a:spAutoFit/>
          </a:bodyPr>
          <a:lstStyle/>
          <a:p>
            <a:r>
              <a:rPr kumimoji="1" lang="ja-JP" altLang="en-US" sz="1200" dirty="0"/>
              <a:t>教員ユーザー</a:t>
            </a:r>
          </a:p>
        </p:txBody>
      </p:sp>
      <p:sp>
        <p:nvSpPr>
          <p:cNvPr id="23" name="テキスト ボックス 22">
            <a:extLst>
              <a:ext uri="{FF2B5EF4-FFF2-40B4-BE49-F238E27FC236}">
                <a16:creationId xmlns:a16="http://schemas.microsoft.com/office/drawing/2014/main" id="{C65C35CC-8DB7-7D60-9B00-C91516538345}"/>
              </a:ext>
            </a:extLst>
          </p:cNvPr>
          <p:cNvSpPr txBox="1"/>
          <p:nvPr/>
        </p:nvSpPr>
        <p:spPr>
          <a:xfrm>
            <a:off x="9432387" y="2783229"/>
            <a:ext cx="1099623" cy="276999"/>
          </a:xfrm>
          <a:prstGeom prst="rect">
            <a:avLst/>
          </a:prstGeom>
          <a:noFill/>
        </p:spPr>
        <p:txBody>
          <a:bodyPr wrap="square" rtlCol="0">
            <a:spAutoFit/>
          </a:bodyPr>
          <a:lstStyle/>
          <a:p>
            <a:r>
              <a:rPr kumimoji="1" lang="ja-JP" altLang="en-US" sz="1200" dirty="0"/>
              <a:t>生徒ユーザー</a:t>
            </a:r>
          </a:p>
        </p:txBody>
      </p:sp>
      <p:sp>
        <p:nvSpPr>
          <p:cNvPr id="25" name="テキスト ボックス 24">
            <a:extLst>
              <a:ext uri="{FF2B5EF4-FFF2-40B4-BE49-F238E27FC236}">
                <a16:creationId xmlns:a16="http://schemas.microsoft.com/office/drawing/2014/main" id="{82066F36-7AAA-24BF-898B-1E5DC95A85F7}"/>
              </a:ext>
            </a:extLst>
          </p:cNvPr>
          <p:cNvSpPr txBox="1"/>
          <p:nvPr/>
        </p:nvSpPr>
        <p:spPr>
          <a:xfrm>
            <a:off x="4175155" y="2783229"/>
            <a:ext cx="1355695" cy="276999"/>
          </a:xfrm>
          <a:prstGeom prst="rect">
            <a:avLst/>
          </a:prstGeom>
          <a:noFill/>
        </p:spPr>
        <p:txBody>
          <a:bodyPr wrap="square" rtlCol="0">
            <a:spAutoFit/>
          </a:bodyPr>
          <a:lstStyle/>
          <a:p>
            <a:r>
              <a:rPr lang="ja-JP" altLang="en-US" sz="1200" dirty="0"/>
              <a:t>システム操作者</a:t>
            </a:r>
            <a:endParaRPr kumimoji="1" lang="ja-JP" altLang="en-US" sz="1200" dirty="0"/>
          </a:p>
        </p:txBody>
      </p:sp>
      <p:sp>
        <p:nvSpPr>
          <p:cNvPr id="26" name="四角形: 角を丸くする 25">
            <a:extLst>
              <a:ext uri="{FF2B5EF4-FFF2-40B4-BE49-F238E27FC236}">
                <a16:creationId xmlns:a16="http://schemas.microsoft.com/office/drawing/2014/main" id="{2B479388-B6CA-6F7C-4E48-4E7721822A4D}"/>
              </a:ext>
            </a:extLst>
          </p:cNvPr>
          <p:cNvSpPr/>
          <p:nvPr/>
        </p:nvSpPr>
        <p:spPr>
          <a:xfrm>
            <a:off x="6426200" y="4076700"/>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生徒ユーザーへ</a:t>
            </a:r>
            <a:endParaRPr lang="en-US" altLang="ja-JP" sz="1400" dirty="0">
              <a:solidFill>
                <a:schemeClr val="tx2"/>
              </a:solidFill>
            </a:endParaRPr>
          </a:p>
          <a:p>
            <a:pPr algn="ctr"/>
            <a:r>
              <a:rPr lang="ja-JP" altLang="en-US" sz="1400" dirty="0">
                <a:solidFill>
                  <a:schemeClr val="tx2"/>
                </a:solidFill>
              </a:rPr>
              <a:t>試験問題配信</a:t>
            </a:r>
            <a:endParaRPr kumimoji="1" lang="ja-JP" altLang="en-US" sz="1400" dirty="0">
              <a:solidFill>
                <a:schemeClr val="tx2"/>
              </a:solidFill>
            </a:endParaRPr>
          </a:p>
        </p:txBody>
      </p:sp>
      <p:sp>
        <p:nvSpPr>
          <p:cNvPr id="28" name="四角形: 角を丸くする 27">
            <a:extLst>
              <a:ext uri="{FF2B5EF4-FFF2-40B4-BE49-F238E27FC236}">
                <a16:creationId xmlns:a16="http://schemas.microsoft.com/office/drawing/2014/main" id="{78B2643F-08F5-CB5C-D0C2-E24189DB7EFD}"/>
              </a:ext>
            </a:extLst>
          </p:cNvPr>
          <p:cNvSpPr/>
          <p:nvPr/>
        </p:nvSpPr>
        <p:spPr>
          <a:xfrm>
            <a:off x="9220200" y="4076700"/>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試験</a:t>
            </a:r>
            <a:r>
              <a:rPr kumimoji="1" lang="ja-JP" altLang="en-US" sz="1400" dirty="0">
                <a:solidFill>
                  <a:schemeClr val="tx2"/>
                </a:solidFill>
              </a:rPr>
              <a:t>問題</a:t>
            </a:r>
            <a:endParaRPr kumimoji="1" lang="en-US" altLang="ja-JP" sz="1400" dirty="0">
              <a:solidFill>
                <a:schemeClr val="tx2"/>
              </a:solidFill>
            </a:endParaRPr>
          </a:p>
          <a:p>
            <a:pPr algn="ctr"/>
            <a:r>
              <a:rPr lang="ja-JP" altLang="en-US" sz="1400" dirty="0">
                <a:solidFill>
                  <a:schemeClr val="tx2"/>
                </a:solidFill>
              </a:rPr>
              <a:t>出題</a:t>
            </a:r>
            <a:endParaRPr kumimoji="1" lang="ja-JP" altLang="en-US" sz="1400" dirty="0">
              <a:solidFill>
                <a:schemeClr val="tx2"/>
              </a:solidFill>
            </a:endParaRPr>
          </a:p>
        </p:txBody>
      </p:sp>
      <p:sp>
        <p:nvSpPr>
          <p:cNvPr id="30" name="四角形: 角を丸くする 29">
            <a:extLst>
              <a:ext uri="{FF2B5EF4-FFF2-40B4-BE49-F238E27FC236}">
                <a16:creationId xmlns:a16="http://schemas.microsoft.com/office/drawing/2014/main" id="{188FA352-6345-EE37-99AD-492B6F25C1E2}"/>
              </a:ext>
            </a:extLst>
          </p:cNvPr>
          <p:cNvSpPr/>
          <p:nvPr/>
        </p:nvSpPr>
        <p:spPr>
          <a:xfrm>
            <a:off x="3818488" y="3109428"/>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dirty="0">
                <a:solidFill>
                  <a:schemeClr val="tx2"/>
                </a:solidFill>
              </a:rPr>
              <a:t>管理サーバー</a:t>
            </a:r>
          </a:p>
        </p:txBody>
      </p:sp>
      <p:sp>
        <p:nvSpPr>
          <p:cNvPr id="32" name="四角形: 角を丸くする 31">
            <a:extLst>
              <a:ext uri="{FF2B5EF4-FFF2-40B4-BE49-F238E27FC236}">
                <a16:creationId xmlns:a16="http://schemas.microsoft.com/office/drawing/2014/main" id="{2552026D-5440-B960-B96A-A2272A041A48}"/>
              </a:ext>
            </a:extLst>
          </p:cNvPr>
          <p:cNvSpPr/>
          <p:nvPr/>
        </p:nvSpPr>
        <p:spPr>
          <a:xfrm>
            <a:off x="3816347" y="4858822"/>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試験問題</a:t>
            </a:r>
            <a:endParaRPr lang="en-US" altLang="ja-JP" sz="1400" dirty="0">
              <a:solidFill>
                <a:schemeClr val="tx2"/>
              </a:solidFill>
            </a:endParaRPr>
          </a:p>
          <a:p>
            <a:pPr algn="ctr"/>
            <a:r>
              <a:rPr kumimoji="1" lang="ja-JP" altLang="en-US" sz="1400" dirty="0">
                <a:solidFill>
                  <a:schemeClr val="tx2"/>
                </a:solidFill>
              </a:rPr>
              <a:t>管理データベース</a:t>
            </a:r>
          </a:p>
        </p:txBody>
      </p:sp>
      <p:sp>
        <p:nvSpPr>
          <p:cNvPr id="34" name="四角形: 角を丸くする 33">
            <a:extLst>
              <a:ext uri="{FF2B5EF4-FFF2-40B4-BE49-F238E27FC236}">
                <a16:creationId xmlns:a16="http://schemas.microsoft.com/office/drawing/2014/main" id="{03229D3E-5591-CB59-8CD8-0F039B2284A1}"/>
              </a:ext>
            </a:extLst>
          </p:cNvPr>
          <p:cNvSpPr/>
          <p:nvPr/>
        </p:nvSpPr>
        <p:spPr>
          <a:xfrm>
            <a:off x="1137717" y="3109428"/>
            <a:ext cx="1930399" cy="8001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400" b="1" dirty="0">
                <a:solidFill>
                  <a:schemeClr val="tx1"/>
                </a:solidFill>
              </a:rPr>
              <a:t>AI</a:t>
            </a:r>
            <a:r>
              <a:rPr kumimoji="1" lang="ja-JP" altLang="en-US" sz="1400" b="1" dirty="0">
                <a:solidFill>
                  <a:schemeClr val="tx1"/>
                </a:solidFill>
              </a:rPr>
              <a:t>作問エンジン</a:t>
            </a:r>
          </a:p>
        </p:txBody>
      </p:sp>
      <p:sp>
        <p:nvSpPr>
          <p:cNvPr id="36" name="四角形: 角を丸くする 35">
            <a:extLst>
              <a:ext uri="{FF2B5EF4-FFF2-40B4-BE49-F238E27FC236}">
                <a16:creationId xmlns:a16="http://schemas.microsoft.com/office/drawing/2014/main" id="{EC768F1D-7D30-D163-4699-5B6D08BB5D12}"/>
              </a:ext>
            </a:extLst>
          </p:cNvPr>
          <p:cNvSpPr/>
          <p:nvPr/>
        </p:nvSpPr>
        <p:spPr>
          <a:xfrm>
            <a:off x="1137716" y="4833422"/>
            <a:ext cx="1930399" cy="8001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400" dirty="0">
                <a:solidFill>
                  <a:schemeClr val="tx1"/>
                </a:solidFill>
              </a:rPr>
              <a:t>外部記憶</a:t>
            </a:r>
            <a:endParaRPr kumimoji="1" lang="en-US" altLang="ja-JP" sz="1400" dirty="0">
              <a:solidFill>
                <a:schemeClr val="tx1"/>
              </a:solidFill>
            </a:endParaRPr>
          </a:p>
          <a:p>
            <a:pPr algn="ctr"/>
            <a:r>
              <a:rPr kumimoji="1" lang="ja-JP" altLang="en-US" sz="1400" dirty="0">
                <a:solidFill>
                  <a:schemeClr val="tx1"/>
                </a:solidFill>
              </a:rPr>
              <a:t>データベース</a:t>
            </a:r>
          </a:p>
        </p:txBody>
      </p:sp>
      <p:cxnSp>
        <p:nvCxnSpPr>
          <p:cNvPr id="38" name="直線矢印コネクタ 37">
            <a:extLst>
              <a:ext uri="{FF2B5EF4-FFF2-40B4-BE49-F238E27FC236}">
                <a16:creationId xmlns:a16="http://schemas.microsoft.com/office/drawing/2014/main" id="{529FFF00-71E4-992F-95EE-ED9338855693}"/>
              </a:ext>
            </a:extLst>
          </p:cNvPr>
          <p:cNvCxnSpPr>
            <a:cxnSpLocks/>
            <a:stCxn id="34" idx="2"/>
            <a:endCxn id="36" idx="0"/>
          </p:cNvCxnSpPr>
          <p:nvPr/>
        </p:nvCxnSpPr>
        <p:spPr>
          <a:xfrm flipH="1">
            <a:off x="2102916" y="3909528"/>
            <a:ext cx="1" cy="92389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矢印コネクタ 40">
            <a:extLst>
              <a:ext uri="{FF2B5EF4-FFF2-40B4-BE49-F238E27FC236}">
                <a16:creationId xmlns:a16="http://schemas.microsoft.com/office/drawing/2014/main" id="{54175ED4-B053-FA5F-6CD4-5D3BB604834A}"/>
              </a:ext>
            </a:extLst>
          </p:cNvPr>
          <p:cNvCxnSpPr/>
          <p:nvPr/>
        </p:nvCxnSpPr>
        <p:spPr>
          <a:xfrm flipH="1">
            <a:off x="3068115" y="3327400"/>
            <a:ext cx="748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DC69E125-3403-C27C-7303-AF80AAF8ABF9}"/>
              </a:ext>
            </a:extLst>
          </p:cNvPr>
          <p:cNvCxnSpPr>
            <a:cxnSpLocks/>
          </p:cNvCxnSpPr>
          <p:nvPr/>
        </p:nvCxnSpPr>
        <p:spPr>
          <a:xfrm>
            <a:off x="3068115" y="3522178"/>
            <a:ext cx="748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B3FAD6BD-A3AF-34BC-FC89-B2A3CF5CB512}"/>
              </a:ext>
            </a:extLst>
          </p:cNvPr>
          <p:cNvCxnSpPr>
            <a:cxnSpLocks/>
          </p:cNvCxnSpPr>
          <p:nvPr/>
        </p:nvCxnSpPr>
        <p:spPr>
          <a:xfrm flipH="1">
            <a:off x="4781545" y="3934928"/>
            <a:ext cx="1" cy="92389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直線コネクタ 46">
            <a:extLst>
              <a:ext uri="{FF2B5EF4-FFF2-40B4-BE49-F238E27FC236}">
                <a16:creationId xmlns:a16="http://schemas.microsoft.com/office/drawing/2014/main" id="{E9B6B43C-10E4-21FB-0997-EC0A9A22D29A}"/>
              </a:ext>
            </a:extLst>
          </p:cNvPr>
          <p:cNvCxnSpPr>
            <a:stCxn id="32" idx="3"/>
          </p:cNvCxnSpPr>
          <p:nvPr/>
        </p:nvCxnSpPr>
        <p:spPr>
          <a:xfrm>
            <a:off x="5746746" y="5258872"/>
            <a:ext cx="1713430" cy="0"/>
          </a:xfrm>
          <a:prstGeom prst="line">
            <a:avLst/>
          </a:prstGeom>
        </p:spPr>
        <p:style>
          <a:lnRef idx="1">
            <a:schemeClr val="dk1"/>
          </a:lnRef>
          <a:fillRef idx="0">
            <a:schemeClr val="dk1"/>
          </a:fillRef>
          <a:effectRef idx="0">
            <a:schemeClr val="dk1"/>
          </a:effectRef>
          <a:fontRef idx="minor">
            <a:schemeClr val="tx1"/>
          </a:fontRef>
        </p:style>
      </p:cxnSp>
      <p:cxnSp>
        <p:nvCxnSpPr>
          <p:cNvPr id="48" name="直線矢印コネクタ 47">
            <a:extLst>
              <a:ext uri="{FF2B5EF4-FFF2-40B4-BE49-F238E27FC236}">
                <a16:creationId xmlns:a16="http://schemas.microsoft.com/office/drawing/2014/main" id="{6858D886-6191-69DA-205F-CC1092C93D45}"/>
              </a:ext>
            </a:extLst>
          </p:cNvPr>
          <p:cNvCxnSpPr>
            <a:cxnSpLocks/>
          </p:cNvCxnSpPr>
          <p:nvPr/>
        </p:nvCxnSpPr>
        <p:spPr>
          <a:xfrm flipV="1">
            <a:off x="7460176" y="4876800"/>
            <a:ext cx="0" cy="3820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線矢印コネクタ 49">
            <a:extLst>
              <a:ext uri="{FF2B5EF4-FFF2-40B4-BE49-F238E27FC236}">
                <a16:creationId xmlns:a16="http://schemas.microsoft.com/office/drawing/2014/main" id="{EE9C6DEA-3943-3B74-94BB-10C5B500196D}"/>
              </a:ext>
            </a:extLst>
          </p:cNvPr>
          <p:cNvCxnSpPr>
            <a:cxnSpLocks/>
          </p:cNvCxnSpPr>
          <p:nvPr/>
        </p:nvCxnSpPr>
        <p:spPr>
          <a:xfrm>
            <a:off x="8356599" y="4476750"/>
            <a:ext cx="8418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吹き出し: 四角形 51">
            <a:extLst>
              <a:ext uri="{FF2B5EF4-FFF2-40B4-BE49-F238E27FC236}">
                <a16:creationId xmlns:a16="http://schemas.microsoft.com/office/drawing/2014/main" id="{670A3054-72FD-89AB-EBB1-7F82052BF5F4}"/>
              </a:ext>
            </a:extLst>
          </p:cNvPr>
          <p:cNvSpPr/>
          <p:nvPr/>
        </p:nvSpPr>
        <p:spPr>
          <a:xfrm>
            <a:off x="1462703" y="2411965"/>
            <a:ext cx="2659061" cy="371264"/>
          </a:xfrm>
          <a:prstGeom prst="wedgeRectCallout">
            <a:avLst>
              <a:gd name="adj1" fmla="val 22891"/>
              <a:gd name="adj2" fmla="val 9695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作問したい試験問題のテーマを入力</a:t>
            </a:r>
          </a:p>
        </p:txBody>
      </p:sp>
      <p:sp>
        <p:nvSpPr>
          <p:cNvPr id="54" name="吹き出し: 四角形 53">
            <a:extLst>
              <a:ext uri="{FF2B5EF4-FFF2-40B4-BE49-F238E27FC236}">
                <a16:creationId xmlns:a16="http://schemas.microsoft.com/office/drawing/2014/main" id="{0837DAA7-5E6E-CAFB-F2C4-E8D33675694F}"/>
              </a:ext>
            </a:extLst>
          </p:cNvPr>
          <p:cNvSpPr/>
          <p:nvPr/>
        </p:nvSpPr>
        <p:spPr>
          <a:xfrm>
            <a:off x="838197" y="4188354"/>
            <a:ext cx="1029766" cy="385010"/>
          </a:xfrm>
          <a:prstGeom prst="wedgeRectCallout">
            <a:avLst>
              <a:gd name="adj1" fmla="val 62356"/>
              <a:gd name="adj2" fmla="val 2109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情報の参照</a:t>
            </a:r>
          </a:p>
        </p:txBody>
      </p:sp>
      <p:sp>
        <p:nvSpPr>
          <p:cNvPr id="56" name="吹き出し: 四角形 55">
            <a:extLst>
              <a:ext uri="{FF2B5EF4-FFF2-40B4-BE49-F238E27FC236}">
                <a16:creationId xmlns:a16="http://schemas.microsoft.com/office/drawing/2014/main" id="{2C093169-6C99-F6CA-3E81-2506714B694E}"/>
              </a:ext>
            </a:extLst>
          </p:cNvPr>
          <p:cNvSpPr/>
          <p:nvPr/>
        </p:nvSpPr>
        <p:spPr>
          <a:xfrm>
            <a:off x="2778927" y="4039084"/>
            <a:ext cx="1276882" cy="424421"/>
          </a:xfrm>
          <a:prstGeom prst="wedgeRectCallout">
            <a:avLst>
              <a:gd name="adj1" fmla="val -4242"/>
              <a:gd name="adj2" fmla="val -943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出力結果を表示</a:t>
            </a:r>
          </a:p>
        </p:txBody>
      </p:sp>
      <p:sp>
        <p:nvSpPr>
          <p:cNvPr id="58" name="吹き出し: 四角形 57">
            <a:extLst>
              <a:ext uri="{FF2B5EF4-FFF2-40B4-BE49-F238E27FC236}">
                <a16:creationId xmlns:a16="http://schemas.microsoft.com/office/drawing/2014/main" id="{D12CF5AB-F865-DF15-BBEF-AA116B2F9F9B}"/>
              </a:ext>
            </a:extLst>
          </p:cNvPr>
          <p:cNvSpPr/>
          <p:nvPr/>
        </p:nvSpPr>
        <p:spPr>
          <a:xfrm>
            <a:off x="4919110" y="4014292"/>
            <a:ext cx="1445731" cy="689114"/>
          </a:xfrm>
          <a:prstGeom prst="wedgeRectCallout">
            <a:avLst>
              <a:gd name="adj1" fmla="val -58300"/>
              <a:gd name="adj2" fmla="val -7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生成された問題を選定し登録</a:t>
            </a:r>
          </a:p>
        </p:txBody>
      </p:sp>
      <p:sp>
        <p:nvSpPr>
          <p:cNvPr id="60" name="吹き出し: 四角形 59">
            <a:extLst>
              <a:ext uri="{FF2B5EF4-FFF2-40B4-BE49-F238E27FC236}">
                <a16:creationId xmlns:a16="http://schemas.microsoft.com/office/drawing/2014/main" id="{848AC582-D0EB-ABB4-8910-EFB11BDFEE07}"/>
              </a:ext>
            </a:extLst>
          </p:cNvPr>
          <p:cNvSpPr/>
          <p:nvPr/>
        </p:nvSpPr>
        <p:spPr>
          <a:xfrm>
            <a:off x="6271691" y="3125153"/>
            <a:ext cx="2376969" cy="689114"/>
          </a:xfrm>
          <a:prstGeom prst="wedgeRectCallout">
            <a:avLst>
              <a:gd name="adj1" fmla="val -1665"/>
              <a:gd name="adj2" fmla="val 785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試験問題管理データベースから、生徒に配信したい問題を選定</a:t>
            </a:r>
          </a:p>
        </p:txBody>
      </p:sp>
      <p:sp>
        <p:nvSpPr>
          <p:cNvPr id="66" name="吹き出し: 四角形 65">
            <a:extLst>
              <a:ext uri="{FF2B5EF4-FFF2-40B4-BE49-F238E27FC236}">
                <a16:creationId xmlns:a16="http://schemas.microsoft.com/office/drawing/2014/main" id="{EC4BB0DB-27AE-4A4C-CAC6-7E72BA93D0DC}"/>
              </a:ext>
            </a:extLst>
          </p:cNvPr>
          <p:cNvSpPr/>
          <p:nvPr/>
        </p:nvSpPr>
        <p:spPr>
          <a:xfrm>
            <a:off x="8900594" y="3084443"/>
            <a:ext cx="2376969" cy="689114"/>
          </a:xfrm>
          <a:prstGeom prst="wedgeRectCallout">
            <a:avLst>
              <a:gd name="adj1" fmla="val -1665"/>
              <a:gd name="adj2" fmla="val 785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教員ユーザーより配信された</a:t>
            </a:r>
            <a:endParaRPr kumimoji="1" lang="en-US" altLang="ja-JP" sz="1200" dirty="0"/>
          </a:p>
          <a:p>
            <a:pPr algn="ctr"/>
            <a:r>
              <a:rPr lang="ja-JP" altLang="en-US" sz="1200" dirty="0"/>
              <a:t>問題が</a:t>
            </a:r>
            <a:r>
              <a:rPr lang="en-US" altLang="ja-JP" sz="1200" dirty="0"/>
              <a:t>CBT</a:t>
            </a:r>
            <a:r>
              <a:rPr lang="ja-JP" altLang="en-US" sz="1200" dirty="0"/>
              <a:t>形式で出題</a:t>
            </a:r>
            <a:endParaRPr kumimoji="1" lang="ja-JP" altLang="en-US" sz="1200" dirty="0"/>
          </a:p>
        </p:txBody>
      </p:sp>
    </p:spTree>
    <p:extLst>
      <p:ext uri="{BB962C8B-B14F-4D97-AF65-F5344CB8AC3E}">
        <p14:creationId xmlns:p14="http://schemas.microsoft.com/office/powerpoint/2010/main" val="4056625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3957D3A-EB42-D485-B513-967B53248FAC}"/>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1C6FDA87-700E-52DD-A799-AA7482FB9CA6}"/>
              </a:ext>
            </a:extLst>
          </p:cNvPr>
          <p:cNvSpPr/>
          <p:nvPr/>
        </p:nvSpPr>
        <p:spPr>
          <a:xfrm>
            <a:off x="8824360" y="1759449"/>
            <a:ext cx="2529439" cy="43034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正方形/長方形 17">
            <a:extLst>
              <a:ext uri="{FF2B5EF4-FFF2-40B4-BE49-F238E27FC236}">
                <a16:creationId xmlns:a16="http://schemas.microsoft.com/office/drawing/2014/main" id="{B06E31BC-FF25-F6C1-43EE-1E19D89B5704}"/>
              </a:ext>
            </a:extLst>
          </p:cNvPr>
          <p:cNvSpPr/>
          <p:nvPr/>
        </p:nvSpPr>
        <p:spPr>
          <a:xfrm>
            <a:off x="6195458" y="1759449"/>
            <a:ext cx="2529438" cy="43034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632AF4F-1A2C-D7A2-5BB9-5A820FF7AF41}"/>
              </a:ext>
            </a:extLst>
          </p:cNvPr>
          <p:cNvSpPr/>
          <p:nvPr/>
        </p:nvSpPr>
        <p:spPr>
          <a:xfrm>
            <a:off x="838198" y="1730943"/>
            <a:ext cx="2529438" cy="430342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CC56FD09-CB89-D178-D955-44C64ED4DA5C}"/>
              </a:ext>
            </a:extLst>
          </p:cNvPr>
          <p:cNvSpPr/>
          <p:nvPr/>
        </p:nvSpPr>
        <p:spPr>
          <a:xfrm>
            <a:off x="3467100" y="1730943"/>
            <a:ext cx="2529439" cy="430342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FB6803A8-FB04-72ED-2191-C900327871DA}"/>
              </a:ext>
            </a:extLst>
          </p:cNvPr>
          <p:cNvSpPr>
            <a:spLocks noGrp="1"/>
          </p:cNvSpPr>
          <p:nvPr>
            <p:ph type="title"/>
          </p:nvPr>
        </p:nvSpPr>
        <p:spPr/>
        <p:txBody>
          <a:bodyPr/>
          <a:lstStyle/>
          <a:p>
            <a:r>
              <a:rPr kumimoji="1" lang="ja-JP" altLang="en-US" dirty="0"/>
              <a:t>先行研究の図</a:t>
            </a:r>
          </a:p>
        </p:txBody>
      </p:sp>
      <p:sp>
        <p:nvSpPr>
          <p:cNvPr id="3" name="スライド番号プレースホルダー 2">
            <a:extLst>
              <a:ext uri="{FF2B5EF4-FFF2-40B4-BE49-F238E27FC236}">
                <a16:creationId xmlns:a16="http://schemas.microsoft.com/office/drawing/2014/main" id="{0D16215A-315F-A85D-023A-186C7E4A1F46}"/>
              </a:ext>
            </a:extLst>
          </p:cNvPr>
          <p:cNvSpPr>
            <a:spLocks noGrp="1"/>
          </p:cNvSpPr>
          <p:nvPr>
            <p:ph type="sldNum" sz="quarter" idx="12"/>
          </p:nvPr>
        </p:nvSpPr>
        <p:spPr/>
        <p:txBody>
          <a:bodyPr/>
          <a:lstStyle/>
          <a:p>
            <a:fld id="{9FB99072-780F-43D9-B22B-8FACFE63800E}" type="slidenum">
              <a:rPr kumimoji="1" lang="ja-JP" altLang="en-US" smtClean="0"/>
              <a:t>22</a:t>
            </a:fld>
            <a:endParaRPr kumimoji="1" lang="ja-JP" altLang="en-US"/>
          </a:p>
        </p:txBody>
      </p:sp>
      <p:sp>
        <p:nvSpPr>
          <p:cNvPr id="5" name="正方形/長方形 4">
            <a:extLst>
              <a:ext uri="{FF2B5EF4-FFF2-40B4-BE49-F238E27FC236}">
                <a16:creationId xmlns:a16="http://schemas.microsoft.com/office/drawing/2014/main" id="{BCA97391-930D-9390-DE76-C3AAA4831B5F}"/>
              </a:ext>
            </a:extLst>
          </p:cNvPr>
          <p:cNvSpPr/>
          <p:nvPr/>
        </p:nvSpPr>
        <p:spPr>
          <a:xfrm>
            <a:off x="838198" y="1193533"/>
            <a:ext cx="5158341" cy="38501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t>本システム</a:t>
            </a:r>
          </a:p>
        </p:txBody>
      </p:sp>
      <p:sp>
        <p:nvSpPr>
          <p:cNvPr id="7" name="正方形/長方形 6">
            <a:extLst>
              <a:ext uri="{FF2B5EF4-FFF2-40B4-BE49-F238E27FC236}">
                <a16:creationId xmlns:a16="http://schemas.microsoft.com/office/drawing/2014/main" id="{405D0113-773A-8959-27C7-FBB062A821B9}"/>
              </a:ext>
            </a:extLst>
          </p:cNvPr>
          <p:cNvSpPr/>
          <p:nvPr/>
        </p:nvSpPr>
        <p:spPr>
          <a:xfrm>
            <a:off x="6195461" y="1193533"/>
            <a:ext cx="5158338" cy="3850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t>Web</a:t>
            </a:r>
            <a:r>
              <a:rPr lang="ja-JP" altLang="en-US" dirty="0"/>
              <a:t>サービス</a:t>
            </a:r>
            <a:endParaRPr kumimoji="1" lang="ja-JP" altLang="en-US" dirty="0"/>
          </a:p>
        </p:txBody>
      </p:sp>
      <p:pic>
        <p:nvPicPr>
          <p:cNvPr id="9" name="グラフィックス 8" descr="オフィス ワーカー (男性) 枠線">
            <a:extLst>
              <a:ext uri="{FF2B5EF4-FFF2-40B4-BE49-F238E27FC236}">
                <a16:creationId xmlns:a16="http://schemas.microsoft.com/office/drawing/2014/main" id="{3A8546B8-C61E-13EE-CB73-F2D73B18A4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26488" y="1908106"/>
            <a:ext cx="914400" cy="914400"/>
          </a:xfrm>
          <a:prstGeom prst="rect">
            <a:avLst/>
          </a:prstGeom>
        </p:spPr>
      </p:pic>
      <p:pic>
        <p:nvPicPr>
          <p:cNvPr id="11" name="グラフィックス 10" descr="オフィス ワーカー (女性) 枠線">
            <a:extLst>
              <a:ext uri="{FF2B5EF4-FFF2-40B4-BE49-F238E27FC236}">
                <a16:creationId xmlns:a16="http://schemas.microsoft.com/office/drawing/2014/main" id="{A86D9A9F-CDC1-07F4-319C-487CC3B49E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02977" y="1908106"/>
            <a:ext cx="914400" cy="914400"/>
          </a:xfrm>
          <a:prstGeom prst="rect">
            <a:avLst/>
          </a:prstGeom>
        </p:spPr>
      </p:pic>
      <p:pic>
        <p:nvPicPr>
          <p:cNvPr id="13" name="グラフィックス 12" descr="男子生徒 枠線">
            <a:extLst>
              <a:ext uri="{FF2B5EF4-FFF2-40B4-BE49-F238E27FC236}">
                <a16:creationId xmlns:a16="http://schemas.microsoft.com/office/drawing/2014/main" id="{67CFD378-F52C-47DB-299B-36AE7579D2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4999" y="1908106"/>
            <a:ext cx="914400" cy="914400"/>
          </a:xfrm>
          <a:prstGeom prst="rect">
            <a:avLst/>
          </a:prstGeom>
        </p:spPr>
      </p:pic>
      <p:sp>
        <p:nvSpPr>
          <p:cNvPr id="21" name="テキスト ボックス 20">
            <a:extLst>
              <a:ext uri="{FF2B5EF4-FFF2-40B4-BE49-F238E27FC236}">
                <a16:creationId xmlns:a16="http://schemas.microsoft.com/office/drawing/2014/main" id="{F23B38F7-FD3E-DE65-429F-20555A7578F2}"/>
              </a:ext>
            </a:extLst>
          </p:cNvPr>
          <p:cNvSpPr txBox="1"/>
          <p:nvPr/>
        </p:nvSpPr>
        <p:spPr>
          <a:xfrm>
            <a:off x="6910365" y="2783230"/>
            <a:ext cx="1099623" cy="276999"/>
          </a:xfrm>
          <a:prstGeom prst="rect">
            <a:avLst/>
          </a:prstGeom>
          <a:noFill/>
        </p:spPr>
        <p:txBody>
          <a:bodyPr wrap="square" rtlCol="0">
            <a:spAutoFit/>
          </a:bodyPr>
          <a:lstStyle/>
          <a:p>
            <a:r>
              <a:rPr kumimoji="1" lang="ja-JP" altLang="en-US" sz="1200" dirty="0"/>
              <a:t>教員ユーザー</a:t>
            </a:r>
          </a:p>
        </p:txBody>
      </p:sp>
      <p:sp>
        <p:nvSpPr>
          <p:cNvPr id="23" name="テキスト ボックス 22">
            <a:extLst>
              <a:ext uri="{FF2B5EF4-FFF2-40B4-BE49-F238E27FC236}">
                <a16:creationId xmlns:a16="http://schemas.microsoft.com/office/drawing/2014/main" id="{87AA2FDD-FEE7-0832-FB95-C1D6DDD84B65}"/>
              </a:ext>
            </a:extLst>
          </p:cNvPr>
          <p:cNvSpPr txBox="1"/>
          <p:nvPr/>
        </p:nvSpPr>
        <p:spPr>
          <a:xfrm>
            <a:off x="9432387" y="2783229"/>
            <a:ext cx="1099623" cy="276999"/>
          </a:xfrm>
          <a:prstGeom prst="rect">
            <a:avLst/>
          </a:prstGeom>
          <a:noFill/>
        </p:spPr>
        <p:txBody>
          <a:bodyPr wrap="square" rtlCol="0">
            <a:spAutoFit/>
          </a:bodyPr>
          <a:lstStyle/>
          <a:p>
            <a:r>
              <a:rPr kumimoji="1" lang="ja-JP" altLang="en-US" sz="1200" dirty="0"/>
              <a:t>生徒ユーザー</a:t>
            </a:r>
          </a:p>
        </p:txBody>
      </p:sp>
      <p:sp>
        <p:nvSpPr>
          <p:cNvPr id="25" name="テキスト ボックス 24">
            <a:extLst>
              <a:ext uri="{FF2B5EF4-FFF2-40B4-BE49-F238E27FC236}">
                <a16:creationId xmlns:a16="http://schemas.microsoft.com/office/drawing/2014/main" id="{7AE4550C-6DE8-8231-D8E5-B27D35C7763D}"/>
              </a:ext>
            </a:extLst>
          </p:cNvPr>
          <p:cNvSpPr txBox="1"/>
          <p:nvPr/>
        </p:nvSpPr>
        <p:spPr>
          <a:xfrm>
            <a:off x="4175155" y="2783229"/>
            <a:ext cx="1355695" cy="276999"/>
          </a:xfrm>
          <a:prstGeom prst="rect">
            <a:avLst/>
          </a:prstGeom>
          <a:noFill/>
        </p:spPr>
        <p:txBody>
          <a:bodyPr wrap="square" rtlCol="0">
            <a:spAutoFit/>
          </a:bodyPr>
          <a:lstStyle/>
          <a:p>
            <a:r>
              <a:rPr lang="ja-JP" altLang="en-US" sz="1200" dirty="0"/>
              <a:t>システム操作者</a:t>
            </a:r>
            <a:endParaRPr kumimoji="1" lang="ja-JP" altLang="en-US" sz="1200" dirty="0"/>
          </a:p>
        </p:txBody>
      </p:sp>
      <p:sp>
        <p:nvSpPr>
          <p:cNvPr id="26" name="四角形: 角を丸くする 25">
            <a:extLst>
              <a:ext uri="{FF2B5EF4-FFF2-40B4-BE49-F238E27FC236}">
                <a16:creationId xmlns:a16="http://schemas.microsoft.com/office/drawing/2014/main" id="{E58201A1-CBC1-9269-6B0F-A45FC4CC3057}"/>
              </a:ext>
            </a:extLst>
          </p:cNvPr>
          <p:cNvSpPr/>
          <p:nvPr/>
        </p:nvSpPr>
        <p:spPr>
          <a:xfrm>
            <a:off x="6426200" y="4076700"/>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生徒ユーザーへ</a:t>
            </a:r>
            <a:endParaRPr lang="en-US" altLang="ja-JP" sz="1400" dirty="0">
              <a:solidFill>
                <a:schemeClr val="tx2"/>
              </a:solidFill>
            </a:endParaRPr>
          </a:p>
          <a:p>
            <a:pPr algn="ctr"/>
            <a:r>
              <a:rPr lang="ja-JP" altLang="en-US" sz="1400" dirty="0">
                <a:solidFill>
                  <a:schemeClr val="tx2"/>
                </a:solidFill>
              </a:rPr>
              <a:t>試験問題配信</a:t>
            </a:r>
            <a:endParaRPr kumimoji="1" lang="ja-JP" altLang="en-US" sz="1400" dirty="0">
              <a:solidFill>
                <a:schemeClr val="tx2"/>
              </a:solidFill>
            </a:endParaRPr>
          </a:p>
        </p:txBody>
      </p:sp>
      <p:sp>
        <p:nvSpPr>
          <p:cNvPr id="28" name="四角形: 角を丸くする 27">
            <a:extLst>
              <a:ext uri="{FF2B5EF4-FFF2-40B4-BE49-F238E27FC236}">
                <a16:creationId xmlns:a16="http://schemas.microsoft.com/office/drawing/2014/main" id="{D5871C4A-E07A-75BC-7568-7642EC10AD0B}"/>
              </a:ext>
            </a:extLst>
          </p:cNvPr>
          <p:cNvSpPr/>
          <p:nvPr/>
        </p:nvSpPr>
        <p:spPr>
          <a:xfrm>
            <a:off x="9220200" y="4076700"/>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試験</a:t>
            </a:r>
            <a:r>
              <a:rPr kumimoji="1" lang="ja-JP" altLang="en-US" sz="1400" dirty="0">
                <a:solidFill>
                  <a:schemeClr val="tx2"/>
                </a:solidFill>
              </a:rPr>
              <a:t>問題</a:t>
            </a:r>
            <a:endParaRPr kumimoji="1" lang="en-US" altLang="ja-JP" sz="1400" dirty="0">
              <a:solidFill>
                <a:schemeClr val="tx2"/>
              </a:solidFill>
            </a:endParaRPr>
          </a:p>
          <a:p>
            <a:pPr algn="ctr"/>
            <a:r>
              <a:rPr lang="ja-JP" altLang="en-US" sz="1400" dirty="0">
                <a:solidFill>
                  <a:schemeClr val="tx2"/>
                </a:solidFill>
              </a:rPr>
              <a:t>出題</a:t>
            </a:r>
            <a:endParaRPr kumimoji="1" lang="ja-JP" altLang="en-US" sz="1400" dirty="0">
              <a:solidFill>
                <a:schemeClr val="tx2"/>
              </a:solidFill>
            </a:endParaRPr>
          </a:p>
        </p:txBody>
      </p:sp>
      <p:sp>
        <p:nvSpPr>
          <p:cNvPr id="30" name="四角形: 角を丸くする 29">
            <a:extLst>
              <a:ext uri="{FF2B5EF4-FFF2-40B4-BE49-F238E27FC236}">
                <a16:creationId xmlns:a16="http://schemas.microsoft.com/office/drawing/2014/main" id="{A2946BA3-90CD-B2F5-04E0-C1FB5A3C7928}"/>
              </a:ext>
            </a:extLst>
          </p:cNvPr>
          <p:cNvSpPr/>
          <p:nvPr/>
        </p:nvSpPr>
        <p:spPr>
          <a:xfrm>
            <a:off x="3818488" y="3109428"/>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ja-JP" altLang="en-US" sz="1400" dirty="0">
                <a:solidFill>
                  <a:schemeClr val="tx2"/>
                </a:solidFill>
              </a:rPr>
              <a:t>管理サーバー</a:t>
            </a:r>
          </a:p>
        </p:txBody>
      </p:sp>
      <p:sp>
        <p:nvSpPr>
          <p:cNvPr id="32" name="四角形: 角を丸くする 31">
            <a:extLst>
              <a:ext uri="{FF2B5EF4-FFF2-40B4-BE49-F238E27FC236}">
                <a16:creationId xmlns:a16="http://schemas.microsoft.com/office/drawing/2014/main" id="{DF1B044A-4E42-954B-8114-AE9D34A19535}"/>
              </a:ext>
            </a:extLst>
          </p:cNvPr>
          <p:cNvSpPr/>
          <p:nvPr/>
        </p:nvSpPr>
        <p:spPr>
          <a:xfrm>
            <a:off x="3816347" y="4858822"/>
            <a:ext cx="1930399" cy="8001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ja-JP" altLang="en-US" sz="1400" dirty="0">
                <a:solidFill>
                  <a:schemeClr val="tx2"/>
                </a:solidFill>
              </a:rPr>
              <a:t>試験問題</a:t>
            </a:r>
            <a:endParaRPr lang="en-US" altLang="ja-JP" sz="1400" dirty="0">
              <a:solidFill>
                <a:schemeClr val="tx2"/>
              </a:solidFill>
            </a:endParaRPr>
          </a:p>
          <a:p>
            <a:pPr algn="ctr"/>
            <a:r>
              <a:rPr kumimoji="1" lang="ja-JP" altLang="en-US" sz="1400" dirty="0">
                <a:solidFill>
                  <a:schemeClr val="tx2"/>
                </a:solidFill>
              </a:rPr>
              <a:t>管理データベース</a:t>
            </a:r>
          </a:p>
        </p:txBody>
      </p:sp>
      <p:sp>
        <p:nvSpPr>
          <p:cNvPr id="34" name="四角形: 角を丸くする 33">
            <a:extLst>
              <a:ext uri="{FF2B5EF4-FFF2-40B4-BE49-F238E27FC236}">
                <a16:creationId xmlns:a16="http://schemas.microsoft.com/office/drawing/2014/main" id="{5DC7E186-429A-E6D4-5DED-C0B4EFA203D8}"/>
              </a:ext>
            </a:extLst>
          </p:cNvPr>
          <p:cNvSpPr/>
          <p:nvPr/>
        </p:nvSpPr>
        <p:spPr>
          <a:xfrm>
            <a:off x="1137717" y="3109428"/>
            <a:ext cx="1930399" cy="8001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en-US" altLang="ja-JP" sz="1400" b="1" dirty="0">
                <a:solidFill>
                  <a:schemeClr val="tx1"/>
                </a:solidFill>
              </a:rPr>
              <a:t>AI</a:t>
            </a:r>
            <a:r>
              <a:rPr kumimoji="1" lang="ja-JP" altLang="en-US" sz="1400" b="1" dirty="0">
                <a:solidFill>
                  <a:schemeClr val="tx1"/>
                </a:solidFill>
              </a:rPr>
              <a:t>作問エンジン</a:t>
            </a:r>
          </a:p>
        </p:txBody>
      </p:sp>
      <p:sp>
        <p:nvSpPr>
          <p:cNvPr id="36" name="四角形: 角を丸くする 35">
            <a:extLst>
              <a:ext uri="{FF2B5EF4-FFF2-40B4-BE49-F238E27FC236}">
                <a16:creationId xmlns:a16="http://schemas.microsoft.com/office/drawing/2014/main" id="{50997B08-8887-9615-F696-6AA957EE73A3}"/>
              </a:ext>
            </a:extLst>
          </p:cNvPr>
          <p:cNvSpPr/>
          <p:nvPr/>
        </p:nvSpPr>
        <p:spPr>
          <a:xfrm>
            <a:off x="1137716" y="4833422"/>
            <a:ext cx="1930399" cy="8001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400" dirty="0">
                <a:solidFill>
                  <a:schemeClr val="tx1"/>
                </a:solidFill>
              </a:rPr>
              <a:t>外部記憶</a:t>
            </a:r>
            <a:endParaRPr kumimoji="1" lang="en-US" altLang="ja-JP" sz="1400" dirty="0">
              <a:solidFill>
                <a:schemeClr val="tx1"/>
              </a:solidFill>
            </a:endParaRPr>
          </a:p>
          <a:p>
            <a:pPr algn="ctr"/>
            <a:r>
              <a:rPr kumimoji="1" lang="ja-JP" altLang="en-US" sz="1400" dirty="0">
                <a:solidFill>
                  <a:schemeClr val="tx1"/>
                </a:solidFill>
              </a:rPr>
              <a:t>データベース</a:t>
            </a:r>
          </a:p>
        </p:txBody>
      </p:sp>
      <p:cxnSp>
        <p:nvCxnSpPr>
          <p:cNvPr id="38" name="直線矢印コネクタ 37">
            <a:extLst>
              <a:ext uri="{FF2B5EF4-FFF2-40B4-BE49-F238E27FC236}">
                <a16:creationId xmlns:a16="http://schemas.microsoft.com/office/drawing/2014/main" id="{A12908C2-0FBD-80A5-3405-464EFB7378EF}"/>
              </a:ext>
            </a:extLst>
          </p:cNvPr>
          <p:cNvCxnSpPr>
            <a:cxnSpLocks/>
            <a:stCxn id="34" idx="2"/>
            <a:endCxn id="36" idx="0"/>
          </p:cNvCxnSpPr>
          <p:nvPr/>
        </p:nvCxnSpPr>
        <p:spPr>
          <a:xfrm flipH="1">
            <a:off x="2102916" y="3909528"/>
            <a:ext cx="1" cy="92389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矢印コネクタ 40">
            <a:extLst>
              <a:ext uri="{FF2B5EF4-FFF2-40B4-BE49-F238E27FC236}">
                <a16:creationId xmlns:a16="http://schemas.microsoft.com/office/drawing/2014/main" id="{6E09BDF3-DD88-F149-BFE0-349F14810DD8}"/>
              </a:ext>
            </a:extLst>
          </p:cNvPr>
          <p:cNvCxnSpPr/>
          <p:nvPr/>
        </p:nvCxnSpPr>
        <p:spPr>
          <a:xfrm flipH="1">
            <a:off x="3068115" y="3327400"/>
            <a:ext cx="748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342931BC-6072-B776-D03E-B12F0BD074E1}"/>
              </a:ext>
            </a:extLst>
          </p:cNvPr>
          <p:cNvCxnSpPr>
            <a:cxnSpLocks/>
          </p:cNvCxnSpPr>
          <p:nvPr/>
        </p:nvCxnSpPr>
        <p:spPr>
          <a:xfrm>
            <a:off x="3068115" y="3522178"/>
            <a:ext cx="74823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16F20AE4-BB8A-9847-D83E-D626FAABD4D4}"/>
              </a:ext>
            </a:extLst>
          </p:cNvPr>
          <p:cNvCxnSpPr>
            <a:cxnSpLocks/>
          </p:cNvCxnSpPr>
          <p:nvPr/>
        </p:nvCxnSpPr>
        <p:spPr>
          <a:xfrm flipH="1">
            <a:off x="4781545" y="3934928"/>
            <a:ext cx="1" cy="92389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7" name="直線コネクタ 46">
            <a:extLst>
              <a:ext uri="{FF2B5EF4-FFF2-40B4-BE49-F238E27FC236}">
                <a16:creationId xmlns:a16="http://schemas.microsoft.com/office/drawing/2014/main" id="{4CDA31FC-40DF-5E71-9B30-BE8823BB0D32}"/>
              </a:ext>
            </a:extLst>
          </p:cNvPr>
          <p:cNvCxnSpPr>
            <a:stCxn id="32" idx="3"/>
          </p:cNvCxnSpPr>
          <p:nvPr/>
        </p:nvCxnSpPr>
        <p:spPr>
          <a:xfrm>
            <a:off x="5746746" y="5258872"/>
            <a:ext cx="1713430" cy="0"/>
          </a:xfrm>
          <a:prstGeom prst="line">
            <a:avLst/>
          </a:prstGeom>
        </p:spPr>
        <p:style>
          <a:lnRef idx="1">
            <a:schemeClr val="dk1"/>
          </a:lnRef>
          <a:fillRef idx="0">
            <a:schemeClr val="dk1"/>
          </a:fillRef>
          <a:effectRef idx="0">
            <a:schemeClr val="dk1"/>
          </a:effectRef>
          <a:fontRef idx="minor">
            <a:schemeClr val="tx1"/>
          </a:fontRef>
        </p:style>
      </p:cxnSp>
      <p:cxnSp>
        <p:nvCxnSpPr>
          <p:cNvPr id="48" name="直線矢印コネクタ 47">
            <a:extLst>
              <a:ext uri="{FF2B5EF4-FFF2-40B4-BE49-F238E27FC236}">
                <a16:creationId xmlns:a16="http://schemas.microsoft.com/office/drawing/2014/main" id="{1C0122FC-FF1F-195E-05A7-463CFA8414AE}"/>
              </a:ext>
            </a:extLst>
          </p:cNvPr>
          <p:cNvCxnSpPr>
            <a:cxnSpLocks/>
          </p:cNvCxnSpPr>
          <p:nvPr/>
        </p:nvCxnSpPr>
        <p:spPr>
          <a:xfrm flipV="1">
            <a:off x="7460176" y="4876800"/>
            <a:ext cx="0" cy="3820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0" name="直線矢印コネクタ 49">
            <a:extLst>
              <a:ext uri="{FF2B5EF4-FFF2-40B4-BE49-F238E27FC236}">
                <a16:creationId xmlns:a16="http://schemas.microsoft.com/office/drawing/2014/main" id="{9A59397E-F026-E526-105C-BEDEE82117A7}"/>
              </a:ext>
            </a:extLst>
          </p:cNvPr>
          <p:cNvCxnSpPr>
            <a:cxnSpLocks/>
          </p:cNvCxnSpPr>
          <p:nvPr/>
        </p:nvCxnSpPr>
        <p:spPr>
          <a:xfrm>
            <a:off x="8356599" y="4476750"/>
            <a:ext cx="84187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吹き出し: 四角形 51">
            <a:extLst>
              <a:ext uri="{FF2B5EF4-FFF2-40B4-BE49-F238E27FC236}">
                <a16:creationId xmlns:a16="http://schemas.microsoft.com/office/drawing/2014/main" id="{57C49E1D-C7C1-81F2-682D-77C5FEBE0FCE}"/>
              </a:ext>
            </a:extLst>
          </p:cNvPr>
          <p:cNvSpPr/>
          <p:nvPr/>
        </p:nvSpPr>
        <p:spPr>
          <a:xfrm>
            <a:off x="1462703" y="2411965"/>
            <a:ext cx="2659061" cy="371264"/>
          </a:xfrm>
          <a:prstGeom prst="wedgeRectCallout">
            <a:avLst>
              <a:gd name="adj1" fmla="val 22891"/>
              <a:gd name="adj2" fmla="val 9695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作問したい試験問題のテーマを入力</a:t>
            </a:r>
          </a:p>
        </p:txBody>
      </p:sp>
      <p:sp>
        <p:nvSpPr>
          <p:cNvPr id="54" name="吹き出し: 四角形 53">
            <a:extLst>
              <a:ext uri="{FF2B5EF4-FFF2-40B4-BE49-F238E27FC236}">
                <a16:creationId xmlns:a16="http://schemas.microsoft.com/office/drawing/2014/main" id="{B346FD48-D29E-8BAA-2F3A-4E98D2A86FEA}"/>
              </a:ext>
            </a:extLst>
          </p:cNvPr>
          <p:cNvSpPr/>
          <p:nvPr/>
        </p:nvSpPr>
        <p:spPr>
          <a:xfrm>
            <a:off x="838197" y="4188354"/>
            <a:ext cx="1029766" cy="385010"/>
          </a:xfrm>
          <a:prstGeom prst="wedgeRectCallout">
            <a:avLst>
              <a:gd name="adj1" fmla="val 62356"/>
              <a:gd name="adj2" fmla="val 2109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情報の参照</a:t>
            </a:r>
          </a:p>
        </p:txBody>
      </p:sp>
      <p:sp>
        <p:nvSpPr>
          <p:cNvPr id="56" name="吹き出し: 四角形 55">
            <a:extLst>
              <a:ext uri="{FF2B5EF4-FFF2-40B4-BE49-F238E27FC236}">
                <a16:creationId xmlns:a16="http://schemas.microsoft.com/office/drawing/2014/main" id="{4AFD694E-0CAD-DB45-9358-7BB798630DAB}"/>
              </a:ext>
            </a:extLst>
          </p:cNvPr>
          <p:cNvSpPr/>
          <p:nvPr/>
        </p:nvSpPr>
        <p:spPr>
          <a:xfrm>
            <a:off x="2778927" y="4039084"/>
            <a:ext cx="1276882" cy="424421"/>
          </a:xfrm>
          <a:prstGeom prst="wedgeRectCallout">
            <a:avLst>
              <a:gd name="adj1" fmla="val -4242"/>
              <a:gd name="adj2" fmla="val -943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出力結果を表示</a:t>
            </a:r>
          </a:p>
        </p:txBody>
      </p:sp>
      <p:sp>
        <p:nvSpPr>
          <p:cNvPr id="58" name="吹き出し: 四角形 57">
            <a:extLst>
              <a:ext uri="{FF2B5EF4-FFF2-40B4-BE49-F238E27FC236}">
                <a16:creationId xmlns:a16="http://schemas.microsoft.com/office/drawing/2014/main" id="{05EE98B4-D172-D10A-28A6-F71C66FDD4C5}"/>
              </a:ext>
            </a:extLst>
          </p:cNvPr>
          <p:cNvSpPr/>
          <p:nvPr/>
        </p:nvSpPr>
        <p:spPr>
          <a:xfrm>
            <a:off x="4919110" y="4014292"/>
            <a:ext cx="1445731" cy="689114"/>
          </a:xfrm>
          <a:prstGeom prst="wedgeRectCallout">
            <a:avLst>
              <a:gd name="adj1" fmla="val -58300"/>
              <a:gd name="adj2" fmla="val -7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生成された問題を選定し登録</a:t>
            </a:r>
          </a:p>
        </p:txBody>
      </p:sp>
      <p:sp>
        <p:nvSpPr>
          <p:cNvPr id="60" name="吹き出し: 四角形 59">
            <a:extLst>
              <a:ext uri="{FF2B5EF4-FFF2-40B4-BE49-F238E27FC236}">
                <a16:creationId xmlns:a16="http://schemas.microsoft.com/office/drawing/2014/main" id="{D35F0AAA-72A1-0546-6353-D624866CF510}"/>
              </a:ext>
            </a:extLst>
          </p:cNvPr>
          <p:cNvSpPr/>
          <p:nvPr/>
        </p:nvSpPr>
        <p:spPr>
          <a:xfrm>
            <a:off x="6271691" y="3125153"/>
            <a:ext cx="2376969" cy="689114"/>
          </a:xfrm>
          <a:prstGeom prst="wedgeRectCallout">
            <a:avLst>
              <a:gd name="adj1" fmla="val -1665"/>
              <a:gd name="adj2" fmla="val 785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試験問題管理データベースから、生徒に配信したい問題を選定</a:t>
            </a:r>
          </a:p>
        </p:txBody>
      </p:sp>
      <p:sp>
        <p:nvSpPr>
          <p:cNvPr id="66" name="吹き出し: 四角形 65">
            <a:extLst>
              <a:ext uri="{FF2B5EF4-FFF2-40B4-BE49-F238E27FC236}">
                <a16:creationId xmlns:a16="http://schemas.microsoft.com/office/drawing/2014/main" id="{307B67CA-E485-3C86-E013-4E0BF69A1625}"/>
              </a:ext>
            </a:extLst>
          </p:cNvPr>
          <p:cNvSpPr/>
          <p:nvPr/>
        </p:nvSpPr>
        <p:spPr>
          <a:xfrm>
            <a:off x="8900594" y="3084443"/>
            <a:ext cx="2376969" cy="689114"/>
          </a:xfrm>
          <a:prstGeom prst="wedgeRectCallout">
            <a:avLst>
              <a:gd name="adj1" fmla="val -1665"/>
              <a:gd name="adj2" fmla="val 785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教員ユーザーより配信された</a:t>
            </a:r>
            <a:endParaRPr kumimoji="1" lang="en-US" altLang="ja-JP" sz="1200" dirty="0"/>
          </a:p>
          <a:p>
            <a:pPr algn="ctr"/>
            <a:r>
              <a:rPr lang="ja-JP" altLang="en-US" sz="1200" dirty="0"/>
              <a:t>問題が</a:t>
            </a:r>
            <a:r>
              <a:rPr lang="en-US" altLang="ja-JP" sz="1200" dirty="0"/>
              <a:t>CBT</a:t>
            </a:r>
            <a:r>
              <a:rPr lang="ja-JP" altLang="en-US" sz="1200" dirty="0"/>
              <a:t>形式で出題</a:t>
            </a:r>
            <a:endParaRPr kumimoji="1" lang="ja-JP" altLang="en-US" sz="1200" dirty="0"/>
          </a:p>
        </p:txBody>
      </p:sp>
    </p:spTree>
    <p:extLst>
      <p:ext uri="{BB962C8B-B14F-4D97-AF65-F5344CB8AC3E}">
        <p14:creationId xmlns:p14="http://schemas.microsoft.com/office/powerpoint/2010/main" val="3029184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63A46E-1F6D-2C18-A3D3-71272B46DE51}"/>
            </a:ext>
          </a:extLst>
        </p:cNvPr>
        <p:cNvGrpSpPr/>
        <p:nvPr/>
      </p:nvGrpSpPr>
      <p:grpSpPr>
        <a:xfrm>
          <a:off x="0" y="0"/>
          <a:ext cx="0" cy="0"/>
          <a:chOff x="0" y="0"/>
          <a:chExt cx="0" cy="0"/>
        </a:xfrm>
      </p:grpSpPr>
      <p:sp>
        <p:nvSpPr>
          <p:cNvPr id="23" name="フローチャート: 代替処理 22">
            <a:extLst>
              <a:ext uri="{FF2B5EF4-FFF2-40B4-BE49-F238E27FC236}">
                <a16:creationId xmlns:a16="http://schemas.microsoft.com/office/drawing/2014/main" id="{93468451-1826-ED81-2255-6DC050956449}"/>
              </a:ext>
            </a:extLst>
          </p:cNvPr>
          <p:cNvSpPr/>
          <p:nvPr/>
        </p:nvSpPr>
        <p:spPr>
          <a:xfrm>
            <a:off x="174173" y="3699810"/>
            <a:ext cx="11789226"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6CB9598-FBF6-02AB-518C-600EE782E7BC}"/>
              </a:ext>
            </a:extLst>
          </p:cNvPr>
          <p:cNvSpPr>
            <a:spLocks noGrp="1"/>
          </p:cNvSpPr>
          <p:nvPr>
            <p:ph type="title"/>
          </p:nvPr>
        </p:nvSpPr>
        <p:spPr/>
        <p:txBody>
          <a:bodyPr/>
          <a:lstStyle/>
          <a:p>
            <a:r>
              <a:rPr kumimoji="1" lang="ja-JP" altLang="en-US" b="1" dirty="0"/>
              <a:t>提案システムの全体構成</a:t>
            </a:r>
          </a:p>
        </p:txBody>
      </p:sp>
      <p:sp>
        <p:nvSpPr>
          <p:cNvPr id="112" name="コンテンツ プレースホルダー 4">
            <a:extLst>
              <a:ext uri="{FF2B5EF4-FFF2-40B4-BE49-F238E27FC236}">
                <a16:creationId xmlns:a16="http://schemas.microsoft.com/office/drawing/2014/main" id="{EC240E05-BA56-7E62-58AD-0401D095E1F8}"/>
              </a:ext>
            </a:extLst>
          </p:cNvPr>
          <p:cNvSpPr>
            <a:spLocks noGrp="1"/>
          </p:cNvSpPr>
          <p:nvPr>
            <p:ph idx="1"/>
          </p:nvPr>
        </p:nvSpPr>
        <p:spPr>
          <a:xfrm>
            <a:off x="838197" y="4965148"/>
            <a:ext cx="10515601" cy="1539650"/>
          </a:xfrm>
        </p:spPr>
        <p:txBody>
          <a:bodyPr>
            <a:normAutofit/>
          </a:bodyPr>
          <a:lstStyle/>
          <a:p>
            <a:pPr marL="0" indent="0" algn="ctr">
              <a:buNone/>
            </a:pPr>
            <a:r>
              <a:rPr lang="ja-JP" altLang="ja-JP" b="1" dirty="0"/>
              <a:t>本研究の検証対象</a:t>
            </a:r>
          </a:p>
          <a:p>
            <a:pPr marL="0" indent="0" algn="ctr">
              <a:buNone/>
            </a:pPr>
            <a:r>
              <a:rPr lang="ja-JP" altLang="ja-JP" dirty="0">
                <a:solidFill>
                  <a:schemeClr val="accent5">
                    <a:lumMod val="75000"/>
                  </a:schemeClr>
                </a:solidFill>
              </a:rPr>
              <a:t>4択問題の生成</a:t>
            </a:r>
            <a:r>
              <a:rPr lang="ja-JP" altLang="ja-JP" dirty="0"/>
              <a:t>、</a:t>
            </a:r>
            <a:r>
              <a:rPr lang="ja-JP" altLang="ja-JP" dirty="0">
                <a:solidFill>
                  <a:schemeClr val="accent5">
                    <a:lumMod val="75000"/>
                  </a:schemeClr>
                </a:solidFill>
              </a:rPr>
              <a:t>品質評価手法の検討</a:t>
            </a:r>
            <a:r>
              <a:rPr lang="ja-JP" altLang="ja-JP" dirty="0"/>
              <a:t>、</a:t>
            </a:r>
            <a:endParaRPr lang="en-US" altLang="ja-JP" dirty="0"/>
          </a:p>
          <a:p>
            <a:pPr marL="0" indent="0" algn="ctr">
              <a:buNone/>
            </a:pPr>
            <a:r>
              <a:rPr lang="ja-JP" altLang="ja-JP" dirty="0"/>
              <a:t>および</a:t>
            </a:r>
            <a:r>
              <a:rPr lang="ja-JP" altLang="ja-JP" dirty="0">
                <a:solidFill>
                  <a:schemeClr val="accent5">
                    <a:lumMod val="75000"/>
                  </a:schemeClr>
                </a:solidFill>
              </a:rPr>
              <a:t>学習データ</a:t>
            </a:r>
            <a:r>
              <a:rPr lang="ja-JP" altLang="ja-JP" dirty="0"/>
              <a:t>の違いによる生成品質の比較</a:t>
            </a:r>
          </a:p>
        </p:txBody>
      </p:sp>
      <p:sp>
        <p:nvSpPr>
          <p:cNvPr id="115" name="スライド番号プレースホルダー 114">
            <a:extLst>
              <a:ext uri="{FF2B5EF4-FFF2-40B4-BE49-F238E27FC236}">
                <a16:creationId xmlns:a16="http://schemas.microsoft.com/office/drawing/2014/main" id="{C7C13D97-74EA-63CF-D605-2FE409C025EF}"/>
              </a:ext>
            </a:extLst>
          </p:cNvPr>
          <p:cNvSpPr>
            <a:spLocks noGrp="1"/>
          </p:cNvSpPr>
          <p:nvPr>
            <p:ph type="sldNum" sz="quarter" idx="12"/>
          </p:nvPr>
        </p:nvSpPr>
        <p:spPr/>
        <p:txBody>
          <a:bodyPr/>
          <a:lstStyle/>
          <a:p>
            <a:fld id="{9FB99072-780F-43D9-B22B-8FACFE63800E}" type="slidenum">
              <a:rPr kumimoji="1" lang="ja-JP" altLang="en-US" smtClean="0"/>
              <a:t>23</a:t>
            </a:fld>
            <a:endParaRPr kumimoji="1" lang="ja-JP" altLang="en-US"/>
          </a:p>
        </p:txBody>
      </p:sp>
      <p:pic>
        <p:nvPicPr>
          <p:cNvPr id="85" name="グラフィックス 84" descr="ドキュメント 枠線">
            <a:extLst>
              <a:ext uri="{FF2B5EF4-FFF2-40B4-BE49-F238E27FC236}">
                <a16:creationId xmlns:a16="http://schemas.microsoft.com/office/drawing/2014/main" id="{0AC2A387-B057-D454-1B03-9B387ADC0E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29" y="1928613"/>
            <a:ext cx="571716" cy="571716"/>
          </a:xfrm>
          <a:prstGeom prst="rect">
            <a:avLst/>
          </a:prstGeom>
        </p:spPr>
      </p:pic>
      <p:sp>
        <p:nvSpPr>
          <p:cNvPr id="17" name="テキスト ボックス 16">
            <a:extLst>
              <a:ext uri="{FF2B5EF4-FFF2-40B4-BE49-F238E27FC236}">
                <a16:creationId xmlns:a16="http://schemas.microsoft.com/office/drawing/2014/main" id="{24A72FEC-BBDF-47FB-D9EB-56D0CE9C8B4D}"/>
              </a:ext>
            </a:extLst>
          </p:cNvPr>
          <p:cNvSpPr txBox="1"/>
          <p:nvPr/>
        </p:nvSpPr>
        <p:spPr>
          <a:xfrm>
            <a:off x="844574" y="2106109"/>
            <a:ext cx="1454413" cy="307777"/>
          </a:xfrm>
          <a:prstGeom prst="rect">
            <a:avLst/>
          </a:prstGeom>
          <a:noFill/>
        </p:spPr>
        <p:txBody>
          <a:bodyPr wrap="square" rtlCol="0">
            <a:spAutoFit/>
          </a:bodyPr>
          <a:lstStyle/>
          <a:p>
            <a:r>
              <a:rPr kumimoji="1" lang="ja-JP" altLang="en-US" sz="1400" dirty="0"/>
              <a:t>新出単語リスト</a:t>
            </a:r>
            <a:endParaRPr kumimoji="1" lang="en-US" altLang="ja-JP" sz="1400" dirty="0"/>
          </a:p>
        </p:txBody>
      </p:sp>
      <p:sp>
        <p:nvSpPr>
          <p:cNvPr id="77" name="四角形: 角を丸くする 76">
            <a:extLst>
              <a:ext uri="{FF2B5EF4-FFF2-40B4-BE49-F238E27FC236}">
                <a16:creationId xmlns:a16="http://schemas.microsoft.com/office/drawing/2014/main" id="{55532B57-E120-DAC0-91E9-BF906A86F526}"/>
              </a:ext>
            </a:extLst>
          </p:cNvPr>
          <p:cNvSpPr/>
          <p:nvPr/>
        </p:nvSpPr>
        <p:spPr>
          <a:xfrm>
            <a:off x="2689906" y="1346724"/>
            <a:ext cx="2555431" cy="120350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3" name="グラフィックス 82" descr="人工知能 枠線">
            <a:extLst>
              <a:ext uri="{FF2B5EF4-FFF2-40B4-BE49-F238E27FC236}">
                <a16:creationId xmlns:a16="http://schemas.microsoft.com/office/drawing/2014/main" id="{325AAB04-5555-2DC7-841E-C5345B6965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81156" y="1418539"/>
            <a:ext cx="587607" cy="587607"/>
          </a:xfrm>
          <a:prstGeom prst="rect">
            <a:avLst/>
          </a:prstGeom>
        </p:spPr>
      </p:pic>
      <p:pic>
        <p:nvPicPr>
          <p:cNvPr id="32" name="グラフィックス 31" descr="ドキュメント 枠線">
            <a:extLst>
              <a:ext uri="{FF2B5EF4-FFF2-40B4-BE49-F238E27FC236}">
                <a16:creationId xmlns:a16="http://schemas.microsoft.com/office/drawing/2014/main" id="{12E5D961-4E17-2733-F280-E8A8C5783D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0151" y="1540382"/>
            <a:ext cx="429495" cy="429495"/>
          </a:xfrm>
          <a:prstGeom prst="rect">
            <a:avLst/>
          </a:prstGeom>
        </p:spPr>
      </p:pic>
      <p:pic>
        <p:nvPicPr>
          <p:cNvPr id="34" name="グラフィックス 33" descr="世界 枠線">
            <a:extLst>
              <a:ext uri="{FF2B5EF4-FFF2-40B4-BE49-F238E27FC236}">
                <a16:creationId xmlns:a16="http://schemas.microsoft.com/office/drawing/2014/main" id="{7CB05B98-8817-6DA5-5052-4B5C05D258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27289" y="1548960"/>
            <a:ext cx="429495" cy="429495"/>
          </a:xfrm>
          <a:prstGeom prst="rect">
            <a:avLst/>
          </a:prstGeom>
        </p:spPr>
      </p:pic>
      <p:pic>
        <p:nvPicPr>
          <p:cNvPr id="36" name="グラフィックス 35" descr="開いた本 枠線">
            <a:extLst>
              <a:ext uri="{FF2B5EF4-FFF2-40B4-BE49-F238E27FC236}">
                <a16:creationId xmlns:a16="http://schemas.microsoft.com/office/drawing/2014/main" id="{6B5E2CA5-3608-AE7C-868F-5E65710ADF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83720" y="1548960"/>
            <a:ext cx="429495" cy="429495"/>
          </a:xfrm>
          <a:prstGeom prst="rect">
            <a:avLst/>
          </a:prstGeom>
        </p:spPr>
      </p:pic>
      <p:sp>
        <p:nvSpPr>
          <p:cNvPr id="40" name="テキスト ボックス 39">
            <a:extLst>
              <a:ext uri="{FF2B5EF4-FFF2-40B4-BE49-F238E27FC236}">
                <a16:creationId xmlns:a16="http://schemas.microsoft.com/office/drawing/2014/main" id="{2D4208CF-3E09-0EDE-109F-64E4C0EE5F34}"/>
              </a:ext>
            </a:extLst>
          </p:cNvPr>
          <p:cNvSpPr txBox="1"/>
          <p:nvPr/>
        </p:nvSpPr>
        <p:spPr>
          <a:xfrm>
            <a:off x="2597416" y="2014956"/>
            <a:ext cx="1462906" cy="523220"/>
          </a:xfrm>
          <a:prstGeom prst="rect">
            <a:avLst/>
          </a:prstGeom>
          <a:noFill/>
        </p:spPr>
        <p:txBody>
          <a:bodyPr wrap="square" rtlCol="0">
            <a:spAutoFit/>
          </a:bodyPr>
          <a:lstStyle/>
          <a:p>
            <a:r>
              <a:rPr kumimoji="1" lang="ja-JP" altLang="en-US" sz="1400" dirty="0"/>
              <a:t>複数ソースから</a:t>
            </a:r>
            <a:endParaRPr kumimoji="1" lang="en-US" altLang="ja-JP" sz="1400" dirty="0"/>
          </a:p>
          <a:p>
            <a:pPr algn="ctr"/>
            <a:r>
              <a:rPr lang="ja-JP" altLang="en-US" sz="1400" dirty="0"/>
              <a:t>情報取得</a:t>
            </a:r>
            <a:endParaRPr kumimoji="1" lang="ja-JP" altLang="en-US" sz="1400" dirty="0"/>
          </a:p>
        </p:txBody>
      </p:sp>
      <p:cxnSp>
        <p:nvCxnSpPr>
          <p:cNvPr id="42" name="直線矢印コネクタ 41">
            <a:extLst>
              <a:ext uri="{FF2B5EF4-FFF2-40B4-BE49-F238E27FC236}">
                <a16:creationId xmlns:a16="http://schemas.microsoft.com/office/drawing/2014/main" id="{D9A9DA20-AA29-B791-6672-FA78463988EE}"/>
              </a:ext>
            </a:extLst>
          </p:cNvPr>
          <p:cNvCxnSpPr>
            <a:cxnSpLocks/>
          </p:cNvCxnSpPr>
          <p:nvPr/>
        </p:nvCxnSpPr>
        <p:spPr>
          <a:xfrm>
            <a:off x="3951463" y="1745893"/>
            <a:ext cx="4296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182211D7-8D9D-1171-0FB9-A91BAA55515E}"/>
              </a:ext>
            </a:extLst>
          </p:cNvPr>
          <p:cNvCxnSpPr>
            <a:cxnSpLocks/>
            <a:endCxn id="46" idx="0"/>
          </p:cNvCxnSpPr>
          <p:nvPr/>
        </p:nvCxnSpPr>
        <p:spPr>
          <a:xfrm>
            <a:off x="4152728" y="2550226"/>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6" name="グラフィックス 45" descr="データベース 枠線">
            <a:extLst>
              <a:ext uri="{FF2B5EF4-FFF2-40B4-BE49-F238E27FC236}">
                <a16:creationId xmlns:a16="http://schemas.microsoft.com/office/drawing/2014/main" id="{9094020B-3F42-E0DC-141E-C05524FF85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0929" y="2769155"/>
            <a:ext cx="543598" cy="543597"/>
          </a:xfrm>
          <a:prstGeom prst="rect">
            <a:avLst/>
          </a:prstGeom>
        </p:spPr>
      </p:pic>
      <p:sp>
        <p:nvSpPr>
          <p:cNvPr id="50" name="テキスト ボックス 49">
            <a:extLst>
              <a:ext uri="{FF2B5EF4-FFF2-40B4-BE49-F238E27FC236}">
                <a16:creationId xmlns:a16="http://schemas.microsoft.com/office/drawing/2014/main" id="{C71F6814-A1F2-C1B6-8C44-AFAA7028A2DB}"/>
              </a:ext>
            </a:extLst>
          </p:cNvPr>
          <p:cNvSpPr txBox="1"/>
          <p:nvPr/>
        </p:nvSpPr>
        <p:spPr>
          <a:xfrm>
            <a:off x="3808291" y="3355892"/>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65" name="テキスト ボックス 64">
            <a:extLst>
              <a:ext uri="{FF2B5EF4-FFF2-40B4-BE49-F238E27FC236}">
                <a16:creationId xmlns:a16="http://schemas.microsoft.com/office/drawing/2014/main" id="{2EB9C675-34D4-1F76-8A5C-4A1AEED15532}"/>
              </a:ext>
            </a:extLst>
          </p:cNvPr>
          <p:cNvSpPr txBox="1"/>
          <p:nvPr/>
        </p:nvSpPr>
        <p:spPr>
          <a:xfrm>
            <a:off x="4016125" y="1971816"/>
            <a:ext cx="1375401" cy="523220"/>
          </a:xfrm>
          <a:prstGeom prst="rect">
            <a:avLst/>
          </a:prstGeom>
          <a:noFill/>
        </p:spPr>
        <p:txBody>
          <a:bodyPr wrap="square" rtlCol="0">
            <a:spAutoFit/>
          </a:bodyPr>
          <a:lstStyle/>
          <a:p>
            <a:pPr algn="ctr"/>
            <a:r>
              <a:rPr kumimoji="1" lang="en-US" altLang="ja-JP" sz="1400" dirty="0"/>
              <a:t>LLM</a:t>
            </a:r>
            <a:r>
              <a:rPr kumimoji="1" lang="ja-JP" altLang="en-US" sz="1400" dirty="0"/>
              <a:t>で</a:t>
            </a:r>
            <a:endParaRPr kumimoji="1" lang="en-US" altLang="ja-JP" sz="1400" dirty="0"/>
          </a:p>
          <a:p>
            <a:pPr algn="ctr"/>
            <a:r>
              <a:rPr lang="ja-JP" altLang="en-US" sz="1400" dirty="0"/>
              <a:t>要約・構造化</a:t>
            </a:r>
            <a:endParaRPr kumimoji="1" lang="en-US" altLang="ja-JP" sz="1400" dirty="0"/>
          </a:p>
        </p:txBody>
      </p:sp>
      <p:pic>
        <p:nvPicPr>
          <p:cNvPr id="92" name="グラフィックス 91" descr="ベン図 枠線">
            <a:extLst>
              <a:ext uri="{FF2B5EF4-FFF2-40B4-BE49-F238E27FC236}">
                <a16:creationId xmlns:a16="http://schemas.microsoft.com/office/drawing/2014/main" id="{6A811BE0-C713-D3CF-B63D-5967558836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997087" y="2822374"/>
            <a:ext cx="587608" cy="587608"/>
          </a:xfrm>
          <a:prstGeom prst="rect">
            <a:avLst/>
          </a:prstGeom>
        </p:spPr>
      </p:pic>
      <p:pic>
        <p:nvPicPr>
          <p:cNvPr id="94" name="グラフィックス 93" descr="チェックマークを付けたチェック ボックス 枠線">
            <a:extLst>
              <a:ext uri="{FF2B5EF4-FFF2-40B4-BE49-F238E27FC236}">
                <a16:creationId xmlns:a16="http://schemas.microsoft.com/office/drawing/2014/main" id="{7A005EC8-2DC9-8470-4C45-A28A4B2DA57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38013" y="1480128"/>
            <a:ext cx="587608" cy="587608"/>
          </a:xfrm>
          <a:prstGeom prst="rect">
            <a:avLst/>
          </a:prstGeom>
        </p:spPr>
      </p:pic>
      <p:pic>
        <p:nvPicPr>
          <p:cNvPr id="96" name="グラフィックス 95" descr="人工知能 枠線">
            <a:extLst>
              <a:ext uri="{FF2B5EF4-FFF2-40B4-BE49-F238E27FC236}">
                <a16:creationId xmlns:a16="http://schemas.microsoft.com/office/drawing/2014/main" id="{956439F2-A7E3-3A94-E242-AEE1AF5E6D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97087" y="2152607"/>
            <a:ext cx="587607" cy="587607"/>
          </a:xfrm>
          <a:prstGeom prst="rect">
            <a:avLst/>
          </a:prstGeom>
        </p:spPr>
      </p:pic>
      <p:sp>
        <p:nvSpPr>
          <p:cNvPr id="99" name="テキスト ボックス 98">
            <a:extLst>
              <a:ext uri="{FF2B5EF4-FFF2-40B4-BE49-F238E27FC236}">
                <a16:creationId xmlns:a16="http://schemas.microsoft.com/office/drawing/2014/main" id="{F709DA58-0571-216C-6F36-C72BC402B574}"/>
              </a:ext>
            </a:extLst>
          </p:cNvPr>
          <p:cNvSpPr txBox="1"/>
          <p:nvPr/>
        </p:nvSpPr>
        <p:spPr>
          <a:xfrm>
            <a:off x="8584694" y="1537114"/>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pic>
        <p:nvPicPr>
          <p:cNvPr id="55" name="グラフィックス 54" descr="データベース 枠線">
            <a:extLst>
              <a:ext uri="{FF2B5EF4-FFF2-40B4-BE49-F238E27FC236}">
                <a16:creationId xmlns:a16="http://schemas.microsoft.com/office/drawing/2014/main" id="{56306883-13E2-3DFC-CDA1-0750A161979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27265" y="1567104"/>
            <a:ext cx="571625" cy="571624"/>
          </a:xfrm>
          <a:prstGeom prst="rect">
            <a:avLst/>
          </a:prstGeom>
        </p:spPr>
      </p:pic>
      <p:sp>
        <p:nvSpPr>
          <p:cNvPr id="57" name="テキスト ボックス 56">
            <a:extLst>
              <a:ext uri="{FF2B5EF4-FFF2-40B4-BE49-F238E27FC236}">
                <a16:creationId xmlns:a16="http://schemas.microsoft.com/office/drawing/2014/main" id="{E2499B63-3E52-627C-ED8F-1B9D441389BD}"/>
              </a:ext>
            </a:extLst>
          </p:cNvPr>
          <p:cNvSpPr txBox="1"/>
          <p:nvPr/>
        </p:nvSpPr>
        <p:spPr>
          <a:xfrm>
            <a:off x="6484517" y="1763689"/>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r>
              <a:rPr kumimoji="1" lang="en-US" altLang="ja-JP" sz="1400" dirty="0"/>
              <a:t>4</a:t>
            </a:r>
            <a:r>
              <a:rPr kumimoji="1" lang="ja-JP" altLang="en-US" sz="1400" dirty="0"/>
              <a:t>パターンの</a:t>
            </a:r>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grpSp>
        <p:nvGrpSpPr>
          <p:cNvPr id="116" name="グループ化 115">
            <a:extLst>
              <a:ext uri="{FF2B5EF4-FFF2-40B4-BE49-F238E27FC236}">
                <a16:creationId xmlns:a16="http://schemas.microsoft.com/office/drawing/2014/main" id="{5C067F9C-3F8D-60DE-C423-5FFF5CB86FCC}"/>
              </a:ext>
            </a:extLst>
          </p:cNvPr>
          <p:cNvGrpSpPr/>
          <p:nvPr/>
        </p:nvGrpSpPr>
        <p:grpSpPr>
          <a:xfrm>
            <a:off x="5868558" y="2287104"/>
            <a:ext cx="360261" cy="367763"/>
            <a:chOff x="6793769" y="2929363"/>
            <a:chExt cx="360261" cy="367763"/>
          </a:xfrm>
        </p:grpSpPr>
        <p:sp>
          <p:nvSpPr>
            <p:cNvPr id="105" name="正方形/長方形 104">
              <a:extLst>
                <a:ext uri="{FF2B5EF4-FFF2-40B4-BE49-F238E27FC236}">
                  <a16:creationId xmlns:a16="http://schemas.microsoft.com/office/drawing/2014/main" id="{6FC38349-CB73-87C8-0D1B-620F66FD79CC}"/>
                </a:ext>
              </a:extLst>
            </p:cNvPr>
            <p:cNvSpPr/>
            <p:nvPr/>
          </p:nvSpPr>
          <p:spPr>
            <a:xfrm>
              <a:off x="6793769"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正方形/長方形 106">
              <a:extLst>
                <a:ext uri="{FF2B5EF4-FFF2-40B4-BE49-F238E27FC236}">
                  <a16:creationId xmlns:a16="http://schemas.microsoft.com/office/drawing/2014/main" id="{893DEA4D-CA71-DB69-B5AD-79EA2B83F213}"/>
                </a:ext>
              </a:extLst>
            </p:cNvPr>
            <p:cNvSpPr/>
            <p:nvPr/>
          </p:nvSpPr>
          <p:spPr>
            <a:xfrm>
              <a:off x="7016105"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正方形/長方形 108">
              <a:extLst>
                <a:ext uri="{FF2B5EF4-FFF2-40B4-BE49-F238E27FC236}">
                  <a16:creationId xmlns:a16="http://schemas.microsoft.com/office/drawing/2014/main" id="{C725D614-A513-3008-1941-1B5843F383CF}"/>
                </a:ext>
              </a:extLst>
            </p:cNvPr>
            <p:cNvSpPr/>
            <p:nvPr/>
          </p:nvSpPr>
          <p:spPr>
            <a:xfrm>
              <a:off x="6793769"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正方形/長方形 113">
              <a:extLst>
                <a:ext uri="{FF2B5EF4-FFF2-40B4-BE49-F238E27FC236}">
                  <a16:creationId xmlns:a16="http://schemas.microsoft.com/office/drawing/2014/main" id="{2549AEDB-1229-FFF8-030A-7E1E07821987}"/>
                </a:ext>
              </a:extLst>
            </p:cNvPr>
            <p:cNvSpPr/>
            <p:nvPr/>
          </p:nvSpPr>
          <p:spPr>
            <a:xfrm>
              <a:off x="7012870"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17" name="直線矢印コネクタ 116">
            <a:extLst>
              <a:ext uri="{FF2B5EF4-FFF2-40B4-BE49-F238E27FC236}">
                <a16:creationId xmlns:a16="http://schemas.microsoft.com/office/drawing/2014/main" id="{F16364F1-9496-ECAF-6FA5-2D71DCAB8F83}"/>
              </a:ext>
            </a:extLst>
          </p:cNvPr>
          <p:cNvCxnSpPr>
            <a:cxnSpLocks/>
          </p:cNvCxnSpPr>
          <p:nvPr/>
        </p:nvCxnSpPr>
        <p:spPr>
          <a:xfrm>
            <a:off x="6648416" y="2786741"/>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9" name="グラフィックス 118" descr="銀行の小切手 枠線">
            <a:extLst>
              <a:ext uri="{FF2B5EF4-FFF2-40B4-BE49-F238E27FC236}">
                <a16:creationId xmlns:a16="http://schemas.microsoft.com/office/drawing/2014/main" id="{03A74023-09F8-7B1E-AD14-A53B8B12C6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807083" y="3069382"/>
            <a:ext cx="567227" cy="567227"/>
          </a:xfrm>
          <a:prstGeom prst="rect">
            <a:avLst/>
          </a:prstGeom>
        </p:spPr>
      </p:pic>
      <p:pic>
        <p:nvPicPr>
          <p:cNvPr id="146" name="グラフィックス 145" descr="棒グラフ 枠線">
            <a:extLst>
              <a:ext uri="{FF2B5EF4-FFF2-40B4-BE49-F238E27FC236}">
                <a16:creationId xmlns:a16="http://schemas.microsoft.com/office/drawing/2014/main" id="{BC335EE8-A78D-4D33-C9E8-1EEFCC4C08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243" y="1951892"/>
            <a:ext cx="652803" cy="652803"/>
          </a:xfrm>
          <a:prstGeom prst="rect">
            <a:avLst/>
          </a:prstGeom>
        </p:spPr>
      </p:pic>
      <p:pic>
        <p:nvPicPr>
          <p:cNvPr id="150" name="グラフィックス 149" descr="銀行の小切手 枠線">
            <a:extLst>
              <a:ext uri="{FF2B5EF4-FFF2-40B4-BE49-F238E27FC236}">
                <a16:creationId xmlns:a16="http://schemas.microsoft.com/office/drawing/2014/main" id="{2E5F7101-CBEE-F61A-7D7C-369F99032A1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0030" y="2722056"/>
            <a:ext cx="567227" cy="567227"/>
          </a:xfrm>
          <a:prstGeom prst="rect">
            <a:avLst/>
          </a:prstGeom>
        </p:spPr>
      </p:pic>
      <p:sp>
        <p:nvSpPr>
          <p:cNvPr id="152" name="テキスト ボックス 151">
            <a:extLst>
              <a:ext uri="{FF2B5EF4-FFF2-40B4-BE49-F238E27FC236}">
                <a16:creationId xmlns:a16="http://schemas.microsoft.com/office/drawing/2014/main" id="{EF6700C4-B52E-F7EC-B009-662A20D8BCD5}"/>
              </a:ext>
            </a:extLst>
          </p:cNvPr>
          <p:cNvSpPr txBox="1"/>
          <p:nvPr/>
        </p:nvSpPr>
        <p:spPr>
          <a:xfrm>
            <a:off x="10797257" y="2177813"/>
            <a:ext cx="973311" cy="954107"/>
          </a:xfrm>
          <a:prstGeom prst="rect">
            <a:avLst/>
          </a:prstGeom>
          <a:noFill/>
        </p:spPr>
        <p:txBody>
          <a:bodyPr wrap="square" rtlCol="0">
            <a:spAutoFit/>
          </a:bodyPr>
          <a:lstStyle/>
          <a:p>
            <a:r>
              <a:rPr lang="ja-JP" altLang="en-US" sz="1400" dirty="0"/>
              <a:t>回答評価</a:t>
            </a:r>
            <a:endParaRPr lang="en-US" altLang="ja-JP" sz="1400" dirty="0"/>
          </a:p>
          <a:p>
            <a:endParaRPr lang="en-US" altLang="ja-JP" sz="1400" dirty="0"/>
          </a:p>
          <a:p>
            <a:endParaRPr lang="en-US" altLang="ja-JP" sz="1400" dirty="0"/>
          </a:p>
          <a:p>
            <a:r>
              <a:rPr kumimoji="1" lang="ja-JP" altLang="en-US" sz="1400" dirty="0"/>
              <a:t>問題出題</a:t>
            </a:r>
            <a:endParaRPr kumimoji="1" lang="en-US" altLang="ja-JP" sz="1400" dirty="0"/>
          </a:p>
        </p:txBody>
      </p:sp>
      <p:sp>
        <p:nvSpPr>
          <p:cNvPr id="4" name="矢印: 右 3">
            <a:extLst>
              <a:ext uri="{FF2B5EF4-FFF2-40B4-BE49-F238E27FC236}">
                <a16:creationId xmlns:a16="http://schemas.microsoft.com/office/drawing/2014/main" id="{6935C337-0556-4E59-5F2E-33B13C5D4C5F}"/>
              </a:ext>
            </a:extLst>
          </p:cNvPr>
          <p:cNvSpPr/>
          <p:nvPr/>
        </p:nvSpPr>
        <p:spPr>
          <a:xfrm>
            <a:off x="2288927" y="1940844"/>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41C70FBA-99AF-F1DA-E8B1-B937B5B33CE6}"/>
              </a:ext>
            </a:extLst>
          </p:cNvPr>
          <p:cNvSpPr/>
          <p:nvPr/>
        </p:nvSpPr>
        <p:spPr>
          <a:xfrm>
            <a:off x="5280382" y="1896058"/>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3AAA088C-42CA-41D7-1E9D-404A9ABE8106}"/>
              </a:ext>
            </a:extLst>
          </p:cNvPr>
          <p:cNvSpPr/>
          <p:nvPr/>
        </p:nvSpPr>
        <p:spPr>
          <a:xfrm>
            <a:off x="7731328" y="1911888"/>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17">
            <a:extLst>
              <a:ext uri="{FF2B5EF4-FFF2-40B4-BE49-F238E27FC236}">
                <a16:creationId xmlns:a16="http://schemas.microsoft.com/office/drawing/2014/main" id="{089D641E-1E09-5C54-7D42-1868552D2CB9}"/>
              </a:ext>
            </a:extLst>
          </p:cNvPr>
          <p:cNvSpPr/>
          <p:nvPr/>
        </p:nvSpPr>
        <p:spPr>
          <a:xfrm>
            <a:off x="9719750" y="1964046"/>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377675E-2132-1C12-DDB7-C2B8277FB0A7}"/>
              </a:ext>
            </a:extLst>
          </p:cNvPr>
          <p:cNvSpPr txBox="1"/>
          <p:nvPr/>
        </p:nvSpPr>
        <p:spPr>
          <a:xfrm>
            <a:off x="352252" y="3899761"/>
            <a:ext cx="1739982"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dirty="0">
                <a:solidFill>
                  <a:schemeClr val="tx1"/>
                </a:solidFill>
                <a:latin typeface="Yu Gothic"/>
              </a:rPr>
              <a:t>新出単語を投入</a:t>
            </a:r>
          </a:p>
        </p:txBody>
      </p:sp>
      <p:sp>
        <p:nvSpPr>
          <p:cNvPr id="10" name="テキスト ボックス 9">
            <a:extLst>
              <a:ext uri="{FF2B5EF4-FFF2-40B4-BE49-F238E27FC236}">
                <a16:creationId xmlns:a16="http://schemas.microsoft.com/office/drawing/2014/main" id="{6CD42605-6BCC-949C-EACA-4FB8B002511D}"/>
              </a:ext>
            </a:extLst>
          </p:cNvPr>
          <p:cNvSpPr txBox="1"/>
          <p:nvPr/>
        </p:nvSpPr>
        <p:spPr>
          <a:xfrm>
            <a:off x="2650386" y="3899761"/>
            <a:ext cx="2584269"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latin typeface="Yu Gothic"/>
              </a:rPr>
              <a:t>情報を収集し、</a:t>
            </a:r>
            <a:endParaRPr lang="en-US" altLang="ja-JP" sz="1400" dirty="0">
              <a:latin typeface="Yu Gothic"/>
            </a:endParaRPr>
          </a:p>
          <a:p>
            <a:pPr algn="ctr"/>
            <a:r>
              <a:rPr lang="ja-JP" altLang="en-US" sz="1400" dirty="0">
                <a:latin typeface="Yu Gothic"/>
              </a:rPr>
              <a:t>知識を構造化し</a:t>
            </a:r>
            <a:r>
              <a:rPr lang="en-US" altLang="ja-JP" sz="1400" dirty="0">
                <a:latin typeface="Yu Gothic"/>
              </a:rPr>
              <a:t>DB</a:t>
            </a:r>
            <a:r>
              <a:rPr lang="ja-JP" altLang="en-US" sz="1400" dirty="0">
                <a:latin typeface="Yu Gothic"/>
              </a:rPr>
              <a:t>に保存</a:t>
            </a:r>
            <a:endParaRPr lang="ja-JP" altLang="en-US" sz="1200" dirty="0">
              <a:solidFill>
                <a:schemeClr val="tx1"/>
              </a:solidFill>
              <a:latin typeface="Yu Gothic"/>
            </a:endParaRPr>
          </a:p>
        </p:txBody>
      </p:sp>
      <p:sp>
        <p:nvSpPr>
          <p:cNvPr id="14" name="テキスト ボックス 13">
            <a:extLst>
              <a:ext uri="{FF2B5EF4-FFF2-40B4-BE49-F238E27FC236}">
                <a16:creationId xmlns:a16="http://schemas.microsoft.com/office/drawing/2014/main" id="{CC32575B-A977-080C-2312-C3D66C8916EE}"/>
              </a:ext>
            </a:extLst>
          </p:cNvPr>
          <p:cNvSpPr txBox="1"/>
          <p:nvPr/>
        </p:nvSpPr>
        <p:spPr>
          <a:xfrm>
            <a:off x="5886215" y="3899761"/>
            <a:ext cx="1616182" cy="769441"/>
          </a:xfrm>
          <a:prstGeom prst="rect">
            <a:avLst/>
          </a:prstGeom>
          <a:noFill/>
        </p:spPr>
        <p:txBody>
          <a:bodyPr wrap="square">
            <a:spAutoFit/>
          </a:bodyPr>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p>
          <a:p>
            <a:pPr algn="ctr"/>
            <a:r>
              <a:rPr lang="ja-JP" altLang="en-US" sz="1400" dirty="0">
                <a:solidFill>
                  <a:schemeClr val="tx1"/>
                </a:solidFill>
                <a:latin typeface="+mn-ea"/>
              </a:rPr>
              <a:t>選択肢・問題作成</a:t>
            </a:r>
          </a:p>
        </p:txBody>
      </p:sp>
      <p:sp>
        <p:nvSpPr>
          <p:cNvPr id="19" name="テキスト ボックス 18">
            <a:extLst>
              <a:ext uri="{FF2B5EF4-FFF2-40B4-BE49-F238E27FC236}">
                <a16:creationId xmlns:a16="http://schemas.microsoft.com/office/drawing/2014/main" id="{6F3C765D-5FA6-A7C1-4FD4-01AA6FA150B2}"/>
              </a:ext>
            </a:extLst>
          </p:cNvPr>
          <p:cNvSpPr txBox="1"/>
          <p:nvPr/>
        </p:nvSpPr>
        <p:spPr>
          <a:xfrm>
            <a:off x="7835685" y="3930538"/>
            <a:ext cx="2198410" cy="707886"/>
          </a:xfrm>
          <a:prstGeom prst="rect">
            <a:avLst/>
          </a:prstGeom>
          <a:noFill/>
        </p:spPr>
        <p:txBody>
          <a:bodyPr wrap="square">
            <a:spAutoFit/>
          </a:bodyPr>
          <a:lstStyle/>
          <a:p>
            <a:pPr algn="ctr"/>
            <a:r>
              <a:rPr lang="ja-JP" altLang="en-US" sz="1600" b="1" dirty="0">
                <a:solidFill>
                  <a:schemeClr val="accent5">
                    <a:lumMod val="75000"/>
                  </a:schemeClr>
                </a:solidFill>
                <a:latin typeface="+mn-ea"/>
              </a:rPr>
              <a:t>④問題評価</a:t>
            </a:r>
          </a:p>
          <a:p>
            <a:pPr algn="ctr"/>
            <a:r>
              <a:rPr lang="en-US" altLang="ja-JP" sz="1200" dirty="0">
                <a:solidFill>
                  <a:schemeClr val="tx1"/>
                </a:solidFill>
                <a:latin typeface="+mn-ea"/>
              </a:rPr>
              <a:t>Python</a:t>
            </a:r>
            <a:r>
              <a:rPr lang="ja-JP" altLang="en-US" sz="1200" dirty="0">
                <a:solidFill>
                  <a:schemeClr val="tx1"/>
                </a:solidFill>
                <a:latin typeface="+mn-ea"/>
              </a:rPr>
              <a:t>・</a:t>
            </a:r>
            <a:r>
              <a:rPr lang="en-US" altLang="ja-JP" sz="1200" dirty="0">
                <a:solidFill>
                  <a:schemeClr val="tx1"/>
                </a:solidFill>
                <a:latin typeface="+mn-ea"/>
              </a:rPr>
              <a:t>LLM</a:t>
            </a:r>
            <a:r>
              <a:rPr lang="ja-JP" altLang="en-US" sz="1200" dirty="0">
                <a:solidFill>
                  <a:schemeClr val="tx1"/>
                </a:solidFill>
                <a:latin typeface="+mn-ea"/>
              </a:rPr>
              <a:t>・</a:t>
            </a:r>
            <a:r>
              <a:rPr lang="en-US" altLang="ja-JP" sz="1200" dirty="0">
                <a:solidFill>
                  <a:schemeClr val="tx1"/>
                </a:solidFill>
                <a:latin typeface="+mn-ea"/>
              </a:rPr>
              <a:t>Embedding</a:t>
            </a:r>
            <a:r>
              <a:rPr lang="ja-JP" altLang="en-US" sz="1200" dirty="0">
                <a:solidFill>
                  <a:schemeClr val="tx1"/>
                </a:solidFill>
                <a:latin typeface="+mn-ea"/>
              </a:rPr>
              <a:t>で評価</a:t>
            </a:r>
          </a:p>
        </p:txBody>
      </p:sp>
      <p:sp>
        <p:nvSpPr>
          <p:cNvPr id="21" name="テキスト ボックス 20">
            <a:extLst>
              <a:ext uri="{FF2B5EF4-FFF2-40B4-BE49-F238E27FC236}">
                <a16:creationId xmlns:a16="http://schemas.microsoft.com/office/drawing/2014/main" id="{6F2561EB-A63E-BC38-03A9-63F2A59796C2}"/>
              </a:ext>
            </a:extLst>
          </p:cNvPr>
          <p:cNvSpPr txBox="1"/>
          <p:nvPr/>
        </p:nvSpPr>
        <p:spPr>
          <a:xfrm>
            <a:off x="10077716" y="3807428"/>
            <a:ext cx="1739982" cy="954107"/>
          </a:xfrm>
          <a:prstGeom prst="rect">
            <a:avLst/>
          </a:prstGeom>
          <a:noFill/>
        </p:spPr>
        <p:txBody>
          <a:bodyPr wrap="square">
            <a:spAutoFit/>
          </a:bodyPr>
          <a:lstStyle/>
          <a:p>
            <a:pPr algn="ctr"/>
            <a:r>
              <a:rPr lang="ja-JP" altLang="en-US" sz="1600" b="1" dirty="0">
                <a:solidFill>
                  <a:schemeClr val="accent5">
                    <a:lumMod val="75000"/>
                  </a:schemeClr>
                </a:solidFill>
                <a:latin typeface="+mn-ea"/>
              </a:rPr>
              <a:t>⑤問題出題・フィードバック</a:t>
            </a:r>
            <a:endParaRPr lang="en-US" altLang="ja-JP" sz="1600" b="1" dirty="0">
              <a:solidFill>
                <a:schemeClr val="accent5">
                  <a:lumMod val="75000"/>
                </a:schemeClr>
              </a:solidFill>
              <a:latin typeface="+mn-ea"/>
            </a:endParaRPr>
          </a:p>
          <a:p>
            <a:pPr algn="ctr"/>
            <a:r>
              <a:rPr lang="ja-JP" altLang="en-US" sz="1200" dirty="0">
                <a:solidFill>
                  <a:schemeClr val="tx1"/>
                </a:solidFill>
                <a:latin typeface="+mn-ea"/>
              </a:rPr>
              <a:t>回答を評価し</a:t>
            </a:r>
            <a:endParaRPr lang="en-US" altLang="ja-JP" sz="1200" dirty="0">
              <a:solidFill>
                <a:schemeClr val="tx1"/>
              </a:solidFill>
              <a:latin typeface="+mn-ea"/>
            </a:endParaRPr>
          </a:p>
          <a:p>
            <a:pPr algn="ctr"/>
            <a:r>
              <a:rPr lang="ja-JP" altLang="en-US" sz="1200" dirty="0">
                <a:solidFill>
                  <a:schemeClr val="tx1"/>
                </a:solidFill>
                <a:latin typeface="+mn-ea"/>
              </a:rPr>
              <a:t>フィードバック</a:t>
            </a:r>
            <a:endParaRPr lang="ja-JP" altLang="en-US" dirty="0"/>
          </a:p>
        </p:txBody>
      </p:sp>
    </p:spTree>
    <p:extLst>
      <p:ext uri="{BB962C8B-B14F-4D97-AF65-F5344CB8AC3E}">
        <p14:creationId xmlns:p14="http://schemas.microsoft.com/office/powerpoint/2010/main" val="1594327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CD2334-1CF0-E12E-FBF8-274F8917A0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0681E9-2A59-36D1-CB45-47C74BB376E6}"/>
              </a:ext>
            </a:extLst>
          </p:cNvPr>
          <p:cNvSpPr>
            <a:spLocks noGrp="1"/>
          </p:cNvSpPr>
          <p:nvPr>
            <p:ph type="title"/>
          </p:nvPr>
        </p:nvSpPr>
        <p:spPr/>
        <p:txBody>
          <a:bodyPr/>
          <a:lstStyle/>
          <a:p>
            <a:r>
              <a:rPr kumimoji="1" lang="ja-JP" altLang="en-US" b="1" dirty="0"/>
              <a:t>提案システムの全体構成</a:t>
            </a:r>
          </a:p>
        </p:txBody>
      </p:sp>
      <p:sp>
        <p:nvSpPr>
          <p:cNvPr id="112" name="コンテンツ プレースホルダー 4">
            <a:extLst>
              <a:ext uri="{FF2B5EF4-FFF2-40B4-BE49-F238E27FC236}">
                <a16:creationId xmlns:a16="http://schemas.microsoft.com/office/drawing/2014/main" id="{E2403C5F-3C5C-3D1C-5A8A-DB8BEA2CCF4B}"/>
              </a:ext>
            </a:extLst>
          </p:cNvPr>
          <p:cNvSpPr>
            <a:spLocks noGrp="1"/>
          </p:cNvSpPr>
          <p:nvPr>
            <p:ph idx="1"/>
          </p:nvPr>
        </p:nvSpPr>
        <p:spPr>
          <a:xfrm>
            <a:off x="838197" y="4899832"/>
            <a:ext cx="10515601" cy="1539650"/>
          </a:xfrm>
        </p:spPr>
        <p:txBody>
          <a:bodyPr>
            <a:normAutofit/>
          </a:bodyPr>
          <a:lstStyle/>
          <a:p>
            <a:pPr marL="0" indent="0" algn="ctr">
              <a:buNone/>
            </a:pPr>
            <a:r>
              <a:rPr lang="ja-JP" altLang="ja-JP" b="1" dirty="0"/>
              <a:t>本研究の検証対象</a:t>
            </a:r>
          </a:p>
          <a:p>
            <a:pPr marL="0" indent="0" algn="ctr">
              <a:buNone/>
            </a:pPr>
            <a:r>
              <a:rPr lang="ja-JP" altLang="ja-JP" dirty="0">
                <a:solidFill>
                  <a:schemeClr val="accent5">
                    <a:lumMod val="75000"/>
                  </a:schemeClr>
                </a:solidFill>
              </a:rPr>
              <a:t>4択問題の生成</a:t>
            </a:r>
            <a:r>
              <a:rPr lang="ja-JP" altLang="ja-JP" dirty="0"/>
              <a:t>、</a:t>
            </a:r>
            <a:r>
              <a:rPr lang="ja-JP" altLang="ja-JP" dirty="0">
                <a:solidFill>
                  <a:schemeClr val="accent5">
                    <a:lumMod val="75000"/>
                  </a:schemeClr>
                </a:solidFill>
              </a:rPr>
              <a:t>品質評価手法の検討</a:t>
            </a:r>
            <a:r>
              <a:rPr lang="ja-JP" altLang="ja-JP" dirty="0"/>
              <a:t>、</a:t>
            </a:r>
            <a:endParaRPr lang="en-US" altLang="ja-JP" dirty="0"/>
          </a:p>
          <a:p>
            <a:pPr marL="0" indent="0" algn="ctr">
              <a:buNone/>
            </a:pPr>
            <a:r>
              <a:rPr lang="ja-JP" altLang="ja-JP" dirty="0"/>
              <a:t>および</a:t>
            </a:r>
            <a:r>
              <a:rPr lang="ja-JP" altLang="ja-JP" dirty="0">
                <a:solidFill>
                  <a:schemeClr val="accent5">
                    <a:lumMod val="75000"/>
                  </a:schemeClr>
                </a:solidFill>
              </a:rPr>
              <a:t>学習データ</a:t>
            </a:r>
            <a:r>
              <a:rPr lang="ja-JP" altLang="ja-JP" dirty="0"/>
              <a:t>の違いによる生成品質の比較</a:t>
            </a:r>
          </a:p>
        </p:txBody>
      </p:sp>
      <p:sp>
        <p:nvSpPr>
          <p:cNvPr id="115" name="スライド番号プレースホルダー 114">
            <a:extLst>
              <a:ext uri="{FF2B5EF4-FFF2-40B4-BE49-F238E27FC236}">
                <a16:creationId xmlns:a16="http://schemas.microsoft.com/office/drawing/2014/main" id="{6B58AE8F-916A-74C3-3A07-510F1FCAFC00}"/>
              </a:ext>
            </a:extLst>
          </p:cNvPr>
          <p:cNvSpPr>
            <a:spLocks noGrp="1"/>
          </p:cNvSpPr>
          <p:nvPr>
            <p:ph type="sldNum" sz="quarter" idx="12"/>
          </p:nvPr>
        </p:nvSpPr>
        <p:spPr/>
        <p:txBody>
          <a:bodyPr/>
          <a:lstStyle/>
          <a:p>
            <a:fld id="{9FB99072-780F-43D9-B22B-8FACFE63800E}" type="slidenum">
              <a:rPr kumimoji="1" lang="ja-JP" altLang="en-US" smtClean="0"/>
              <a:t>24</a:t>
            </a:fld>
            <a:endParaRPr kumimoji="1" lang="ja-JP" altLang="en-US"/>
          </a:p>
        </p:txBody>
      </p:sp>
      <p:grpSp>
        <p:nvGrpSpPr>
          <p:cNvPr id="139" name="グループ化 138">
            <a:extLst>
              <a:ext uri="{FF2B5EF4-FFF2-40B4-BE49-F238E27FC236}">
                <a16:creationId xmlns:a16="http://schemas.microsoft.com/office/drawing/2014/main" id="{E653DA3B-D224-318D-4979-0578E3F628CD}"/>
              </a:ext>
            </a:extLst>
          </p:cNvPr>
          <p:cNvGrpSpPr/>
          <p:nvPr/>
        </p:nvGrpSpPr>
        <p:grpSpPr>
          <a:xfrm>
            <a:off x="298429" y="1254285"/>
            <a:ext cx="2000558" cy="3295944"/>
            <a:chOff x="895354" y="1254285"/>
            <a:chExt cx="2000558" cy="3295944"/>
          </a:xfrm>
        </p:grpSpPr>
        <p:sp>
          <p:nvSpPr>
            <p:cNvPr id="7" name="Rounded Rectangle 8">
              <a:extLst>
                <a:ext uri="{FF2B5EF4-FFF2-40B4-BE49-F238E27FC236}">
                  <a16:creationId xmlns:a16="http://schemas.microsoft.com/office/drawing/2014/main" id="{5D963FB6-34F1-E4EA-4D86-C8EF9D9728C1}"/>
                </a:ext>
              </a:extLst>
            </p:cNvPr>
            <p:cNvSpPr/>
            <p:nvPr/>
          </p:nvSpPr>
          <p:spPr>
            <a:xfrm>
              <a:off x="895354" y="1254285"/>
              <a:ext cx="1968498" cy="3295944"/>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t" anchorCtr="1"/>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dirty="0">
                  <a:solidFill>
                    <a:schemeClr val="tx1"/>
                  </a:solidFill>
                  <a:latin typeface="Yu Gothic"/>
                </a:rPr>
                <a:t>新出単語を投入</a:t>
              </a:r>
            </a:p>
          </p:txBody>
        </p:sp>
        <p:pic>
          <p:nvPicPr>
            <p:cNvPr id="85" name="グラフィックス 84" descr="ドキュメント 枠線">
              <a:extLst>
                <a:ext uri="{FF2B5EF4-FFF2-40B4-BE49-F238E27FC236}">
                  <a16:creationId xmlns:a16="http://schemas.microsoft.com/office/drawing/2014/main" id="{49E61E1E-ABF4-89CE-6873-98BE1DADFE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5354" y="2570872"/>
              <a:ext cx="571716" cy="571716"/>
            </a:xfrm>
            <a:prstGeom prst="rect">
              <a:avLst/>
            </a:prstGeom>
          </p:spPr>
        </p:pic>
        <p:sp>
          <p:nvSpPr>
            <p:cNvPr id="17" name="テキスト ボックス 16">
              <a:extLst>
                <a:ext uri="{FF2B5EF4-FFF2-40B4-BE49-F238E27FC236}">
                  <a16:creationId xmlns:a16="http://schemas.microsoft.com/office/drawing/2014/main" id="{4087E956-C4F4-BF7A-F5C4-B73447AB7DF4}"/>
                </a:ext>
              </a:extLst>
            </p:cNvPr>
            <p:cNvSpPr txBox="1"/>
            <p:nvPr/>
          </p:nvSpPr>
          <p:spPr>
            <a:xfrm>
              <a:off x="1441499" y="2748368"/>
              <a:ext cx="1454413" cy="307777"/>
            </a:xfrm>
            <a:prstGeom prst="rect">
              <a:avLst/>
            </a:prstGeom>
            <a:noFill/>
          </p:spPr>
          <p:txBody>
            <a:bodyPr wrap="square" rtlCol="0">
              <a:spAutoFit/>
            </a:bodyPr>
            <a:lstStyle/>
            <a:p>
              <a:r>
                <a:rPr kumimoji="1" lang="ja-JP" altLang="en-US" sz="1400" dirty="0"/>
                <a:t>新出単語リスト</a:t>
              </a:r>
              <a:endParaRPr kumimoji="1" lang="en-US" altLang="ja-JP" sz="1400" dirty="0"/>
            </a:p>
          </p:txBody>
        </p:sp>
      </p:grpSp>
      <p:grpSp>
        <p:nvGrpSpPr>
          <p:cNvPr id="140" name="グループ化 139">
            <a:extLst>
              <a:ext uri="{FF2B5EF4-FFF2-40B4-BE49-F238E27FC236}">
                <a16:creationId xmlns:a16="http://schemas.microsoft.com/office/drawing/2014/main" id="{E225C4F2-7A5A-E22A-FBFA-BC0C1D020343}"/>
              </a:ext>
            </a:extLst>
          </p:cNvPr>
          <p:cNvGrpSpPr/>
          <p:nvPr/>
        </p:nvGrpSpPr>
        <p:grpSpPr>
          <a:xfrm>
            <a:off x="2597416" y="1254285"/>
            <a:ext cx="2794110" cy="3323791"/>
            <a:chOff x="3245489" y="1254285"/>
            <a:chExt cx="2794110" cy="3323791"/>
          </a:xfrm>
        </p:grpSpPr>
        <p:sp>
          <p:nvSpPr>
            <p:cNvPr id="11" name="Rounded Rectangle 12">
              <a:extLst>
                <a:ext uri="{FF2B5EF4-FFF2-40B4-BE49-F238E27FC236}">
                  <a16:creationId xmlns:a16="http://schemas.microsoft.com/office/drawing/2014/main" id="{7AE790D2-ED38-0421-FABB-73BE42C27DFC}"/>
                </a:ext>
              </a:extLst>
            </p:cNvPr>
            <p:cNvSpPr/>
            <p:nvPr/>
          </p:nvSpPr>
          <p:spPr>
            <a:xfrm>
              <a:off x="3326238" y="1254285"/>
              <a:ext cx="2584270" cy="3295944"/>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t" anchorCtr="1"/>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solidFill>
                    <a:schemeClr val="tx1"/>
                  </a:solidFill>
                  <a:latin typeface="Yu Gothic"/>
                </a:rPr>
                <a:t>情報を収集し、</a:t>
              </a:r>
              <a:endParaRPr lang="en-US" altLang="ja-JP" sz="1400" dirty="0">
                <a:solidFill>
                  <a:schemeClr val="tx1"/>
                </a:solidFill>
                <a:latin typeface="Yu Gothic"/>
              </a:endParaRPr>
            </a:p>
            <a:p>
              <a:pPr algn="ctr"/>
              <a:r>
                <a:rPr lang="ja-JP" altLang="en-US" sz="1400" dirty="0">
                  <a:solidFill>
                    <a:schemeClr val="tx1"/>
                  </a:solidFill>
                  <a:latin typeface="Yu Gothic"/>
                </a:rPr>
                <a:t>知識を構造化し</a:t>
              </a:r>
              <a:r>
                <a:rPr lang="en-US" altLang="ja-JP" sz="1400" dirty="0">
                  <a:solidFill>
                    <a:schemeClr val="tx1"/>
                  </a:solidFill>
                  <a:latin typeface="Yu Gothic"/>
                </a:rPr>
                <a:t>DB</a:t>
              </a:r>
              <a:r>
                <a:rPr lang="ja-JP" altLang="en-US" sz="1400" dirty="0">
                  <a:solidFill>
                    <a:schemeClr val="tx1"/>
                  </a:solidFill>
                  <a:latin typeface="Yu Gothic"/>
                </a:rPr>
                <a:t>に保存</a:t>
              </a:r>
              <a:endParaRPr sz="1400" dirty="0">
                <a:solidFill>
                  <a:schemeClr val="tx1"/>
                </a:solidFill>
                <a:latin typeface="Yu Gothic"/>
              </a:endParaRPr>
            </a:p>
          </p:txBody>
        </p:sp>
        <p:sp>
          <p:nvSpPr>
            <p:cNvPr id="77" name="四角形: 角を丸くする 76">
              <a:extLst>
                <a:ext uri="{FF2B5EF4-FFF2-40B4-BE49-F238E27FC236}">
                  <a16:creationId xmlns:a16="http://schemas.microsoft.com/office/drawing/2014/main" id="{7AF44203-F4EB-75D7-B8DD-B4985A063737}"/>
                </a:ext>
              </a:extLst>
            </p:cNvPr>
            <p:cNvSpPr/>
            <p:nvPr/>
          </p:nvSpPr>
          <p:spPr>
            <a:xfrm>
              <a:off x="3337979" y="2261131"/>
              <a:ext cx="2555431" cy="120350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3" name="グラフィックス 82" descr="人工知能 枠線">
              <a:extLst>
                <a:ext uri="{FF2B5EF4-FFF2-40B4-BE49-F238E27FC236}">
                  <a16:creationId xmlns:a16="http://schemas.microsoft.com/office/drawing/2014/main" id="{152AF847-871F-B202-1F0A-448871B77AE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9229" y="2332946"/>
              <a:ext cx="587607" cy="587607"/>
            </a:xfrm>
            <a:prstGeom prst="rect">
              <a:avLst/>
            </a:prstGeom>
          </p:spPr>
        </p:pic>
        <p:pic>
          <p:nvPicPr>
            <p:cNvPr id="32" name="グラフィックス 31" descr="ドキュメント 枠線">
              <a:extLst>
                <a:ext uri="{FF2B5EF4-FFF2-40B4-BE49-F238E27FC236}">
                  <a16:creationId xmlns:a16="http://schemas.microsoft.com/office/drawing/2014/main" id="{9265DE4E-E703-4AC1-78BF-CA5E8F7C7D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88224" y="2454789"/>
              <a:ext cx="429495" cy="429495"/>
            </a:xfrm>
            <a:prstGeom prst="rect">
              <a:avLst/>
            </a:prstGeom>
          </p:spPr>
        </p:pic>
        <p:pic>
          <p:nvPicPr>
            <p:cNvPr id="34" name="グラフィックス 33" descr="世界 枠線">
              <a:extLst>
                <a:ext uri="{FF2B5EF4-FFF2-40B4-BE49-F238E27FC236}">
                  <a16:creationId xmlns:a16="http://schemas.microsoft.com/office/drawing/2014/main" id="{5EB9B572-64A5-8C6F-04E6-6B6ACB069E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75362" y="2463367"/>
              <a:ext cx="429495" cy="429495"/>
            </a:xfrm>
            <a:prstGeom prst="rect">
              <a:avLst/>
            </a:prstGeom>
          </p:spPr>
        </p:pic>
        <p:pic>
          <p:nvPicPr>
            <p:cNvPr id="36" name="グラフィックス 35" descr="開いた本 枠線">
              <a:extLst>
                <a:ext uri="{FF2B5EF4-FFF2-40B4-BE49-F238E27FC236}">
                  <a16:creationId xmlns:a16="http://schemas.microsoft.com/office/drawing/2014/main" id="{A1945D6C-073C-8058-2A47-995CE58607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31793" y="2463367"/>
              <a:ext cx="429495" cy="429495"/>
            </a:xfrm>
            <a:prstGeom prst="rect">
              <a:avLst/>
            </a:prstGeom>
          </p:spPr>
        </p:pic>
        <p:sp>
          <p:nvSpPr>
            <p:cNvPr id="40" name="テキスト ボックス 39">
              <a:extLst>
                <a:ext uri="{FF2B5EF4-FFF2-40B4-BE49-F238E27FC236}">
                  <a16:creationId xmlns:a16="http://schemas.microsoft.com/office/drawing/2014/main" id="{2C023894-B54C-34BD-1996-46E5F6C9CF4C}"/>
                </a:ext>
              </a:extLst>
            </p:cNvPr>
            <p:cNvSpPr txBox="1"/>
            <p:nvPr/>
          </p:nvSpPr>
          <p:spPr>
            <a:xfrm>
              <a:off x="3245489" y="2929363"/>
              <a:ext cx="1462906" cy="523220"/>
            </a:xfrm>
            <a:prstGeom prst="rect">
              <a:avLst/>
            </a:prstGeom>
            <a:noFill/>
          </p:spPr>
          <p:txBody>
            <a:bodyPr wrap="square" rtlCol="0">
              <a:spAutoFit/>
            </a:bodyPr>
            <a:lstStyle/>
            <a:p>
              <a:r>
                <a:rPr kumimoji="1" lang="ja-JP" altLang="en-US" sz="1400" dirty="0"/>
                <a:t>複数ソースから</a:t>
              </a:r>
              <a:endParaRPr kumimoji="1" lang="en-US" altLang="ja-JP" sz="1400" dirty="0"/>
            </a:p>
            <a:p>
              <a:pPr algn="ctr"/>
              <a:r>
                <a:rPr lang="ja-JP" altLang="en-US" sz="1400" dirty="0"/>
                <a:t>情報取得</a:t>
              </a:r>
              <a:endParaRPr kumimoji="1" lang="ja-JP" altLang="en-US" sz="1400" dirty="0"/>
            </a:p>
          </p:txBody>
        </p:sp>
        <p:cxnSp>
          <p:nvCxnSpPr>
            <p:cNvPr id="42" name="直線矢印コネクタ 41">
              <a:extLst>
                <a:ext uri="{FF2B5EF4-FFF2-40B4-BE49-F238E27FC236}">
                  <a16:creationId xmlns:a16="http://schemas.microsoft.com/office/drawing/2014/main" id="{27BC719D-B78D-9F3B-AE11-5E1965B97E7D}"/>
                </a:ext>
              </a:extLst>
            </p:cNvPr>
            <p:cNvCxnSpPr>
              <a:cxnSpLocks/>
            </p:cNvCxnSpPr>
            <p:nvPr/>
          </p:nvCxnSpPr>
          <p:spPr>
            <a:xfrm>
              <a:off x="4599536" y="2660300"/>
              <a:ext cx="4296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1E57B450-BDAF-0D0A-5068-29CDC02597F0}"/>
                </a:ext>
              </a:extLst>
            </p:cNvPr>
            <p:cNvCxnSpPr>
              <a:cxnSpLocks/>
              <a:endCxn id="46" idx="0"/>
            </p:cNvCxnSpPr>
            <p:nvPr/>
          </p:nvCxnSpPr>
          <p:spPr>
            <a:xfrm>
              <a:off x="4800801" y="3464633"/>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6" name="グラフィックス 45" descr="データベース 枠線">
              <a:extLst>
                <a:ext uri="{FF2B5EF4-FFF2-40B4-BE49-F238E27FC236}">
                  <a16:creationId xmlns:a16="http://schemas.microsoft.com/office/drawing/2014/main" id="{14079EC6-183E-D67D-A7A2-B94EAD2CBCF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29002" y="3683562"/>
              <a:ext cx="543598" cy="543597"/>
            </a:xfrm>
            <a:prstGeom prst="rect">
              <a:avLst/>
            </a:prstGeom>
          </p:spPr>
        </p:pic>
        <p:sp>
          <p:nvSpPr>
            <p:cNvPr id="50" name="テキスト ボックス 49">
              <a:extLst>
                <a:ext uri="{FF2B5EF4-FFF2-40B4-BE49-F238E27FC236}">
                  <a16:creationId xmlns:a16="http://schemas.microsoft.com/office/drawing/2014/main" id="{AA8CC880-76E7-1C15-3C60-12E93087F71D}"/>
                </a:ext>
              </a:extLst>
            </p:cNvPr>
            <p:cNvSpPr txBox="1"/>
            <p:nvPr/>
          </p:nvSpPr>
          <p:spPr>
            <a:xfrm>
              <a:off x="4456364" y="4270299"/>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65" name="テキスト ボックス 64">
              <a:extLst>
                <a:ext uri="{FF2B5EF4-FFF2-40B4-BE49-F238E27FC236}">
                  <a16:creationId xmlns:a16="http://schemas.microsoft.com/office/drawing/2014/main" id="{2A33B15F-5FA0-EDD8-6B19-9A9E01013517}"/>
                </a:ext>
              </a:extLst>
            </p:cNvPr>
            <p:cNvSpPr txBox="1"/>
            <p:nvPr/>
          </p:nvSpPr>
          <p:spPr>
            <a:xfrm>
              <a:off x="4664198" y="2886223"/>
              <a:ext cx="1375401" cy="523220"/>
            </a:xfrm>
            <a:prstGeom prst="rect">
              <a:avLst/>
            </a:prstGeom>
            <a:noFill/>
          </p:spPr>
          <p:txBody>
            <a:bodyPr wrap="square" rtlCol="0">
              <a:spAutoFit/>
            </a:bodyPr>
            <a:lstStyle/>
            <a:p>
              <a:pPr algn="ctr"/>
              <a:r>
                <a:rPr kumimoji="1" lang="en-US" altLang="ja-JP" sz="1400" dirty="0"/>
                <a:t>LLM</a:t>
              </a:r>
              <a:r>
                <a:rPr kumimoji="1" lang="ja-JP" altLang="en-US" sz="1400" dirty="0"/>
                <a:t>で</a:t>
              </a:r>
              <a:endParaRPr kumimoji="1" lang="en-US" altLang="ja-JP" sz="1400" dirty="0"/>
            </a:p>
            <a:p>
              <a:pPr algn="ctr"/>
              <a:r>
                <a:rPr lang="ja-JP" altLang="en-US" sz="1400" dirty="0"/>
                <a:t>要約・構造化</a:t>
              </a:r>
              <a:endParaRPr kumimoji="1" lang="en-US" altLang="ja-JP" sz="1400" dirty="0"/>
            </a:p>
          </p:txBody>
        </p:sp>
      </p:grpSp>
      <p:grpSp>
        <p:nvGrpSpPr>
          <p:cNvPr id="144" name="グループ化 143">
            <a:extLst>
              <a:ext uri="{FF2B5EF4-FFF2-40B4-BE49-F238E27FC236}">
                <a16:creationId xmlns:a16="http://schemas.microsoft.com/office/drawing/2014/main" id="{7E8C12A7-3443-79D9-D973-A8E32B61069B}"/>
              </a:ext>
            </a:extLst>
          </p:cNvPr>
          <p:cNvGrpSpPr/>
          <p:nvPr/>
        </p:nvGrpSpPr>
        <p:grpSpPr>
          <a:xfrm>
            <a:off x="7997087" y="1254285"/>
            <a:ext cx="1706328" cy="3295944"/>
            <a:chOff x="9647470" y="1254285"/>
            <a:chExt cx="1706328" cy="3295944"/>
          </a:xfrm>
        </p:grpSpPr>
        <p:sp>
          <p:nvSpPr>
            <p:cNvPr id="15" name="Rounded Rectangle 16">
              <a:extLst>
                <a:ext uri="{FF2B5EF4-FFF2-40B4-BE49-F238E27FC236}">
                  <a16:creationId xmlns:a16="http://schemas.microsoft.com/office/drawing/2014/main" id="{9193D983-DB76-C393-C243-6FDEDB046E7E}"/>
                </a:ext>
              </a:extLst>
            </p:cNvPr>
            <p:cNvSpPr/>
            <p:nvPr/>
          </p:nvSpPr>
          <p:spPr>
            <a:xfrm>
              <a:off x="9647470" y="1254285"/>
              <a:ext cx="1706328" cy="3295944"/>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t" anchorCtr="1"/>
            <a:lstStyle/>
            <a:p>
              <a:pPr algn="ctr"/>
              <a:r>
                <a:rPr lang="ja-JP" altLang="en-US" sz="1600" b="1" dirty="0">
                  <a:solidFill>
                    <a:schemeClr val="accent5">
                      <a:lumMod val="75000"/>
                    </a:schemeClr>
                  </a:solidFill>
                  <a:latin typeface="+mn-ea"/>
                </a:rPr>
                <a:t>④問題評価</a:t>
              </a:r>
            </a:p>
            <a:p>
              <a:pPr algn="ctr"/>
              <a:r>
                <a:rPr lang="en-US" altLang="ja-JP" sz="1200" dirty="0">
                  <a:solidFill>
                    <a:schemeClr val="tx1"/>
                  </a:solidFill>
                  <a:latin typeface="+mn-ea"/>
                </a:rPr>
                <a:t>Python</a:t>
              </a:r>
              <a:r>
                <a:rPr lang="ja-JP" altLang="en-US" sz="1200" dirty="0">
                  <a:solidFill>
                    <a:schemeClr val="tx1"/>
                  </a:solidFill>
                  <a:latin typeface="+mn-ea"/>
                </a:rPr>
                <a:t>・</a:t>
              </a:r>
              <a:r>
                <a:rPr lang="en-US" altLang="ja-JP" sz="1200" dirty="0">
                  <a:solidFill>
                    <a:schemeClr val="tx1"/>
                  </a:solidFill>
                  <a:latin typeface="+mn-ea"/>
                </a:rPr>
                <a:t>LLM</a:t>
              </a:r>
              <a:r>
                <a:rPr lang="ja-JP" altLang="en-US" sz="1200" dirty="0">
                  <a:solidFill>
                    <a:schemeClr val="tx1"/>
                  </a:solidFill>
                  <a:latin typeface="+mn-ea"/>
                </a:rPr>
                <a:t>・</a:t>
              </a:r>
              <a:r>
                <a:rPr lang="en-US" altLang="ja-JP" sz="1200" dirty="0">
                  <a:solidFill>
                    <a:schemeClr val="tx1"/>
                  </a:solidFill>
                  <a:latin typeface="+mn-ea"/>
                </a:rPr>
                <a:t>Embedding</a:t>
              </a:r>
              <a:r>
                <a:rPr lang="ja-JP" altLang="en-US" sz="1200" dirty="0">
                  <a:solidFill>
                    <a:schemeClr val="tx1"/>
                  </a:solidFill>
                  <a:latin typeface="+mn-ea"/>
                </a:rPr>
                <a:t>で評価</a:t>
              </a:r>
            </a:p>
          </p:txBody>
        </p:sp>
        <p:pic>
          <p:nvPicPr>
            <p:cNvPr id="92" name="グラフィックス 91" descr="ベン図 枠線">
              <a:extLst>
                <a:ext uri="{FF2B5EF4-FFF2-40B4-BE49-F238E27FC236}">
                  <a16:creationId xmlns:a16="http://schemas.microsoft.com/office/drawing/2014/main" id="{F9C0BD2C-9245-B2BF-A2B5-69B0C63AC5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47470" y="3464633"/>
              <a:ext cx="587608" cy="587608"/>
            </a:xfrm>
            <a:prstGeom prst="rect">
              <a:avLst/>
            </a:prstGeom>
          </p:spPr>
        </p:pic>
        <p:pic>
          <p:nvPicPr>
            <p:cNvPr id="94" name="グラフィックス 93" descr="チェックマークを付けたチェック ボックス 枠線">
              <a:extLst>
                <a:ext uri="{FF2B5EF4-FFF2-40B4-BE49-F238E27FC236}">
                  <a16:creationId xmlns:a16="http://schemas.microsoft.com/office/drawing/2014/main" id="{E58B8819-A84C-08C0-0FDB-E2F2DC4E50F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88396" y="2122387"/>
              <a:ext cx="587608" cy="587608"/>
            </a:xfrm>
            <a:prstGeom prst="rect">
              <a:avLst/>
            </a:prstGeom>
          </p:spPr>
        </p:pic>
        <p:pic>
          <p:nvPicPr>
            <p:cNvPr id="96" name="グラフィックス 95" descr="人工知能 枠線">
              <a:extLst>
                <a:ext uri="{FF2B5EF4-FFF2-40B4-BE49-F238E27FC236}">
                  <a16:creationId xmlns:a16="http://schemas.microsoft.com/office/drawing/2014/main" id="{8F4D9B97-DF8F-5645-4150-50A5056D5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47470" y="2794866"/>
              <a:ext cx="587607" cy="587607"/>
            </a:xfrm>
            <a:prstGeom prst="rect">
              <a:avLst/>
            </a:prstGeom>
          </p:spPr>
        </p:pic>
        <p:sp>
          <p:nvSpPr>
            <p:cNvPr id="99" name="テキスト ボックス 98">
              <a:extLst>
                <a:ext uri="{FF2B5EF4-FFF2-40B4-BE49-F238E27FC236}">
                  <a16:creationId xmlns:a16="http://schemas.microsoft.com/office/drawing/2014/main" id="{AF6AE07B-5840-0984-49F1-D99A8728F837}"/>
                </a:ext>
              </a:extLst>
            </p:cNvPr>
            <p:cNvSpPr txBox="1"/>
            <p:nvPr/>
          </p:nvSpPr>
          <p:spPr>
            <a:xfrm>
              <a:off x="10235077" y="2179373"/>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grpSp>
      <p:grpSp>
        <p:nvGrpSpPr>
          <p:cNvPr id="154" name="グループ化 153">
            <a:extLst>
              <a:ext uri="{FF2B5EF4-FFF2-40B4-BE49-F238E27FC236}">
                <a16:creationId xmlns:a16="http://schemas.microsoft.com/office/drawing/2014/main" id="{E4D38C46-9FD1-424D-4855-1AE6F13CF73B}"/>
              </a:ext>
            </a:extLst>
          </p:cNvPr>
          <p:cNvGrpSpPr/>
          <p:nvPr/>
        </p:nvGrpSpPr>
        <p:grpSpPr>
          <a:xfrm>
            <a:off x="5689955" y="1254285"/>
            <a:ext cx="2008703" cy="3295944"/>
            <a:chOff x="6615166" y="1254285"/>
            <a:chExt cx="2008703" cy="3295944"/>
          </a:xfrm>
        </p:grpSpPr>
        <p:sp>
          <p:nvSpPr>
            <p:cNvPr id="13" name="Rounded Rectangle 14">
              <a:extLst>
                <a:ext uri="{FF2B5EF4-FFF2-40B4-BE49-F238E27FC236}">
                  <a16:creationId xmlns:a16="http://schemas.microsoft.com/office/drawing/2014/main" id="{010EEFD5-1602-080B-022F-68B7C6C2D641}"/>
                </a:ext>
              </a:extLst>
            </p:cNvPr>
            <p:cNvSpPr/>
            <p:nvPr/>
          </p:nvSpPr>
          <p:spPr>
            <a:xfrm>
              <a:off x="6615166" y="1254285"/>
              <a:ext cx="2008703" cy="3295944"/>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t" anchorCtr="1"/>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endParaRPr lang="en-US" altLang="ja-JP" sz="1400" dirty="0">
                <a:solidFill>
                  <a:schemeClr val="tx1"/>
                </a:solidFill>
                <a:latin typeface="+mn-ea"/>
              </a:endParaRPr>
            </a:p>
            <a:p>
              <a:pPr algn="ctr"/>
              <a:r>
                <a:rPr lang="ja-JP" altLang="en-US" sz="1400" dirty="0">
                  <a:solidFill>
                    <a:schemeClr val="tx1"/>
                  </a:solidFill>
                  <a:latin typeface="+mn-ea"/>
                </a:rPr>
                <a:t>選択肢・問題作成</a:t>
              </a:r>
              <a:endParaRPr sz="1400" dirty="0">
                <a:solidFill>
                  <a:schemeClr val="tx1"/>
                </a:solidFill>
                <a:latin typeface="+mn-ea"/>
              </a:endParaRPr>
            </a:p>
          </p:txBody>
        </p:sp>
        <p:pic>
          <p:nvPicPr>
            <p:cNvPr id="55" name="グラフィックス 54" descr="データベース 枠線">
              <a:extLst>
                <a:ext uri="{FF2B5EF4-FFF2-40B4-BE49-F238E27FC236}">
                  <a16:creationId xmlns:a16="http://schemas.microsoft.com/office/drawing/2014/main" id="{B58180E9-FD95-758D-07A5-38F153200AB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52476" y="2209363"/>
              <a:ext cx="571625" cy="571624"/>
            </a:xfrm>
            <a:prstGeom prst="rect">
              <a:avLst/>
            </a:prstGeom>
          </p:spPr>
        </p:pic>
        <p:sp>
          <p:nvSpPr>
            <p:cNvPr id="57" name="テキスト ボックス 56">
              <a:extLst>
                <a:ext uri="{FF2B5EF4-FFF2-40B4-BE49-F238E27FC236}">
                  <a16:creationId xmlns:a16="http://schemas.microsoft.com/office/drawing/2014/main" id="{0A001E13-E90C-F592-E084-EC126BD43317}"/>
                </a:ext>
              </a:extLst>
            </p:cNvPr>
            <p:cNvSpPr txBox="1"/>
            <p:nvPr/>
          </p:nvSpPr>
          <p:spPr>
            <a:xfrm>
              <a:off x="7409728" y="2405948"/>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r>
                <a:rPr kumimoji="1" lang="en-US" altLang="ja-JP" sz="1400" dirty="0"/>
                <a:t>4</a:t>
              </a:r>
              <a:r>
                <a:rPr kumimoji="1" lang="ja-JP" altLang="en-US" sz="1400" dirty="0"/>
                <a:t>パターンの</a:t>
              </a:r>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grpSp>
          <p:nvGrpSpPr>
            <p:cNvPr id="116" name="グループ化 115">
              <a:extLst>
                <a:ext uri="{FF2B5EF4-FFF2-40B4-BE49-F238E27FC236}">
                  <a16:creationId xmlns:a16="http://schemas.microsoft.com/office/drawing/2014/main" id="{124DDC5D-C150-845E-17A0-F41A93FB53FC}"/>
                </a:ext>
              </a:extLst>
            </p:cNvPr>
            <p:cNvGrpSpPr/>
            <p:nvPr/>
          </p:nvGrpSpPr>
          <p:grpSpPr>
            <a:xfrm>
              <a:off x="6793769" y="2929363"/>
              <a:ext cx="360261" cy="367763"/>
              <a:chOff x="6793769" y="2929363"/>
              <a:chExt cx="360261" cy="367763"/>
            </a:xfrm>
          </p:grpSpPr>
          <p:sp>
            <p:nvSpPr>
              <p:cNvPr id="105" name="正方形/長方形 104">
                <a:extLst>
                  <a:ext uri="{FF2B5EF4-FFF2-40B4-BE49-F238E27FC236}">
                    <a16:creationId xmlns:a16="http://schemas.microsoft.com/office/drawing/2014/main" id="{30A76F0F-B10C-EA3D-5561-7CF20313CCB7}"/>
                  </a:ext>
                </a:extLst>
              </p:cNvPr>
              <p:cNvSpPr/>
              <p:nvPr/>
            </p:nvSpPr>
            <p:spPr>
              <a:xfrm>
                <a:off x="6793769"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正方形/長方形 106">
                <a:extLst>
                  <a:ext uri="{FF2B5EF4-FFF2-40B4-BE49-F238E27FC236}">
                    <a16:creationId xmlns:a16="http://schemas.microsoft.com/office/drawing/2014/main" id="{21D44565-BE53-1970-917D-D38BFE7AE28E}"/>
                  </a:ext>
                </a:extLst>
              </p:cNvPr>
              <p:cNvSpPr/>
              <p:nvPr/>
            </p:nvSpPr>
            <p:spPr>
              <a:xfrm>
                <a:off x="7016105"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正方形/長方形 108">
                <a:extLst>
                  <a:ext uri="{FF2B5EF4-FFF2-40B4-BE49-F238E27FC236}">
                    <a16:creationId xmlns:a16="http://schemas.microsoft.com/office/drawing/2014/main" id="{BD9B2D21-66FD-26DA-805D-F45AC6AC369E}"/>
                  </a:ext>
                </a:extLst>
              </p:cNvPr>
              <p:cNvSpPr/>
              <p:nvPr/>
            </p:nvSpPr>
            <p:spPr>
              <a:xfrm>
                <a:off x="6793769"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正方形/長方形 113">
                <a:extLst>
                  <a:ext uri="{FF2B5EF4-FFF2-40B4-BE49-F238E27FC236}">
                    <a16:creationId xmlns:a16="http://schemas.microsoft.com/office/drawing/2014/main" id="{EACA1C37-1778-D5B4-7C9F-DA0A78C2A69C}"/>
                  </a:ext>
                </a:extLst>
              </p:cNvPr>
              <p:cNvSpPr/>
              <p:nvPr/>
            </p:nvSpPr>
            <p:spPr>
              <a:xfrm>
                <a:off x="7012870"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17" name="直線矢印コネクタ 116">
              <a:extLst>
                <a:ext uri="{FF2B5EF4-FFF2-40B4-BE49-F238E27FC236}">
                  <a16:creationId xmlns:a16="http://schemas.microsoft.com/office/drawing/2014/main" id="{B202E69F-FB9D-788C-00D0-F6839B54BC6D}"/>
                </a:ext>
              </a:extLst>
            </p:cNvPr>
            <p:cNvCxnSpPr>
              <a:cxnSpLocks/>
            </p:cNvCxnSpPr>
            <p:nvPr/>
          </p:nvCxnSpPr>
          <p:spPr>
            <a:xfrm>
              <a:off x="7573627" y="3429000"/>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19" name="グラフィックス 118" descr="銀行の小切手 枠線">
              <a:extLst>
                <a:ext uri="{FF2B5EF4-FFF2-40B4-BE49-F238E27FC236}">
                  <a16:creationId xmlns:a16="http://schemas.microsoft.com/office/drawing/2014/main" id="{224A46D8-A4F0-7F52-BA33-8EF08FC62C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732294" y="3711641"/>
              <a:ext cx="567227" cy="567227"/>
            </a:xfrm>
            <a:prstGeom prst="rect">
              <a:avLst/>
            </a:prstGeom>
          </p:spPr>
        </p:pic>
      </p:grpSp>
      <p:cxnSp>
        <p:nvCxnSpPr>
          <p:cNvPr id="132" name="Connector 15">
            <a:extLst>
              <a:ext uri="{FF2B5EF4-FFF2-40B4-BE49-F238E27FC236}">
                <a16:creationId xmlns:a16="http://schemas.microsoft.com/office/drawing/2014/main" id="{A594DB16-6660-92B5-ED7D-E05B3A8D92DD}"/>
              </a:ext>
            </a:extLst>
          </p:cNvPr>
          <p:cNvCxnSpPr>
            <a:cxnSpLocks/>
            <a:endCxn id="133" idx="1"/>
          </p:cNvCxnSpPr>
          <p:nvPr/>
        </p:nvCxnSpPr>
        <p:spPr>
          <a:xfrm flipH="1">
            <a:off x="10001844" y="2902257"/>
            <a:ext cx="1351954"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grpSp>
        <p:nvGrpSpPr>
          <p:cNvPr id="153" name="グループ化 152">
            <a:extLst>
              <a:ext uri="{FF2B5EF4-FFF2-40B4-BE49-F238E27FC236}">
                <a16:creationId xmlns:a16="http://schemas.microsoft.com/office/drawing/2014/main" id="{7040D8CF-BF23-53B9-1DF2-D8ABE067F51B}"/>
              </a:ext>
            </a:extLst>
          </p:cNvPr>
          <p:cNvGrpSpPr/>
          <p:nvPr/>
        </p:nvGrpSpPr>
        <p:grpSpPr>
          <a:xfrm>
            <a:off x="10001844" y="1254285"/>
            <a:ext cx="1891727" cy="3295944"/>
            <a:chOff x="12192000" y="1254285"/>
            <a:chExt cx="1891727" cy="3295944"/>
          </a:xfrm>
        </p:grpSpPr>
        <p:sp>
          <p:nvSpPr>
            <p:cNvPr id="133" name="Rounded Rectangle 16">
              <a:extLst>
                <a:ext uri="{FF2B5EF4-FFF2-40B4-BE49-F238E27FC236}">
                  <a16:creationId xmlns:a16="http://schemas.microsoft.com/office/drawing/2014/main" id="{763703FC-4A01-69AF-D52E-7F9D35D0DE90}"/>
                </a:ext>
              </a:extLst>
            </p:cNvPr>
            <p:cNvSpPr/>
            <p:nvPr/>
          </p:nvSpPr>
          <p:spPr>
            <a:xfrm>
              <a:off x="12192000" y="1254285"/>
              <a:ext cx="1891727" cy="3295944"/>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t" anchorCtr="1"/>
            <a:lstStyle/>
            <a:p>
              <a:pPr algn="ctr"/>
              <a:r>
                <a:rPr lang="ja-JP" altLang="en-US" sz="1600" b="1" dirty="0">
                  <a:solidFill>
                    <a:schemeClr val="accent5">
                      <a:lumMod val="75000"/>
                    </a:schemeClr>
                  </a:solidFill>
                  <a:latin typeface="+mn-ea"/>
                </a:rPr>
                <a:t>⑤問題出題・フィードバック</a:t>
              </a:r>
              <a:endParaRPr lang="en-US" altLang="ja-JP" sz="1600" b="1" dirty="0">
                <a:solidFill>
                  <a:schemeClr val="accent5">
                    <a:lumMod val="75000"/>
                  </a:schemeClr>
                </a:solidFill>
                <a:latin typeface="+mn-ea"/>
              </a:endParaRPr>
            </a:p>
            <a:p>
              <a:pPr algn="ctr"/>
              <a:r>
                <a:rPr lang="ja-JP" altLang="en-US" sz="1200" dirty="0">
                  <a:solidFill>
                    <a:schemeClr val="tx1"/>
                  </a:solidFill>
                  <a:latin typeface="+mn-ea"/>
                </a:rPr>
                <a:t>回答を評価し</a:t>
              </a:r>
              <a:endParaRPr lang="en-US" altLang="ja-JP" sz="1200" dirty="0">
                <a:solidFill>
                  <a:schemeClr val="tx1"/>
                </a:solidFill>
                <a:latin typeface="+mn-ea"/>
              </a:endParaRPr>
            </a:p>
            <a:p>
              <a:pPr algn="ctr"/>
              <a:r>
                <a:rPr lang="ja-JP" altLang="en-US" sz="1200" dirty="0">
                  <a:solidFill>
                    <a:schemeClr val="tx1"/>
                  </a:solidFill>
                  <a:latin typeface="+mn-ea"/>
                </a:rPr>
                <a:t>フィードバック</a:t>
              </a:r>
              <a:endParaRPr lang="en-US" altLang="ja-JP" sz="1200" dirty="0">
                <a:solidFill>
                  <a:schemeClr val="tx1"/>
                </a:solidFill>
                <a:latin typeface="+mn-ea"/>
              </a:endParaRPr>
            </a:p>
          </p:txBody>
        </p:sp>
        <p:pic>
          <p:nvPicPr>
            <p:cNvPr id="146" name="グラフィックス 145" descr="棒グラフ 枠線">
              <a:extLst>
                <a:ext uri="{FF2B5EF4-FFF2-40B4-BE49-F238E27FC236}">
                  <a16:creationId xmlns:a16="http://schemas.microsoft.com/office/drawing/2014/main" id="{00753AF9-4971-E118-0DF3-C0D795EC7E7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2377399" y="2594151"/>
              <a:ext cx="652803" cy="652803"/>
            </a:xfrm>
            <a:prstGeom prst="rect">
              <a:avLst/>
            </a:prstGeom>
          </p:spPr>
        </p:pic>
        <p:pic>
          <p:nvPicPr>
            <p:cNvPr id="150" name="グラフィックス 149" descr="銀行の小切手 枠線">
              <a:extLst>
                <a:ext uri="{FF2B5EF4-FFF2-40B4-BE49-F238E27FC236}">
                  <a16:creationId xmlns:a16="http://schemas.microsoft.com/office/drawing/2014/main" id="{EC6EEE62-00A1-7122-B490-756BDA4D6C9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2420186" y="3364315"/>
              <a:ext cx="567227" cy="567227"/>
            </a:xfrm>
            <a:prstGeom prst="rect">
              <a:avLst/>
            </a:prstGeom>
          </p:spPr>
        </p:pic>
        <p:sp>
          <p:nvSpPr>
            <p:cNvPr id="152" name="テキスト ボックス 151">
              <a:extLst>
                <a:ext uri="{FF2B5EF4-FFF2-40B4-BE49-F238E27FC236}">
                  <a16:creationId xmlns:a16="http://schemas.microsoft.com/office/drawing/2014/main" id="{8DDDA9F9-CE66-02AE-5108-24C0239A5FE3}"/>
                </a:ext>
              </a:extLst>
            </p:cNvPr>
            <p:cNvSpPr txBox="1"/>
            <p:nvPr/>
          </p:nvSpPr>
          <p:spPr>
            <a:xfrm>
              <a:off x="12987413" y="2820072"/>
              <a:ext cx="973311" cy="954107"/>
            </a:xfrm>
            <a:prstGeom prst="rect">
              <a:avLst/>
            </a:prstGeom>
            <a:noFill/>
          </p:spPr>
          <p:txBody>
            <a:bodyPr wrap="square" rtlCol="0">
              <a:spAutoFit/>
            </a:bodyPr>
            <a:lstStyle/>
            <a:p>
              <a:r>
                <a:rPr lang="ja-JP" altLang="en-US" sz="1400" dirty="0"/>
                <a:t>回答評価</a:t>
              </a:r>
              <a:endParaRPr lang="en-US" altLang="ja-JP" sz="1400" dirty="0"/>
            </a:p>
            <a:p>
              <a:endParaRPr lang="en-US" altLang="ja-JP" sz="1400" dirty="0"/>
            </a:p>
            <a:p>
              <a:endParaRPr lang="en-US" altLang="ja-JP" sz="1400" dirty="0"/>
            </a:p>
            <a:p>
              <a:r>
                <a:rPr kumimoji="1" lang="ja-JP" altLang="en-US" sz="1400" dirty="0"/>
                <a:t>問題出題</a:t>
              </a:r>
              <a:endParaRPr kumimoji="1" lang="en-US" altLang="ja-JP" sz="1400" dirty="0"/>
            </a:p>
          </p:txBody>
        </p:sp>
      </p:grpSp>
      <p:sp>
        <p:nvSpPr>
          <p:cNvPr id="156" name="矢印: 右 155">
            <a:extLst>
              <a:ext uri="{FF2B5EF4-FFF2-40B4-BE49-F238E27FC236}">
                <a16:creationId xmlns:a16="http://schemas.microsoft.com/office/drawing/2014/main" id="{18AA280E-2B21-3E6B-2F95-BE797D4E0337}"/>
              </a:ext>
            </a:extLst>
          </p:cNvPr>
          <p:cNvSpPr/>
          <p:nvPr/>
        </p:nvSpPr>
        <p:spPr>
          <a:xfrm>
            <a:off x="2288927" y="2583103"/>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8" name="矢印: 右 157">
            <a:extLst>
              <a:ext uri="{FF2B5EF4-FFF2-40B4-BE49-F238E27FC236}">
                <a16:creationId xmlns:a16="http://schemas.microsoft.com/office/drawing/2014/main" id="{6F15F4AB-0844-0F98-3F3C-8ACCEBB1827F}"/>
              </a:ext>
            </a:extLst>
          </p:cNvPr>
          <p:cNvSpPr/>
          <p:nvPr/>
        </p:nvSpPr>
        <p:spPr>
          <a:xfrm>
            <a:off x="5280382" y="2538317"/>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矢印: 右 159">
            <a:extLst>
              <a:ext uri="{FF2B5EF4-FFF2-40B4-BE49-F238E27FC236}">
                <a16:creationId xmlns:a16="http://schemas.microsoft.com/office/drawing/2014/main" id="{E4DE9137-30FE-0E9A-D7A3-B1C172717FE7}"/>
              </a:ext>
            </a:extLst>
          </p:cNvPr>
          <p:cNvSpPr/>
          <p:nvPr/>
        </p:nvSpPr>
        <p:spPr>
          <a:xfrm>
            <a:off x="7731328" y="2554147"/>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2" name="矢印: 右 161">
            <a:extLst>
              <a:ext uri="{FF2B5EF4-FFF2-40B4-BE49-F238E27FC236}">
                <a16:creationId xmlns:a16="http://schemas.microsoft.com/office/drawing/2014/main" id="{25BBD666-F244-AC15-DC4F-8CED7307B5AB}"/>
              </a:ext>
            </a:extLst>
          </p:cNvPr>
          <p:cNvSpPr/>
          <p:nvPr/>
        </p:nvSpPr>
        <p:spPr>
          <a:xfrm>
            <a:off x="9719750" y="2606305"/>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45763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0EBA44-F03F-5698-C309-414913D52B26}"/>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C641F90-A549-B515-A16C-0B911A1FB86F}"/>
              </a:ext>
            </a:extLst>
          </p:cNvPr>
          <p:cNvSpPr>
            <a:spLocks noGrp="1"/>
          </p:cNvSpPr>
          <p:nvPr>
            <p:ph type="sldNum" sz="quarter" idx="12"/>
          </p:nvPr>
        </p:nvSpPr>
        <p:spPr/>
        <p:txBody>
          <a:bodyPr/>
          <a:lstStyle/>
          <a:p>
            <a:fld id="{9FB99072-780F-43D9-B22B-8FACFE63800E}" type="slidenum">
              <a:rPr kumimoji="1" lang="ja-JP" altLang="en-US" smtClean="0"/>
              <a:t>25</a:t>
            </a:fld>
            <a:endParaRPr kumimoji="1" lang="ja-JP" altLang="en-US"/>
          </a:p>
        </p:txBody>
      </p:sp>
      <p:sp>
        <p:nvSpPr>
          <p:cNvPr id="5" name="フローチャート: 代替処理 4">
            <a:extLst>
              <a:ext uri="{FF2B5EF4-FFF2-40B4-BE49-F238E27FC236}">
                <a16:creationId xmlns:a16="http://schemas.microsoft.com/office/drawing/2014/main" id="{880F0713-23DF-76BF-D811-91FB28C2F5F5}"/>
              </a:ext>
            </a:extLst>
          </p:cNvPr>
          <p:cNvSpPr/>
          <p:nvPr/>
        </p:nvSpPr>
        <p:spPr>
          <a:xfrm>
            <a:off x="174173" y="5463294"/>
            <a:ext cx="11789226"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49DD736C-CD73-4CCB-0047-F191E500E8DB}"/>
              </a:ext>
            </a:extLst>
          </p:cNvPr>
          <p:cNvSpPr/>
          <p:nvPr/>
        </p:nvSpPr>
        <p:spPr>
          <a:xfrm>
            <a:off x="2689906" y="3110208"/>
            <a:ext cx="2555431" cy="12035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descr="人工知能 枠線">
            <a:extLst>
              <a:ext uri="{FF2B5EF4-FFF2-40B4-BE49-F238E27FC236}">
                <a16:creationId xmlns:a16="http://schemas.microsoft.com/office/drawing/2014/main" id="{21A7E4FF-574E-D7E7-5A9F-4161DB1D18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81156" y="3182023"/>
            <a:ext cx="587607" cy="587607"/>
          </a:xfrm>
          <a:prstGeom prst="rect">
            <a:avLst/>
          </a:prstGeom>
        </p:spPr>
      </p:pic>
      <p:pic>
        <p:nvPicPr>
          <p:cNvPr id="8" name="グラフィックス 7" descr="ドキュメント 枠線">
            <a:extLst>
              <a:ext uri="{FF2B5EF4-FFF2-40B4-BE49-F238E27FC236}">
                <a16:creationId xmlns:a16="http://schemas.microsoft.com/office/drawing/2014/main" id="{6883D352-CD5D-61C4-5EAB-762DDB5D27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0151" y="3303866"/>
            <a:ext cx="429495" cy="429495"/>
          </a:xfrm>
          <a:prstGeom prst="rect">
            <a:avLst/>
          </a:prstGeom>
        </p:spPr>
      </p:pic>
      <p:pic>
        <p:nvPicPr>
          <p:cNvPr id="9" name="グラフィックス 8" descr="世界 枠線">
            <a:extLst>
              <a:ext uri="{FF2B5EF4-FFF2-40B4-BE49-F238E27FC236}">
                <a16:creationId xmlns:a16="http://schemas.microsoft.com/office/drawing/2014/main" id="{297974B4-B645-C715-6CE8-0EEE81989A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7289" y="3312444"/>
            <a:ext cx="429495" cy="429495"/>
          </a:xfrm>
          <a:prstGeom prst="rect">
            <a:avLst/>
          </a:prstGeom>
        </p:spPr>
      </p:pic>
      <p:pic>
        <p:nvPicPr>
          <p:cNvPr id="10" name="グラフィックス 9" descr="開いた本 枠線">
            <a:extLst>
              <a:ext uri="{FF2B5EF4-FFF2-40B4-BE49-F238E27FC236}">
                <a16:creationId xmlns:a16="http://schemas.microsoft.com/office/drawing/2014/main" id="{BD75508E-5F4A-CBF5-D030-D1F44F29AC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3720" y="3312444"/>
            <a:ext cx="429495" cy="429495"/>
          </a:xfrm>
          <a:prstGeom prst="rect">
            <a:avLst/>
          </a:prstGeom>
        </p:spPr>
      </p:pic>
      <p:sp>
        <p:nvSpPr>
          <p:cNvPr id="11" name="テキスト ボックス 10">
            <a:extLst>
              <a:ext uri="{FF2B5EF4-FFF2-40B4-BE49-F238E27FC236}">
                <a16:creationId xmlns:a16="http://schemas.microsoft.com/office/drawing/2014/main" id="{04765E1C-8437-802E-72A4-72B23932D47B}"/>
              </a:ext>
            </a:extLst>
          </p:cNvPr>
          <p:cNvSpPr txBox="1"/>
          <p:nvPr/>
        </p:nvSpPr>
        <p:spPr>
          <a:xfrm>
            <a:off x="2597416" y="3778440"/>
            <a:ext cx="1462906" cy="523220"/>
          </a:xfrm>
          <a:prstGeom prst="rect">
            <a:avLst/>
          </a:prstGeom>
          <a:noFill/>
        </p:spPr>
        <p:txBody>
          <a:bodyPr wrap="square" rtlCol="0">
            <a:spAutoFit/>
          </a:bodyPr>
          <a:lstStyle/>
          <a:p>
            <a:r>
              <a:rPr kumimoji="1" lang="ja-JP" altLang="en-US" sz="1400" dirty="0"/>
              <a:t>複数ソースから</a:t>
            </a:r>
            <a:endParaRPr kumimoji="1" lang="en-US" altLang="ja-JP" sz="1400" dirty="0"/>
          </a:p>
          <a:p>
            <a:pPr algn="ctr"/>
            <a:r>
              <a:rPr lang="ja-JP" altLang="en-US" sz="1400" dirty="0"/>
              <a:t>情報取得</a:t>
            </a:r>
            <a:endParaRPr kumimoji="1" lang="ja-JP" altLang="en-US" sz="1400" dirty="0"/>
          </a:p>
        </p:txBody>
      </p:sp>
      <p:cxnSp>
        <p:nvCxnSpPr>
          <p:cNvPr id="12" name="直線矢印コネクタ 11">
            <a:extLst>
              <a:ext uri="{FF2B5EF4-FFF2-40B4-BE49-F238E27FC236}">
                <a16:creationId xmlns:a16="http://schemas.microsoft.com/office/drawing/2014/main" id="{2F76DDEA-FB7B-F24B-B45D-B778001FA826}"/>
              </a:ext>
            </a:extLst>
          </p:cNvPr>
          <p:cNvCxnSpPr>
            <a:cxnSpLocks/>
          </p:cNvCxnSpPr>
          <p:nvPr/>
        </p:nvCxnSpPr>
        <p:spPr>
          <a:xfrm>
            <a:off x="3951463" y="3509377"/>
            <a:ext cx="4296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AA5C6101-269D-96C1-987D-F633ECD4FDAD}"/>
              </a:ext>
            </a:extLst>
          </p:cNvPr>
          <p:cNvCxnSpPr>
            <a:cxnSpLocks/>
            <a:endCxn id="14" idx="0"/>
          </p:cNvCxnSpPr>
          <p:nvPr/>
        </p:nvCxnSpPr>
        <p:spPr>
          <a:xfrm>
            <a:off x="4152728" y="4313710"/>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 name="グラフィックス 13" descr="データベース 枠線">
            <a:extLst>
              <a:ext uri="{FF2B5EF4-FFF2-40B4-BE49-F238E27FC236}">
                <a16:creationId xmlns:a16="http://schemas.microsoft.com/office/drawing/2014/main" id="{6E8A910F-BBA6-A8FA-A655-9C1EA9F7B9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0929" y="4532639"/>
            <a:ext cx="543598" cy="543597"/>
          </a:xfrm>
          <a:prstGeom prst="rect">
            <a:avLst/>
          </a:prstGeom>
        </p:spPr>
      </p:pic>
      <p:sp>
        <p:nvSpPr>
          <p:cNvPr id="15" name="テキスト ボックス 14">
            <a:extLst>
              <a:ext uri="{FF2B5EF4-FFF2-40B4-BE49-F238E27FC236}">
                <a16:creationId xmlns:a16="http://schemas.microsoft.com/office/drawing/2014/main" id="{77E64261-96B2-BD7F-98AD-A9B7808C52C9}"/>
              </a:ext>
            </a:extLst>
          </p:cNvPr>
          <p:cNvSpPr txBox="1"/>
          <p:nvPr/>
        </p:nvSpPr>
        <p:spPr>
          <a:xfrm>
            <a:off x="3808291" y="5119376"/>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16" name="テキスト ボックス 15">
            <a:extLst>
              <a:ext uri="{FF2B5EF4-FFF2-40B4-BE49-F238E27FC236}">
                <a16:creationId xmlns:a16="http://schemas.microsoft.com/office/drawing/2014/main" id="{72EE79DD-20D6-1727-3077-A546635102A8}"/>
              </a:ext>
            </a:extLst>
          </p:cNvPr>
          <p:cNvSpPr txBox="1"/>
          <p:nvPr/>
        </p:nvSpPr>
        <p:spPr>
          <a:xfrm>
            <a:off x="4016125" y="3735300"/>
            <a:ext cx="1375401" cy="523220"/>
          </a:xfrm>
          <a:prstGeom prst="rect">
            <a:avLst/>
          </a:prstGeom>
          <a:noFill/>
        </p:spPr>
        <p:txBody>
          <a:bodyPr wrap="square" rtlCol="0">
            <a:spAutoFit/>
          </a:bodyPr>
          <a:lstStyle/>
          <a:p>
            <a:pPr algn="ctr"/>
            <a:r>
              <a:rPr kumimoji="1" lang="en-US" altLang="ja-JP" sz="1400" dirty="0"/>
              <a:t>LLM</a:t>
            </a:r>
            <a:r>
              <a:rPr kumimoji="1" lang="ja-JP" altLang="en-US" sz="1400" dirty="0"/>
              <a:t>で</a:t>
            </a:r>
            <a:endParaRPr kumimoji="1" lang="en-US" altLang="ja-JP" sz="1400" dirty="0"/>
          </a:p>
          <a:p>
            <a:pPr algn="ctr"/>
            <a:r>
              <a:rPr lang="ja-JP" altLang="en-US" sz="1400" dirty="0"/>
              <a:t>要約・構造化</a:t>
            </a:r>
            <a:endParaRPr kumimoji="1" lang="en-US" altLang="ja-JP" sz="1400" dirty="0"/>
          </a:p>
        </p:txBody>
      </p:sp>
      <p:pic>
        <p:nvPicPr>
          <p:cNvPr id="17" name="グラフィックス 16" descr="ベン図 枠線">
            <a:extLst>
              <a:ext uri="{FF2B5EF4-FFF2-40B4-BE49-F238E27FC236}">
                <a16:creationId xmlns:a16="http://schemas.microsoft.com/office/drawing/2014/main" id="{4CC65AC4-992B-76FB-BCF8-189C7466DB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97087" y="4585858"/>
            <a:ext cx="587608" cy="587608"/>
          </a:xfrm>
          <a:prstGeom prst="rect">
            <a:avLst/>
          </a:prstGeom>
        </p:spPr>
      </p:pic>
      <p:pic>
        <p:nvPicPr>
          <p:cNvPr id="18" name="グラフィックス 17" descr="チェックマークを付けたチェック ボックス 枠線">
            <a:extLst>
              <a:ext uri="{FF2B5EF4-FFF2-40B4-BE49-F238E27FC236}">
                <a16:creationId xmlns:a16="http://schemas.microsoft.com/office/drawing/2014/main" id="{619197EE-3A89-85A9-D2CB-477A1A02D9A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38013" y="3243612"/>
            <a:ext cx="587608" cy="587608"/>
          </a:xfrm>
          <a:prstGeom prst="rect">
            <a:avLst/>
          </a:prstGeom>
        </p:spPr>
      </p:pic>
      <p:pic>
        <p:nvPicPr>
          <p:cNvPr id="19" name="グラフィックス 18" descr="人工知能 枠線">
            <a:extLst>
              <a:ext uri="{FF2B5EF4-FFF2-40B4-BE49-F238E27FC236}">
                <a16:creationId xmlns:a16="http://schemas.microsoft.com/office/drawing/2014/main" id="{D79D5D9B-BEA1-1DA1-0B73-7D2BA8AFC7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97087" y="3916091"/>
            <a:ext cx="587607" cy="587607"/>
          </a:xfrm>
          <a:prstGeom prst="rect">
            <a:avLst/>
          </a:prstGeom>
        </p:spPr>
      </p:pic>
      <p:sp>
        <p:nvSpPr>
          <p:cNvPr id="20" name="テキスト ボックス 19">
            <a:extLst>
              <a:ext uri="{FF2B5EF4-FFF2-40B4-BE49-F238E27FC236}">
                <a16:creationId xmlns:a16="http://schemas.microsoft.com/office/drawing/2014/main" id="{B55FBCB0-8588-254D-9F9B-B07403BC428D}"/>
              </a:ext>
            </a:extLst>
          </p:cNvPr>
          <p:cNvSpPr txBox="1"/>
          <p:nvPr/>
        </p:nvSpPr>
        <p:spPr>
          <a:xfrm>
            <a:off x="8584694" y="3300598"/>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pic>
        <p:nvPicPr>
          <p:cNvPr id="21" name="グラフィックス 20" descr="データベース 枠線">
            <a:extLst>
              <a:ext uri="{FF2B5EF4-FFF2-40B4-BE49-F238E27FC236}">
                <a16:creationId xmlns:a16="http://schemas.microsoft.com/office/drawing/2014/main" id="{47548D79-D8E4-C63D-33DB-23980D0BB20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27265" y="3330588"/>
            <a:ext cx="571625" cy="571624"/>
          </a:xfrm>
          <a:prstGeom prst="rect">
            <a:avLst/>
          </a:prstGeom>
        </p:spPr>
      </p:pic>
      <p:sp>
        <p:nvSpPr>
          <p:cNvPr id="22" name="テキスト ボックス 21">
            <a:extLst>
              <a:ext uri="{FF2B5EF4-FFF2-40B4-BE49-F238E27FC236}">
                <a16:creationId xmlns:a16="http://schemas.microsoft.com/office/drawing/2014/main" id="{05BA4543-8D43-DB94-EA86-9DD6B3BE6755}"/>
              </a:ext>
            </a:extLst>
          </p:cNvPr>
          <p:cNvSpPr txBox="1"/>
          <p:nvPr/>
        </p:nvSpPr>
        <p:spPr>
          <a:xfrm>
            <a:off x="6484517" y="3527173"/>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r>
              <a:rPr kumimoji="1" lang="en-US" altLang="ja-JP" sz="1400" dirty="0"/>
              <a:t>4</a:t>
            </a:r>
            <a:r>
              <a:rPr kumimoji="1" lang="ja-JP" altLang="en-US" sz="1400" dirty="0"/>
              <a:t>パターンの</a:t>
            </a:r>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grpSp>
        <p:nvGrpSpPr>
          <p:cNvPr id="23" name="グループ化 22">
            <a:extLst>
              <a:ext uri="{FF2B5EF4-FFF2-40B4-BE49-F238E27FC236}">
                <a16:creationId xmlns:a16="http://schemas.microsoft.com/office/drawing/2014/main" id="{546F4E63-E091-A406-62FA-F79EC02C3EFC}"/>
              </a:ext>
            </a:extLst>
          </p:cNvPr>
          <p:cNvGrpSpPr/>
          <p:nvPr/>
        </p:nvGrpSpPr>
        <p:grpSpPr>
          <a:xfrm>
            <a:off x="5868558" y="4050588"/>
            <a:ext cx="360261" cy="367763"/>
            <a:chOff x="6793769" y="2929363"/>
            <a:chExt cx="360261" cy="367763"/>
          </a:xfrm>
        </p:grpSpPr>
        <p:sp>
          <p:nvSpPr>
            <p:cNvPr id="24" name="正方形/長方形 23">
              <a:extLst>
                <a:ext uri="{FF2B5EF4-FFF2-40B4-BE49-F238E27FC236}">
                  <a16:creationId xmlns:a16="http://schemas.microsoft.com/office/drawing/2014/main" id="{A34A62AB-BF1A-0C08-6A76-C2420BA39F2F}"/>
                </a:ext>
              </a:extLst>
            </p:cNvPr>
            <p:cNvSpPr/>
            <p:nvPr/>
          </p:nvSpPr>
          <p:spPr>
            <a:xfrm>
              <a:off x="6793769"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E4892403-35C3-77B2-4CFA-48FFC32A18EF}"/>
                </a:ext>
              </a:extLst>
            </p:cNvPr>
            <p:cNvSpPr/>
            <p:nvPr/>
          </p:nvSpPr>
          <p:spPr>
            <a:xfrm>
              <a:off x="7016105" y="2929363"/>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381DC270-D508-4358-F97E-9F23FA1ACA4B}"/>
                </a:ext>
              </a:extLst>
            </p:cNvPr>
            <p:cNvSpPr/>
            <p:nvPr/>
          </p:nvSpPr>
          <p:spPr>
            <a:xfrm>
              <a:off x="6793769"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78F1D684-4B40-6B45-DF72-5962A4282A8D}"/>
                </a:ext>
              </a:extLst>
            </p:cNvPr>
            <p:cNvSpPr/>
            <p:nvPr/>
          </p:nvSpPr>
          <p:spPr>
            <a:xfrm>
              <a:off x="7012870" y="3156787"/>
              <a:ext cx="137925" cy="140339"/>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28" name="直線矢印コネクタ 27">
            <a:extLst>
              <a:ext uri="{FF2B5EF4-FFF2-40B4-BE49-F238E27FC236}">
                <a16:creationId xmlns:a16="http://schemas.microsoft.com/office/drawing/2014/main" id="{22F6BD77-BF73-9343-8C3D-C090AC6FCD03}"/>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9" name="グラフィックス 28" descr="銀行の小切手 枠線">
            <a:extLst>
              <a:ext uri="{FF2B5EF4-FFF2-40B4-BE49-F238E27FC236}">
                <a16:creationId xmlns:a16="http://schemas.microsoft.com/office/drawing/2014/main" id="{C2D65DE9-E479-A74A-7B28-45DDE785BF7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07083" y="4832866"/>
            <a:ext cx="567227" cy="567227"/>
          </a:xfrm>
          <a:prstGeom prst="rect">
            <a:avLst/>
          </a:prstGeom>
        </p:spPr>
      </p:pic>
      <p:pic>
        <p:nvPicPr>
          <p:cNvPr id="30" name="グラフィックス 29" descr="棒グラフ 枠線">
            <a:extLst>
              <a:ext uri="{FF2B5EF4-FFF2-40B4-BE49-F238E27FC236}">
                <a16:creationId xmlns:a16="http://schemas.microsoft.com/office/drawing/2014/main" id="{EE436FF3-94F9-F9CC-6940-E69A8A5DD03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87243" y="3311115"/>
            <a:ext cx="652803" cy="652803"/>
          </a:xfrm>
          <a:prstGeom prst="rect">
            <a:avLst/>
          </a:prstGeom>
        </p:spPr>
      </p:pic>
      <p:pic>
        <p:nvPicPr>
          <p:cNvPr id="31" name="グラフィックス 30" descr="銀行の小切手 枠線">
            <a:extLst>
              <a:ext uri="{FF2B5EF4-FFF2-40B4-BE49-F238E27FC236}">
                <a16:creationId xmlns:a16="http://schemas.microsoft.com/office/drawing/2014/main" id="{C50D8839-B627-5971-424A-F217AF980FE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0030" y="4081279"/>
            <a:ext cx="567227" cy="567227"/>
          </a:xfrm>
          <a:prstGeom prst="rect">
            <a:avLst/>
          </a:prstGeom>
        </p:spPr>
      </p:pic>
      <p:sp>
        <p:nvSpPr>
          <p:cNvPr id="32" name="テキスト ボックス 31">
            <a:extLst>
              <a:ext uri="{FF2B5EF4-FFF2-40B4-BE49-F238E27FC236}">
                <a16:creationId xmlns:a16="http://schemas.microsoft.com/office/drawing/2014/main" id="{4A7990EE-8173-3F61-835B-64603F54DA06}"/>
              </a:ext>
            </a:extLst>
          </p:cNvPr>
          <p:cNvSpPr txBox="1"/>
          <p:nvPr/>
        </p:nvSpPr>
        <p:spPr>
          <a:xfrm>
            <a:off x="10797257" y="3537036"/>
            <a:ext cx="973311" cy="954107"/>
          </a:xfrm>
          <a:prstGeom prst="rect">
            <a:avLst/>
          </a:prstGeom>
          <a:noFill/>
        </p:spPr>
        <p:txBody>
          <a:bodyPr wrap="square" rtlCol="0">
            <a:spAutoFit/>
          </a:bodyPr>
          <a:lstStyle/>
          <a:p>
            <a:r>
              <a:rPr lang="ja-JP" altLang="en-US" sz="1400" dirty="0"/>
              <a:t>回答評価</a:t>
            </a:r>
            <a:endParaRPr lang="en-US" altLang="ja-JP" sz="1400" dirty="0"/>
          </a:p>
          <a:p>
            <a:endParaRPr lang="en-US" altLang="ja-JP" sz="1400" dirty="0"/>
          </a:p>
          <a:p>
            <a:endParaRPr lang="en-US" altLang="ja-JP" sz="1400" dirty="0"/>
          </a:p>
          <a:p>
            <a:r>
              <a:rPr kumimoji="1" lang="ja-JP" altLang="en-US" sz="1400" dirty="0"/>
              <a:t>問題出題</a:t>
            </a:r>
            <a:endParaRPr kumimoji="1" lang="en-US" altLang="ja-JP" sz="1400" dirty="0"/>
          </a:p>
        </p:txBody>
      </p:sp>
      <p:sp>
        <p:nvSpPr>
          <p:cNvPr id="33" name="矢印: 右 32">
            <a:extLst>
              <a:ext uri="{FF2B5EF4-FFF2-40B4-BE49-F238E27FC236}">
                <a16:creationId xmlns:a16="http://schemas.microsoft.com/office/drawing/2014/main" id="{A3E08698-9068-E4D4-B486-53DECFDEF290}"/>
              </a:ext>
            </a:extLst>
          </p:cNvPr>
          <p:cNvSpPr/>
          <p:nvPr/>
        </p:nvSpPr>
        <p:spPr>
          <a:xfrm>
            <a:off x="2288927" y="3704328"/>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右 33">
            <a:extLst>
              <a:ext uri="{FF2B5EF4-FFF2-40B4-BE49-F238E27FC236}">
                <a16:creationId xmlns:a16="http://schemas.microsoft.com/office/drawing/2014/main" id="{599843B5-64BB-B8F2-93BC-0509D6199E0F}"/>
              </a:ext>
            </a:extLst>
          </p:cNvPr>
          <p:cNvSpPr/>
          <p:nvPr/>
        </p:nvSpPr>
        <p:spPr>
          <a:xfrm>
            <a:off x="5280382" y="3659542"/>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矢印: 右 34">
            <a:extLst>
              <a:ext uri="{FF2B5EF4-FFF2-40B4-BE49-F238E27FC236}">
                <a16:creationId xmlns:a16="http://schemas.microsoft.com/office/drawing/2014/main" id="{A7FEAA7D-E7CC-FE9A-110C-3B3B5D439AF3}"/>
              </a:ext>
            </a:extLst>
          </p:cNvPr>
          <p:cNvSpPr/>
          <p:nvPr/>
        </p:nvSpPr>
        <p:spPr>
          <a:xfrm>
            <a:off x="7731328" y="3675372"/>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F1245838-F3EF-8D05-A0F5-20190478E077}"/>
              </a:ext>
            </a:extLst>
          </p:cNvPr>
          <p:cNvSpPr/>
          <p:nvPr/>
        </p:nvSpPr>
        <p:spPr>
          <a:xfrm>
            <a:off x="9719750" y="3727530"/>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0EFFBBD5-B4EC-31B2-530F-1C7AA627F097}"/>
              </a:ext>
            </a:extLst>
          </p:cNvPr>
          <p:cNvSpPr txBox="1"/>
          <p:nvPr/>
        </p:nvSpPr>
        <p:spPr>
          <a:xfrm>
            <a:off x="352252" y="5663245"/>
            <a:ext cx="1739982"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dirty="0">
                <a:latin typeface="Yu Gothic"/>
              </a:rPr>
              <a:t>新出単語</a:t>
            </a:r>
            <a:r>
              <a:rPr lang="ja-JP" altLang="en-US" sz="1400" dirty="0">
                <a:solidFill>
                  <a:schemeClr val="tx1"/>
                </a:solidFill>
                <a:latin typeface="Yu Gothic"/>
              </a:rPr>
              <a:t>を投入</a:t>
            </a:r>
          </a:p>
        </p:txBody>
      </p:sp>
      <p:sp>
        <p:nvSpPr>
          <p:cNvPr id="38" name="テキスト ボックス 37">
            <a:extLst>
              <a:ext uri="{FF2B5EF4-FFF2-40B4-BE49-F238E27FC236}">
                <a16:creationId xmlns:a16="http://schemas.microsoft.com/office/drawing/2014/main" id="{BE0B618C-1DDD-D471-1B2D-FE3B73694241}"/>
              </a:ext>
            </a:extLst>
          </p:cNvPr>
          <p:cNvSpPr txBox="1"/>
          <p:nvPr/>
        </p:nvSpPr>
        <p:spPr>
          <a:xfrm>
            <a:off x="2650386" y="5663245"/>
            <a:ext cx="2584269"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latin typeface="Yu Gothic"/>
              </a:rPr>
              <a:t>情報を収集し、</a:t>
            </a:r>
            <a:endParaRPr lang="en-US" altLang="ja-JP" sz="1400" dirty="0">
              <a:latin typeface="Yu Gothic"/>
            </a:endParaRPr>
          </a:p>
          <a:p>
            <a:pPr algn="ctr"/>
            <a:r>
              <a:rPr lang="ja-JP" altLang="en-US" sz="1400" dirty="0">
                <a:latin typeface="Yu Gothic"/>
              </a:rPr>
              <a:t>知識を構造化し</a:t>
            </a:r>
            <a:r>
              <a:rPr lang="en-US" altLang="ja-JP" sz="1400" dirty="0">
                <a:latin typeface="Yu Gothic"/>
              </a:rPr>
              <a:t>DB</a:t>
            </a:r>
            <a:r>
              <a:rPr lang="ja-JP" altLang="en-US" sz="1400" dirty="0">
                <a:latin typeface="Yu Gothic"/>
              </a:rPr>
              <a:t>に保存</a:t>
            </a:r>
            <a:endParaRPr lang="ja-JP" altLang="en-US" sz="1200" dirty="0">
              <a:solidFill>
                <a:schemeClr val="tx1"/>
              </a:solidFill>
              <a:latin typeface="Yu Gothic"/>
            </a:endParaRPr>
          </a:p>
        </p:txBody>
      </p:sp>
      <p:sp>
        <p:nvSpPr>
          <p:cNvPr id="39" name="テキスト ボックス 38">
            <a:extLst>
              <a:ext uri="{FF2B5EF4-FFF2-40B4-BE49-F238E27FC236}">
                <a16:creationId xmlns:a16="http://schemas.microsoft.com/office/drawing/2014/main" id="{C6E2CC16-D59C-6041-EDE0-78B331AE1E70}"/>
              </a:ext>
            </a:extLst>
          </p:cNvPr>
          <p:cNvSpPr txBox="1"/>
          <p:nvPr/>
        </p:nvSpPr>
        <p:spPr>
          <a:xfrm>
            <a:off x="5886215" y="5663245"/>
            <a:ext cx="1616182" cy="769441"/>
          </a:xfrm>
          <a:prstGeom prst="rect">
            <a:avLst/>
          </a:prstGeom>
          <a:noFill/>
        </p:spPr>
        <p:txBody>
          <a:bodyPr wrap="square">
            <a:spAutoFit/>
          </a:bodyPr>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p>
          <a:p>
            <a:pPr algn="ctr"/>
            <a:r>
              <a:rPr lang="ja-JP" altLang="en-US" sz="1400" dirty="0">
                <a:solidFill>
                  <a:schemeClr val="tx1"/>
                </a:solidFill>
                <a:latin typeface="+mn-ea"/>
              </a:rPr>
              <a:t>選択肢・問題作成</a:t>
            </a:r>
          </a:p>
        </p:txBody>
      </p:sp>
      <p:sp>
        <p:nvSpPr>
          <p:cNvPr id="40" name="テキスト ボックス 39">
            <a:extLst>
              <a:ext uri="{FF2B5EF4-FFF2-40B4-BE49-F238E27FC236}">
                <a16:creationId xmlns:a16="http://schemas.microsoft.com/office/drawing/2014/main" id="{B7EDEDFD-A904-9D7E-C7B8-6F94EFF2966E}"/>
              </a:ext>
            </a:extLst>
          </p:cNvPr>
          <p:cNvSpPr txBox="1"/>
          <p:nvPr/>
        </p:nvSpPr>
        <p:spPr>
          <a:xfrm>
            <a:off x="7835685" y="5694022"/>
            <a:ext cx="2198410" cy="707886"/>
          </a:xfrm>
          <a:prstGeom prst="rect">
            <a:avLst/>
          </a:prstGeom>
          <a:noFill/>
        </p:spPr>
        <p:txBody>
          <a:bodyPr wrap="square">
            <a:spAutoFit/>
          </a:bodyPr>
          <a:lstStyle/>
          <a:p>
            <a:pPr algn="ctr"/>
            <a:r>
              <a:rPr lang="ja-JP" altLang="en-US" sz="1600" b="1" dirty="0">
                <a:solidFill>
                  <a:schemeClr val="accent5">
                    <a:lumMod val="75000"/>
                  </a:schemeClr>
                </a:solidFill>
                <a:latin typeface="+mn-ea"/>
              </a:rPr>
              <a:t>④問題評価</a:t>
            </a:r>
          </a:p>
          <a:p>
            <a:pPr algn="ctr"/>
            <a:r>
              <a:rPr lang="en-US" altLang="ja-JP" sz="1200" dirty="0">
                <a:solidFill>
                  <a:schemeClr val="tx1"/>
                </a:solidFill>
                <a:latin typeface="+mn-ea"/>
              </a:rPr>
              <a:t>Python</a:t>
            </a:r>
            <a:r>
              <a:rPr lang="ja-JP" altLang="en-US" sz="1200" dirty="0">
                <a:solidFill>
                  <a:schemeClr val="tx1"/>
                </a:solidFill>
                <a:latin typeface="+mn-ea"/>
              </a:rPr>
              <a:t>・</a:t>
            </a:r>
            <a:r>
              <a:rPr lang="en-US" altLang="ja-JP" sz="1200" dirty="0">
                <a:solidFill>
                  <a:schemeClr val="tx1"/>
                </a:solidFill>
                <a:latin typeface="+mn-ea"/>
              </a:rPr>
              <a:t>LLM</a:t>
            </a:r>
            <a:r>
              <a:rPr lang="ja-JP" altLang="en-US" sz="1200" dirty="0">
                <a:solidFill>
                  <a:schemeClr val="tx1"/>
                </a:solidFill>
                <a:latin typeface="+mn-ea"/>
              </a:rPr>
              <a:t>・</a:t>
            </a:r>
            <a:r>
              <a:rPr lang="en-US" altLang="ja-JP" sz="1200" dirty="0">
                <a:solidFill>
                  <a:schemeClr val="tx1"/>
                </a:solidFill>
                <a:latin typeface="+mn-ea"/>
              </a:rPr>
              <a:t>Embedding</a:t>
            </a:r>
            <a:r>
              <a:rPr lang="ja-JP" altLang="en-US" sz="1200" dirty="0">
                <a:solidFill>
                  <a:schemeClr val="tx1"/>
                </a:solidFill>
                <a:latin typeface="+mn-ea"/>
              </a:rPr>
              <a:t>で評価</a:t>
            </a:r>
          </a:p>
        </p:txBody>
      </p:sp>
      <p:sp>
        <p:nvSpPr>
          <p:cNvPr id="41" name="テキスト ボックス 40">
            <a:extLst>
              <a:ext uri="{FF2B5EF4-FFF2-40B4-BE49-F238E27FC236}">
                <a16:creationId xmlns:a16="http://schemas.microsoft.com/office/drawing/2014/main" id="{69BBC9F8-0810-8745-75DD-4FB127237207}"/>
              </a:ext>
            </a:extLst>
          </p:cNvPr>
          <p:cNvSpPr txBox="1"/>
          <p:nvPr/>
        </p:nvSpPr>
        <p:spPr>
          <a:xfrm>
            <a:off x="10077716" y="5570912"/>
            <a:ext cx="1739982" cy="954107"/>
          </a:xfrm>
          <a:prstGeom prst="rect">
            <a:avLst/>
          </a:prstGeom>
          <a:noFill/>
        </p:spPr>
        <p:txBody>
          <a:bodyPr wrap="square">
            <a:spAutoFit/>
          </a:bodyPr>
          <a:lstStyle/>
          <a:p>
            <a:pPr algn="ctr"/>
            <a:r>
              <a:rPr lang="ja-JP" altLang="en-US" sz="1600" b="1" dirty="0">
                <a:solidFill>
                  <a:schemeClr val="accent5">
                    <a:lumMod val="75000"/>
                  </a:schemeClr>
                </a:solidFill>
                <a:latin typeface="+mn-ea"/>
              </a:rPr>
              <a:t>⑤問題出題・フィードバック</a:t>
            </a:r>
            <a:endParaRPr lang="en-US" altLang="ja-JP" sz="1600" b="1" dirty="0">
              <a:solidFill>
                <a:schemeClr val="accent5">
                  <a:lumMod val="75000"/>
                </a:schemeClr>
              </a:solidFill>
              <a:latin typeface="+mn-ea"/>
            </a:endParaRPr>
          </a:p>
          <a:p>
            <a:pPr algn="ctr"/>
            <a:r>
              <a:rPr lang="ja-JP" altLang="en-US" sz="1200" dirty="0">
                <a:solidFill>
                  <a:schemeClr val="tx1"/>
                </a:solidFill>
                <a:latin typeface="+mn-ea"/>
              </a:rPr>
              <a:t>回答を評価し</a:t>
            </a:r>
            <a:endParaRPr lang="en-US" altLang="ja-JP" sz="1200" dirty="0">
              <a:solidFill>
                <a:schemeClr val="tx1"/>
              </a:solidFill>
              <a:latin typeface="+mn-ea"/>
            </a:endParaRPr>
          </a:p>
          <a:p>
            <a:pPr algn="ctr"/>
            <a:r>
              <a:rPr lang="ja-JP" altLang="en-US" sz="1200" dirty="0">
                <a:solidFill>
                  <a:schemeClr val="tx1"/>
                </a:solidFill>
                <a:latin typeface="+mn-ea"/>
              </a:rPr>
              <a:t>フィードバック</a:t>
            </a:r>
            <a:endParaRPr lang="ja-JP" altLang="en-US" dirty="0"/>
          </a:p>
        </p:txBody>
      </p:sp>
      <p:pic>
        <p:nvPicPr>
          <p:cNvPr id="42" name="グラフィックス 41" descr="ドキュメント 枠線">
            <a:extLst>
              <a:ext uri="{FF2B5EF4-FFF2-40B4-BE49-F238E27FC236}">
                <a16:creationId xmlns:a16="http://schemas.microsoft.com/office/drawing/2014/main" id="{F4973878-98E8-2593-066C-A59D1F42E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29" y="4500620"/>
            <a:ext cx="571716" cy="571716"/>
          </a:xfrm>
          <a:prstGeom prst="rect">
            <a:avLst/>
          </a:prstGeom>
        </p:spPr>
      </p:pic>
      <p:sp>
        <p:nvSpPr>
          <p:cNvPr id="43" name="テキスト ボックス 42">
            <a:extLst>
              <a:ext uri="{FF2B5EF4-FFF2-40B4-BE49-F238E27FC236}">
                <a16:creationId xmlns:a16="http://schemas.microsoft.com/office/drawing/2014/main" id="{E9F00850-708D-974B-C604-92C40DCD2A08}"/>
              </a:ext>
            </a:extLst>
          </p:cNvPr>
          <p:cNvSpPr txBox="1"/>
          <p:nvPr/>
        </p:nvSpPr>
        <p:spPr>
          <a:xfrm>
            <a:off x="843978" y="4249546"/>
            <a:ext cx="1454413" cy="738664"/>
          </a:xfrm>
          <a:prstGeom prst="rect">
            <a:avLst/>
          </a:prstGeom>
          <a:noFill/>
        </p:spPr>
        <p:txBody>
          <a:bodyPr wrap="square" rtlCol="0">
            <a:spAutoFit/>
          </a:bodyPr>
          <a:lstStyle/>
          <a:p>
            <a:r>
              <a:rPr kumimoji="1" lang="ja-JP" altLang="en-US" sz="1400" dirty="0"/>
              <a:t>管理者</a:t>
            </a:r>
            <a:endParaRPr lang="en-US" altLang="ja-JP" sz="1400" dirty="0"/>
          </a:p>
          <a:p>
            <a:endParaRPr lang="en-US" altLang="ja-JP" sz="1400" dirty="0"/>
          </a:p>
          <a:p>
            <a:r>
              <a:rPr lang="ja-JP" altLang="en-US" sz="1400" dirty="0"/>
              <a:t>新出</a:t>
            </a:r>
            <a:r>
              <a:rPr kumimoji="1" lang="ja-JP" altLang="en-US" sz="1400" dirty="0"/>
              <a:t>単語</a:t>
            </a:r>
            <a:endParaRPr kumimoji="1" lang="en-US" altLang="ja-JP" sz="1400" dirty="0"/>
          </a:p>
        </p:txBody>
      </p:sp>
      <p:pic>
        <p:nvPicPr>
          <p:cNvPr id="44" name="グラフィックス 43" descr="オフィス ワーカー (男性) 枠線">
            <a:extLst>
              <a:ext uri="{FF2B5EF4-FFF2-40B4-BE49-F238E27FC236}">
                <a16:creationId xmlns:a16="http://schemas.microsoft.com/office/drawing/2014/main" id="{552F833A-D515-88D2-81F2-6C26C352DE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6385" y="3720501"/>
            <a:ext cx="571716" cy="571716"/>
          </a:xfrm>
          <a:prstGeom prst="rect">
            <a:avLst/>
          </a:prstGeom>
        </p:spPr>
      </p:pic>
      <p:sp>
        <p:nvSpPr>
          <p:cNvPr id="45" name="テキスト ボックス 44">
            <a:extLst>
              <a:ext uri="{FF2B5EF4-FFF2-40B4-BE49-F238E27FC236}">
                <a16:creationId xmlns:a16="http://schemas.microsoft.com/office/drawing/2014/main" id="{C7F0AFBF-E49F-B8E3-E9D2-94880F7922DB}"/>
              </a:ext>
            </a:extLst>
          </p:cNvPr>
          <p:cNvSpPr txBox="1"/>
          <p:nvPr/>
        </p:nvSpPr>
        <p:spPr>
          <a:xfrm>
            <a:off x="10605542" y="5242302"/>
            <a:ext cx="636292" cy="307777"/>
          </a:xfrm>
          <a:prstGeom prst="rect">
            <a:avLst/>
          </a:prstGeom>
          <a:noFill/>
        </p:spPr>
        <p:txBody>
          <a:bodyPr wrap="square" rtlCol="0">
            <a:spAutoFit/>
          </a:bodyPr>
          <a:lstStyle/>
          <a:p>
            <a:r>
              <a:rPr kumimoji="1" lang="ja-JP" altLang="en-US" sz="1400" dirty="0"/>
              <a:t>生徒</a:t>
            </a:r>
            <a:endParaRPr kumimoji="1" lang="en-US" altLang="ja-JP" sz="1400" dirty="0"/>
          </a:p>
        </p:txBody>
      </p:sp>
      <p:pic>
        <p:nvPicPr>
          <p:cNvPr id="46" name="グラフィックス 45" descr="男子生徒 枠線">
            <a:extLst>
              <a:ext uri="{FF2B5EF4-FFF2-40B4-BE49-F238E27FC236}">
                <a16:creationId xmlns:a16="http://schemas.microsoft.com/office/drawing/2014/main" id="{939E2010-312A-FDB7-F4AD-E932BF34BC8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539127" y="4667637"/>
            <a:ext cx="649516" cy="649516"/>
          </a:xfrm>
          <a:prstGeom prst="rect">
            <a:avLst/>
          </a:prstGeom>
        </p:spPr>
      </p:pic>
      <p:cxnSp>
        <p:nvCxnSpPr>
          <p:cNvPr id="47" name="直線矢印コネクタ 46">
            <a:extLst>
              <a:ext uri="{FF2B5EF4-FFF2-40B4-BE49-F238E27FC236}">
                <a16:creationId xmlns:a16="http://schemas.microsoft.com/office/drawing/2014/main" id="{378FD4DF-C568-623E-6D46-B08888AC146C}"/>
              </a:ext>
            </a:extLst>
          </p:cNvPr>
          <p:cNvCxnSpPr>
            <a:cxnSpLocks/>
          </p:cNvCxnSpPr>
          <p:nvPr/>
        </p:nvCxnSpPr>
        <p:spPr>
          <a:xfrm>
            <a:off x="10853063" y="4500498"/>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26" name="図 225">
            <a:extLst>
              <a:ext uri="{FF2B5EF4-FFF2-40B4-BE49-F238E27FC236}">
                <a16:creationId xmlns:a16="http://schemas.microsoft.com/office/drawing/2014/main" id="{593B8957-8A60-C993-E211-76D3828AE2C4}"/>
              </a:ext>
            </a:extLst>
          </p:cNvPr>
          <p:cNvPicPr>
            <a:picLocks noChangeAspect="1"/>
          </p:cNvPicPr>
          <p:nvPr/>
        </p:nvPicPr>
        <p:blipFill>
          <a:blip r:embed="rId13"/>
          <a:stretch>
            <a:fillRect/>
          </a:stretch>
        </p:blipFill>
        <p:spPr>
          <a:xfrm>
            <a:off x="2092234" y="1529160"/>
            <a:ext cx="4774492" cy="1405425"/>
          </a:xfrm>
          <a:prstGeom prst="rect">
            <a:avLst/>
          </a:prstGeom>
        </p:spPr>
      </p:pic>
    </p:spTree>
    <p:extLst>
      <p:ext uri="{BB962C8B-B14F-4D97-AF65-F5344CB8AC3E}">
        <p14:creationId xmlns:p14="http://schemas.microsoft.com/office/powerpoint/2010/main" val="2496333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8C0B2A-031F-BD5F-3C60-828AC7F5E7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E07D614-FA3D-5008-679D-14272ED61A09}"/>
              </a:ext>
            </a:extLst>
          </p:cNvPr>
          <p:cNvSpPr>
            <a:spLocks noGrp="1"/>
          </p:cNvSpPr>
          <p:nvPr>
            <p:ph type="title"/>
          </p:nvPr>
        </p:nvSpPr>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8DFEF40F-6FEA-4D61-669A-5543ED0D6F95}"/>
              </a:ext>
            </a:extLst>
          </p:cNvPr>
          <p:cNvSpPr>
            <a:spLocks noGrp="1"/>
          </p:cNvSpPr>
          <p:nvPr>
            <p:ph type="sldNum" sz="quarter" idx="12"/>
          </p:nvPr>
        </p:nvSpPr>
        <p:spPr/>
        <p:txBody>
          <a:bodyPr/>
          <a:lstStyle/>
          <a:p>
            <a:fld id="{9FB99072-780F-43D9-B22B-8FACFE63800E}" type="slidenum">
              <a:rPr kumimoji="1" lang="ja-JP" altLang="en-US" smtClean="0"/>
              <a:t>26</a:t>
            </a:fld>
            <a:endParaRPr kumimoji="1" lang="ja-JP" altLang="en-US"/>
          </a:p>
        </p:txBody>
      </p:sp>
      <p:sp>
        <p:nvSpPr>
          <p:cNvPr id="5" name="フローチャート: 代替処理 4">
            <a:extLst>
              <a:ext uri="{FF2B5EF4-FFF2-40B4-BE49-F238E27FC236}">
                <a16:creationId xmlns:a16="http://schemas.microsoft.com/office/drawing/2014/main" id="{CD9FC14F-C799-EBB7-5BCF-95AD9C402229}"/>
              </a:ext>
            </a:extLst>
          </p:cNvPr>
          <p:cNvSpPr/>
          <p:nvPr/>
        </p:nvSpPr>
        <p:spPr>
          <a:xfrm>
            <a:off x="174173" y="5463294"/>
            <a:ext cx="11789226" cy="1108006"/>
          </a:xfrm>
          <a:prstGeom prst="flowChartAlternateProcess">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四角形: 角を丸くする 5">
            <a:extLst>
              <a:ext uri="{FF2B5EF4-FFF2-40B4-BE49-F238E27FC236}">
                <a16:creationId xmlns:a16="http://schemas.microsoft.com/office/drawing/2014/main" id="{C41906D3-BDD1-79F0-F829-F8CB7A8D1C20}"/>
              </a:ext>
            </a:extLst>
          </p:cNvPr>
          <p:cNvSpPr/>
          <p:nvPr/>
        </p:nvSpPr>
        <p:spPr>
          <a:xfrm>
            <a:off x="2689906" y="3110208"/>
            <a:ext cx="2555431" cy="12035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グラフィックス 6" descr="人工知能 枠線">
            <a:extLst>
              <a:ext uri="{FF2B5EF4-FFF2-40B4-BE49-F238E27FC236}">
                <a16:creationId xmlns:a16="http://schemas.microsoft.com/office/drawing/2014/main" id="{E9C7F458-0ECD-0E4E-6C33-603594AE53C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81156" y="3182023"/>
            <a:ext cx="587607" cy="587607"/>
          </a:xfrm>
          <a:prstGeom prst="rect">
            <a:avLst/>
          </a:prstGeom>
        </p:spPr>
      </p:pic>
      <p:pic>
        <p:nvPicPr>
          <p:cNvPr id="8" name="グラフィックス 7" descr="ドキュメント 枠線">
            <a:extLst>
              <a:ext uri="{FF2B5EF4-FFF2-40B4-BE49-F238E27FC236}">
                <a16:creationId xmlns:a16="http://schemas.microsoft.com/office/drawing/2014/main" id="{A770612E-A2E4-0ACF-3130-36959025E3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40151" y="3303866"/>
            <a:ext cx="429495" cy="429495"/>
          </a:xfrm>
          <a:prstGeom prst="rect">
            <a:avLst/>
          </a:prstGeom>
        </p:spPr>
      </p:pic>
      <p:pic>
        <p:nvPicPr>
          <p:cNvPr id="9" name="グラフィックス 8" descr="世界 枠線">
            <a:extLst>
              <a:ext uri="{FF2B5EF4-FFF2-40B4-BE49-F238E27FC236}">
                <a16:creationId xmlns:a16="http://schemas.microsoft.com/office/drawing/2014/main" id="{6DA0582B-6A5E-F3C5-AF39-DA180F6F49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27289" y="3312444"/>
            <a:ext cx="429495" cy="429495"/>
          </a:xfrm>
          <a:prstGeom prst="rect">
            <a:avLst/>
          </a:prstGeom>
        </p:spPr>
      </p:pic>
      <p:pic>
        <p:nvPicPr>
          <p:cNvPr id="10" name="グラフィックス 9" descr="開いた本 枠線">
            <a:extLst>
              <a:ext uri="{FF2B5EF4-FFF2-40B4-BE49-F238E27FC236}">
                <a16:creationId xmlns:a16="http://schemas.microsoft.com/office/drawing/2014/main" id="{4219734A-0DAE-3723-5818-B6D1DD1B44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3720" y="3312444"/>
            <a:ext cx="429495" cy="429495"/>
          </a:xfrm>
          <a:prstGeom prst="rect">
            <a:avLst/>
          </a:prstGeom>
        </p:spPr>
      </p:pic>
      <p:sp>
        <p:nvSpPr>
          <p:cNvPr id="11" name="テキスト ボックス 10">
            <a:extLst>
              <a:ext uri="{FF2B5EF4-FFF2-40B4-BE49-F238E27FC236}">
                <a16:creationId xmlns:a16="http://schemas.microsoft.com/office/drawing/2014/main" id="{969250A6-1404-C9C4-87ED-9C753EAD7FF1}"/>
              </a:ext>
            </a:extLst>
          </p:cNvPr>
          <p:cNvSpPr txBox="1"/>
          <p:nvPr/>
        </p:nvSpPr>
        <p:spPr>
          <a:xfrm>
            <a:off x="2597416" y="3778440"/>
            <a:ext cx="1462906" cy="523220"/>
          </a:xfrm>
          <a:prstGeom prst="rect">
            <a:avLst/>
          </a:prstGeom>
          <a:noFill/>
        </p:spPr>
        <p:txBody>
          <a:bodyPr wrap="square" rtlCol="0">
            <a:spAutoFit/>
          </a:bodyPr>
          <a:lstStyle/>
          <a:p>
            <a:r>
              <a:rPr kumimoji="1" lang="ja-JP" altLang="en-US" sz="1400" dirty="0"/>
              <a:t>複数ソースから</a:t>
            </a:r>
            <a:endParaRPr kumimoji="1" lang="en-US" altLang="ja-JP" sz="1400" dirty="0"/>
          </a:p>
          <a:p>
            <a:pPr algn="ctr"/>
            <a:r>
              <a:rPr lang="ja-JP" altLang="en-US" sz="1400" dirty="0"/>
              <a:t>情報取得</a:t>
            </a:r>
            <a:endParaRPr kumimoji="1" lang="ja-JP" altLang="en-US" sz="1400" dirty="0"/>
          </a:p>
        </p:txBody>
      </p:sp>
      <p:cxnSp>
        <p:nvCxnSpPr>
          <p:cNvPr id="12" name="直線矢印コネクタ 11">
            <a:extLst>
              <a:ext uri="{FF2B5EF4-FFF2-40B4-BE49-F238E27FC236}">
                <a16:creationId xmlns:a16="http://schemas.microsoft.com/office/drawing/2014/main" id="{60291E85-902E-FA81-8684-8673C0759AEC}"/>
              </a:ext>
            </a:extLst>
          </p:cNvPr>
          <p:cNvCxnSpPr>
            <a:cxnSpLocks/>
          </p:cNvCxnSpPr>
          <p:nvPr/>
        </p:nvCxnSpPr>
        <p:spPr>
          <a:xfrm>
            <a:off x="3951463" y="3509377"/>
            <a:ext cx="4296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A99DB524-FE43-7570-1EEC-067A71B1DDF7}"/>
              </a:ext>
            </a:extLst>
          </p:cNvPr>
          <p:cNvCxnSpPr>
            <a:cxnSpLocks/>
            <a:endCxn id="14" idx="0"/>
          </p:cNvCxnSpPr>
          <p:nvPr/>
        </p:nvCxnSpPr>
        <p:spPr>
          <a:xfrm>
            <a:off x="4152728" y="4313710"/>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4" name="グラフィックス 13" descr="データベース 枠線">
            <a:extLst>
              <a:ext uri="{FF2B5EF4-FFF2-40B4-BE49-F238E27FC236}">
                <a16:creationId xmlns:a16="http://schemas.microsoft.com/office/drawing/2014/main" id="{C6C0B137-3656-5AB6-B1B9-707DB50D53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80929" y="4532639"/>
            <a:ext cx="543598" cy="543597"/>
          </a:xfrm>
          <a:prstGeom prst="rect">
            <a:avLst/>
          </a:prstGeom>
        </p:spPr>
      </p:pic>
      <p:sp>
        <p:nvSpPr>
          <p:cNvPr id="15" name="テキスト ボックス 14">
            <a:extLst>
              <a:ext uri="{FF2B5EF4-FFF2-40B4-BE49-F238E27FC236}">
                <a16:creationId xmlns:a16="http://schemas.microsoft.com/office/drawing/2014/main" id="{44C630A5-58C9-F056-CB41-DEB040D434ED}"/>
              </a:ext>
            </a:extLst>
          </p:cNvPr>
          <p:cNvSpPr txBox="1"/>
          <p:nvPr/>
        </p:nvSpPr>
        <p:spPr>
          <a:xfrm>
            <a:off x="3808291" y="5119376"/>
            <a:ext cx="774820" cy="307777"/>
          </a:xfrm>
          <a:prstGeom prst="rect">
            <a:avLst/>
          </a:prstGeom>
          <a:noFill/>
        </p:spPr>
        <p:txBody>
          <a:bodyPr wrap="square" rtlCol="0">
            <a:spAutoFit/>
          </a:bodyPr>
          <a:lstStyle/>
          <a:p>
            <a:r>
              <a:rPr kumimoji="1" lang="ja-JP" altLang="en-US" sz="1400" dirty="0"/>
              <a:t>知識</a:t>
            </a:r>
            <a:r>
              <a:rPr kumimoji="1" lang="en-US" altLang="ja-JP" sz="1400" dirty="0"/>
              <a:t>DB</a:t>
            </a:r>
            <a:endParaRPr kumimoji="1" lang="ja-JP" altLang="en-US" sz="1400" dirty="0"/>
          </a:p>
        </p:txBody>
      </p:sp>
      <p:sp>
        <p:nvSpPr>
          <p:cNvPr id="16" name="テキスト ボックス 15">
            <a:extLst>
              <a:ext uri="{FF2B5EF4-FFF2-40B4-BE49-F238E27FC236}">
                <a16:creationId xmlns:a16="http://schemas.microsoft.com/office/drawing/2014/main" id="{E38E839A-D7F9-3598-A042-BC3238C4E405}"/>
              </a:ext>
            </a:extLst>
          </p:cNvPr>
          <p:cNvSpPr txBox="1"/>
          <p:nvPr/>
        </p:nvSpPr>
        <p:spPr>
          <a:xfrm>
            <a:off x="4016125" y="3735300"/>
            <a:ext cx="1375401" cy="523220"/>
          </a:xfrm>
          <a:prstGeom prst="rect">
            <a:avLst/>
          </a:prstGeom>
          <a:noFill/>
        </p:spPr>
        <p:txBody>
          <a:bodyPr wrap="square" rtlCol="0">
            <a:spAutoFit/>
          </a:bodyPr>
          <a:lstStyle/>
          <a:p>
            <a:pPr algn="ctr"/>
            <a:r>
              <a:rPr kumimoji="1" lang="en-US" altLang="ja-JP" sz="1400" dirty="0"/>
              <a:t>LLM</a:t>
            </a:r>
            <a:r>
              <a:rPr kumimoji="1" lang="ja-JP" altLang="en-US" sz="1400" dirty="0"/>
              <a:t>で</a:t>
            </a:r>
            <a:endParaRPr kumimoji="1" lang="en-US" altLang="ja-JP" sz="1400" dirty="0"/>
          </a:p>
          <a:p>
            <a:pPr algn="ctr"/>
            <a:r>
              <a:rPr lang="ja-JP" altLang="en-US" sz="1400" dirty="0"/>
              <a:t>要約・構造化</a:t>
            </a:r>
            <a:endParaRPr kumimoji="1" lang="en-US" altLang="ja-JP" sz="1400" dirty="0"/>
          </a:p>
        </p:txBody>
      </p:sp>
      <p:pic>
        <p:nvPicPr>
          <p:cNvPr id="17" name="グラフィックス 16" descr="ベン図 枠線">
            <a:extLst>
              <a:ext uri="{FF2B5EF4-FFF2-40B4-BE49-F238E27FC236}">
                <a16:creationId xmlns:a16="http://schemas.microsoft.com/office/drawing/2014/main" id="{7832651D-AE8B-D81C-1A2D-A9A0C70225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97087" y="4585858"/>
            <a:ext cx="587608" cy="587608"/>
          </a:xfrm>
          <a:prstGeom prst="rect">
            <a:avLst/>
          </a:prstGeom>
        </p:spPr>
      </p:pic>
      <p:pic>
        <p:nvPicPr>
          <p:cNvPr id="18" name="グラフィックス 17" descr="チェックマークを付けたチェック ボックス 枠線">
            <a:extLst>
              <a:ext uri="{FF2B5EF4-FFF2-40B4-BE49-F238E27FC236}">
                <a16:creationId xmlns:a16="http://schemas.microsoft.com/office/drawing/2014/main" id="{7D2B3957-DAFA-90BD-EADB-640D4985FC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38013" y="3243612"/>
            <a:ext cx="587608" cy="587608"/>
          </a:xfrm>
          <a:prstGeom prst="rect">
            <a:avLst/>
          </a:prstGeom>
        </p:spPr>
      </p:pic>
      <p:pic>
        <p:nvPicPr>
          <p:cNvPr id="19" name="グラフィックス 18" descr="人工知能 枠線">
            <a:extLst>
              <a:ext uri="{FF2B5EF4-FFF2-40B4-BE49-F238E27FC236}">
                <a16:creationId xmlns:a16="http://schemas.microsoft.com/office/drawing/2014/main" id="{EE5A3393-B508-881A-E432-6A25A45109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97087" y="3916091"/>
            <a:ext cx="587607" cy="587607"/>
          </a:xfrm>
          <a:prstGeom prst="rect">
            <a:avLst/>
          </a:prstGeom>
        </p:spPr>
      </p:pic>
      <p:sp>
        <p:nvSpPr>
          <p:cNvPr id="20" name="テキスト ボックス 19">
            <a:extLst>
              <a:ext uri="{FF2B5EF4-FFF2-40B4-BE49-F238E27FC236}">
                <a16:creationId xmlns:a16="http://schemas.microsoft.com/office/drawing/2014/main" id="{74A35949-3BFB-B3E2-DA17-4E8BEC284D0B}"/>
              </a:ext>
            </a:extLst>
          </p:cNvPr>
          <p:cNvSpPr txBox="1"/>
          <p:nvPr/>
        </p:nvSpPr>
        <p:spPr>
          <a:xfrm>
            <a:off x="8584694" y="3300598"/>
            <a:ext cx="1118721" cy="1815882"/>
          </a:xfrm>
          <a:prstGeom prst="rect">
            <a:avLst/>
          </a:prstGeom>
          <a:noFill/>
        </p:spPr>
        <p:txBody>
          <a:bodyPr wrap="square" rtlCol="0">
            <a:spAutoFit/>
          </a:bodyPr>
          <a:lstStyle/>
          <a:p>
            <a:r>
              <a:rPr kumimoji="1" lang="en-US" altLang="ja-JP" sz="1600" dirty="0"/>
              <a:t>Python</a:t>
            </a:r>
          </a:p>
          <a:p>
            <a:endParaRPr lang="en-US" altLang="ja-JP" sz="1600" dirty="0"/>
          </a:p>
          <a:p>
            <a:endParaRPr lang="en-US" altLang="ja-JP" sz="1600" dirty="0"/>
          </a:p>
          <a:p>
            <a:r>
              <a:rPr kumimoji="1" lang="en-US" altLang="ja-JP" sz="1600" dirty="0"/>
              <a:t>LLM</a:t>
            </a:r>
          </a:p>
          <a:p>
            <a:endParaRPr lang="en-US" altLang="ja-JP" sz="1600" dirty="0"/>
          </a:p>
          <a:p>
            <a:endParaRPr lang="en-US" altLang="ja-JP" sz="1600" dirty="0"/>
          </a:p>
          <a:p>
            <a:r>
              <a:rPr kumimoji="1" lang="en-US" altLang="ja-JP" sz="1600" dirty="0"/>
              <a:t>Embedding</a:t>
            </a:r>
          </a:p>
        </p:txBody>
      </p:sp>
      <p:pic>
        <p:nvPicPr>
          <p:cNvPr id="21" name="グラフィックス 20" descr="データベース 枠線">
            <a:extLst>
              <a:ext uri="{FF2B5EF4-FFF2-40B4-BE49-F238E27FC236}">
                <a16:creationId xmlns:a16="http://schemas.microsoft.com/office/drawing/2014/main" id="{1B2A3928-68E9-3343-DF78-731E67EDC3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27265" y="3330588"/>
            <a:ext cx="571625" cy="571624"/>
          </a:xfrm>
          <a:prstGeom prst="rect">
            <a:avLst/>
          </a:prstGeom>
        </p:spPr>
      </p:pic>
      <p:sp>
        <p:nvSpPr>
          <p:cNvPr id="22" name="テキスト ボックス 21">
            <a:extLst>
              <a:ext uri="{FF2B5EF4-FFF2-40B4-BE49-F238E27FC236}">
                <a16:creationId xmlns:a16="http://schemas.microsoft.com/office/drawing/2014/main" id="{1232AD26-DD63-DC5A-F6C2-EEB2A63D85A2}"/>
              </a:ext>
            </a:extLst>
          </p:cNvPr>
          <p:cNvSpPr txBox="1"/>
          <p:nvPr/>
        </p:nvSpPr>
        <p:spPr>
          <a:xfrm>
            <a:off x="6484517" y="3527173"/>
            <a:ext cx="1214141" cy="2031325"/>
          </a:xfrm>
          <a:prstGeom prst="rect">
            <a:avLst/>
          </a:prstGeom>
          <a:noFill/>
        </p:spPr>
        <p:txBody>
          <a:bodyPr wrap="square" rtlCol="0">
            <a:spAutoFit/>
          </a:bodyPr>
          <a:lstStyle/>
          <a:p>
            <a:r>
              <a:rPr kumimoji="1" lang="ja-JP" altLang="en-US" sz="1400" dirty="0"/>
              <a:t>知識</a:t>
            </a:r>
            <a:r>
              <a:rPr kumimoji="1" lang="en-US" altLang="ja-JP" sz="1400" dirty="0"/>
              <a:t>DB</a:t>
            </a:r>
          </a:p>
          <a:p>
            <a:endParaRPr lang="en-US" altLang="ja-JP" sz="1400" dirty="0"/>
          </a:p>
          <a:p>
            <a:endParaRPr lang="en-US" altLang="ja-JP" sz="1400" dirty="0"/>
          </a:p>
          <a:p>
            <a:r>
              <a:rPr kumimoji="1" lang="en-US" altLang="ja-JP" sz="1400" dirty="0"/>
              <a:t>LLM</a:t>
            </a:r>
            <a:r>
              <a:rPr kumimoji="1" lang="ja-JP" altLang="en-US" sz="1400" dirty="0"/>
              <a:t>に投入</a:t>
            </a:r>
            <a:endParaRPr kumimoji="1" lang="en-US" altLang="ja-JP" sz="1400" dirty="0"/>
          </a:p>
          <a:p>
            <a:endParaRPr lang="en-US" altLang="ja-JP" sz="1400" dirty="0"/>
          </a:p>
          <a:p>
            <a:endParaRPr kumimoji="1" lang="en-US" altLang="ja-JP" sz="1400" dirty="0"/>
          </a:p>
          <a:p>
            <a:endParaRPr lang="en-US" altLang="ja-JP" sz="1400" dirty="0"/>
          </a:p>
          <a:p>
            <a:r>
              <a:rPr kumimoji="1" lang="ja-JP" altLang="en-US" sz="1400" dirty="0"/>
              <a:t>問題生成</a:t>
            </a:r>
            <a:endParaRPr kumimoji="1" lang="en-US" altLang="ja-JP" sz="1400" dirty="0"/>
          </a:p>
          <a:p>
            <a:endParaRPr lang="en-US" altLang="ja-JP" sz="1400" dirty="0"/>
          </a:p>
        </p:txBody>
      </p:sp>
      <p:cxnSp>
        <p:nvCxnSpPr>
          <p:cNvPr id="28" name="直線矢印コネクタ 27">
            <a:extLst>
              <a:ext uri="{FF2B5EF4-FFF2-40B4-BE49-F238E27FC236}">
                <a16:creationId xmlns:a16="http://schemas.microsoft.com/office/drawing/2014/main" id="{FFC66049-6833-951A-EBFF-0D84868A1BF9}"/>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29" name="グラフィックス 28" descr="銀行の小切手 枠線">
            <a:extLst>
              <a:ext uri="{FF2B5EF4-FFF2-40B4-BE49-F238E27FC236}">
                <a16:creationId xmlns:a16="http://schemas.microsoft.com/office/drawing/2014/main" id="{C9F024CF-75A0-E3F8-133F-30A36BC8EE4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07083" y="4832866"/>
            <a:ext cx="567227" cy="567227"/>
          </a:xfrm>
          <a:prstGeom prst="rect">
            <a:avLst/>
          </a:prstGeom>
        </p:spPr>
      </p:pic>
      <p:pic>
        <p:nvPicPr>
          <p:cNvPr id="30" name="グラフィックス 29" descr="棒グラフ 枠線">
            <a:extLst>
              <a:ext uri="{FF2B5EF4-FFF2-40B4-BE49-F238E27FC236}">
                <a16:creationId xmlns:a16="http://schemas.microsoft.com/office/drawing/2014/main" id="{2F267694-D8C1-8D17-039E-2DFD5EE2D3C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187243" y="3311115"/>
            <a:ext cx="652803" cy="652803"/>
          </a:xfrm>
          <a:prstGeom prst="rect">
            <a:avLst/>
          </a:prstGeom>
        </p:spPr>
      </p:pic>
      <p:pic>
        <p:nvPicPr>
          <p:cNvPr id="31" name="グラフィックス 30" descr="銀行の小切手 枠線">
            <a:extLst>
              <a:ext uri="{FF2B5EF4-FFF2-40B4-BE49-F238E27FC236}">
                <a16:creationId xmlns:a16="http://schemas.microsoft.com/office/drawing/2014/main" id="{7237A3E4-B236-C4E4-5278-83BB7754029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230030" y="4081279"/>
            <a:ext cx="567227" cy="567227"/>
          </a:xfrm>
          <a:prstGeom prst="rect">
            <a:avLst/>
          </a:prstGeom>
        </p:spPr>
      </p:pic>
      <p:sp>
        <p:nvSpPr>
          <p:cNvPr id="32" name="テキスト ボックス 31">
            <a:extLst>
              <a:ext uri="{FF2B5EF4-FFF2-40B4-BE49-F238E27FC236}">
                <a16:creationId xmlns:a16="http://schemas.microsoft.com/office/drawing/2014/main" id="{6496189A-5FE6-DAB7-375D-F6A889EE78B2}"/>
              </a:ext>
            </a:extLst>
          </p:cNvPr>
          <p:cNvSpPr txBox="1"/>
          <p:nvPr/>
        </p:nvSpPr>
        <p:spPr>
          <a:xfrm>
            <a:off x="10797257" y="3537036"/>
            <a:ext cx="973311" cy="954107"/>
          </a:xfrm>
          <a:prstGeom prst="rect">
            <a:avLst/>
          </a:prstGeom>
          <a:noFill/>
        </p:spPr>
        <p:txBody>
          <a:bodyPr wrap="square" rtlCol="0">
            <a:spAutoFit/>
          </a:bodyPr>
          <a:lstStyle/>
          <a:p>
            <a:r>
              <a:rPr lang="ja-JP" altLang="en-US" sz="1400" dirty="0"/>
              <a:t>回答評価</a:t>
            </a:r>
            <a:endParaRPr lang="en-US" altLang="ja-JP" sz="1400" dirty="0"/>
          </a:p>
          <a:p>
            <a:endParaRPr lang="en-US" altLang="ja-JP" sz="1400" dirty="0"/>
          </a:p>
          <a:p>
            <a:endParaRPr lang="en-US" altLang="ja-JP" sz="1400" dirty="0"/>
          </a:p>
          <a:p>
            <a:r>
              <a:rPr kumimoji="1" lang="ja-JP" altLang="en-US" sz="1400" dirty="0"/>
              <a:t>問題出題</a:t>
            </a:r>
            <a:endParaRPr kumimoji="1" lang="en-US" altLang="ja-JP" sz="1400" dirty="0"/>
          </a:p>
        </p:txBody>
      </p:sp>
      <p:sp>
        <p:nvSpPr>
          <p:cNvPr id="33" name="矢印: 右 32">
            <a:extLst>
              <a:ext uri="{FF2B5EF4-FFF2-40B4-BE49-F238E27FC236}">
                <a16:creationId xmlns:a16="http://schemas.microsoft.com/office/drawing/2014/main" id="{2CA46A2D-A98A-FF18-5D05-26E0E7F93161}"/>
              </a:ext>
            </a:extLst>
          </p:cNvPr>
          <p:cNvSpPr/>
          <p:nvPr/>
        </p:nvSpPr>
        <p:spPr>
          <a:xfrm>
            <a:off x="2288927" y="3704328"/>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矢印: 右 33">
            <a:extLst>
              <a:ext uri="{FF2B5EF4-FFF2-40B4-BE49-F238E27FC236}">
                <a16:creationId xmlns:a16="http://schemas.microsoft.com/office/drawing/2014/main" id="{BFF5661D-F8F0-263D-58C9-A55A377D3CFD}"/>
              </a:ext>
            </a:extLst>
          </p:cNvPr>
          <p:cNvSpPr/>
          <p:nvPr/>
        </p:nvSpPr>
        <p:spPr>
          <a:xfrm>
            <a:off x="5280382" y="3659542"/>
            <a:ext cx="390918" cy="63682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矢印: 右 34">
            <a:extLst>
              <a:ext uri="{FF2B5EF4-FFF2-40B4-BE49-F238E27FC236}">
                <a16:creationId xmlns:a16="http://schemas.microsoft.com/office/drawing/2014/main" id="{44783ADA-F015-264C-4C75-0A76C3033B9A}"/>
              </a:ext>
            </a:extLst>
          </p:cNvPr>
          <p:cNvSpPr/>
          <p:nvPr/>
        </p:nvSpPr>
        <p:spPr>
          <a:xfrm>
            <a:off x="7731328" y="3675372"/>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矢印: 右 35">
            <a:extLst>
              <a:ext uri="{FF2B5EF4-FFF2-40B4-BE49-F238E27FC236}">
                <a16:creationId xmlns:a16="http://schemas.microsoft.com/office/drawing/2014/main" id="{D34A60BD-0DA4-7CFD-AA23-BDF431D63CE6}"/>
              </a:ext>
            </a:extLst>
          </p:cNvPr>
          <p:cNvSpPr/>
          <p:nvPr/>
        </p:nvSpPr>
        <p:spPr>
          <a:xfrm>
            <a:off x="9719750" y="3727530"/>
            <a:ext cx="265758" cy="628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478A5A2C-BEA3-0F30-658F-754C3A4F9166}"/>
              </a:ext>
            </a:extLst>
          </p:cNvPr>
          <p:cNvSpPr txBox="1"/>
          <p:nvPr/>
        </p:nvSpPr>
        <p:spPr>
          <a:xfrm>
            <a:off x="352252" y="5663245"/>
            <a:ext cx="1739982"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①データの入力</a:t>
            </a:r>
          </a:p>
          <a:p>
            <a:pPr algn="ctr"/>
            <a:r>
              <a:rPr lang="ja-JP" altLang="en-US" sz="1400" dirty="0">
                <a:solidFill>
                  <a:schemeClr val="tx1"/>
                </a:solidFill>
                <a:latin typeface="Yu Gothic"/>
              </a:rPr>
              <a:t>組織の管理者が</a:t>
            </a:r>
            <a:endParaRPr lang="en-US" altLang="ja-JP" sz="1400" dirty="0">
              <a:solidFill>
                <a:schemeClr val="tx1"/>
              </a:solidFill>
              <a:latin typeface="Yu Gothic"/>
            </a:endParaRPr>
          </a:p>
          <a:p>
            <a:pPr algn="ctr"/>
            <a:r>
              <a:rPr lang="ja-JP" altLang="en-US" sz="1400" dirty="0">
                <a:latin typeface="Yu Gothic"/>
              </a:rPr>
              <a:t>新出単語</a:t>
            </a:r>
            <a:r>
              <a:rPr lang="ja-JP" altLang="en-US" sz="1400" dirty="0">
                <a:solidFill>
                  <a:schemeClr val="tx1"/>
                </a:solidFill>
                <a:latin typeface="Yu Gothic"/>
              </a:rPr>
              <a:t>を投入</a:t>
            </a:r>
          </a:p>
        </p:txBody>
      </p:sp>
      <p:sp>
        <p:nvSpPr>
          <p:cNvPr id="38" name="テキスト ボックス 37">
            <a:extLst>
              <a:ext uri="{FF2B5EF4-FFF2-40B4-BE49-F238E27FC236}">
                <a16:creationId xmlns:a16="http://schemas.microsoft.com/office/drawing/2014/main" id="{2100D404-8560-B84B-5132-538E5AFCCB18}"/>
              </a:ext>
            </a:extLst>
          </p:cNvPr>
          <p:cNvSpPr txBox="1"/>
          <p:nvPr/>
        </p:nvSpPr>
        <p:spPr>
          <a:xfrm>
            <a:off x="2650386" y="5663245"/>
            <a:ext cx="2584269" cy="769441"/>
          </a:xfrm>
          <a:prstGeom prst="rect">
            <a:avLst/>
          </a:prstGeom>
          <a:noFill/>
        </p:spPr>
        <p:txBody>
          <a:bodyPr wrap="square">
            <a:spAutoFit/>
          </a:bodyPr>
          <a:lstStyle/>
          <a:p>
            <a:pPr algn="ctr"/>
            <a:r>
              <a:rPr lang="ja-JP" altLang="en-US" sz="1600" b="1" dirty="0">
                <a:solidFill>
                  <a:schemeClr val="accent5">
                    <a:lumMod val="75000"/>
                  </a:schemeClr>
                </a:solidFill>
                <a:latin typeface="Yu Gothic"/>
              </a:rPr>
              <a:t>②知識の収集・整理</a:t>
            </a:r>
            <a:endParaRPr lang="en-US" altLang="ja-JP" sz="1600" b="1" dirty="0">
              <a:solidFill>
                <a:schemeClr val="accent5">
                  <a:lumMod val="75000"/>
                </a:schemeClr>
              </a:solidFill>
              <a:latin typeface="Yu Gothic"/>
            </a:endParaRPr>
          </a:p>
          <a:p>
            <a:pPr algn="ctr"/>
            <a:r>
              <a:rPr lang="ja-JP" altLang="en-US" sz="1400" dirty="0">
                <a:latin typeface="Yu Gothic"/>
              </a:rPr>
              <a:t>情報を収集し、</a:t>
            </a:r>
            <a:endParaRPr lang="en-US" altLang="ja-JP" sz="1400" dirty="0">
              <a:latin typeface="Yu Gothic"/>
            </a:endParaRPr>
          </a:p>
          <a:p>
            <a:pPr algn="ctr"/>
            <a:r>
              <a:rPr lang="ja-JP" altLang="en-US" sz="1400" dirty="0">
                <a:latin typeface="Yu Gothic"/>
              </a:rPr>
              <a:t>知識を構造化し</a:t>
            </a:r>
            <a:r>
              <a:rPr lang="en-US" altLang="ja-JP" sz="1400" dirty="0">
                <a:latin typeface="Yu Gothic"/>
              </a:rPr>
              <a:t>DB</a:t>
            </a:r>
            <a:r>
              <a:rPr lang="ja-JP" altLang="en-US" sz="1400" dirty="0">
                <a:latin typeface="Yu Gothic"/>
              </a:rPr>
              <a:t>に保存</a:t>
            </a:r>
            <a:endParaRPr lang="ja-JP" altLang="en-US" sz="1200" dirty="0">
              <a:solidFill>
                <a:schemeClr val="tx1"/>
              </a:solidFill>
              <a:latin typeface="Yu Gothic"/>
            </a:endParaRPr>
          </a:p>
        </p:txBody>
      </p:sp>
      <p:sp>
        <p:nvSpPr>
          <p:cNvPr id="39" name="テキスト ボックス 38">
            <a:extLst>
              <a:ext uri="{FF2B5EF4-FFF2-40B4-BE49-F238E27FC236}">
                <a16:creationId xmlns:a16="http://schemas.microsoft.com/office/drawing/2014/main" id="{CD624F2C-F902-05C1-1AF8-67F81BF54FD5}"/>
              </a:ext>
            </a:extLst>
          </p:cNvPr>
          <p:cNvSpPr txBox="1"/>
          <p:nvPr/>
        </p:nvSpPr>
        <p:spPr>
          <a:xfrm>
            <a:off x="5886215" y="5663245"/>
            <a:ext cx="1616182" cy="769441"/>
          </a:xfrm>
          <a:prstGeom prst="rect">
            <a:avLst/>
          </a:prstGeom>
          <a:noFill/>
        </p:spPr>
        <p:txBody>
          <a:bodyPr wrap="square">
            <a:spAutoFit/>
          </a:bodyPr>
          <a:lstStyle/>
          <a:p>
            <a:pPr algn="ctr"/>
            <a:r>
              <a:rPr lang="ja-JP" altLang="en-US" sz="1600" b="1" dirty="0">
                <a:solidFill>
                  <a:schemeClr val="accent5">
                    <a:lumMod val="75000"/>
                  </a:schemeClr>
                </a:solidFill>
                <a:latin typeface="+mn-ea"/>
              </a:rPr>
              <a:t>③問題生成</a:t>
            </a:r>
          </a:p>
          <a:p>
            <a:pPr algn="ctr"/>
            <a:r>
              <a:rPr lang="en-US" altLang="ja-JP" sz="1400" dirty="0">
                <a:solidFill>
                  <a:schemeClr val="tx1"/>
                </a:solidFill>
                <a:latin typeface="+mn-ea"/>
              </a:rPr>
              <a:t>DB</a:t>
            </a:r>
            <a:r>
              <a:rPr lang="ja-JP" altLang="en-US" sz="1400" dirty="0">
                <a:solidFill>
                  <a:schemeClr val="tx1"/>
                </a:solidFill>
                <a:latin typeface="+mn-ea"/>
              </a:rPr>
              <a:t>をもとに、</a:t>
            </a:r>
          </a:p>
          <a:p>
            <a:pPr algn="ctr"/>
            <a:r>
              <a:rPr lang="ja-JP" altLang="en-US" sz="1400" dirty="0">
                <a:solidFill>
                  <a:schemeClr val="tx1"/>
                </a:solidFill>
                <a:latin typeface="+mn-ea"/>
              </a:rPr>
              <a:t>選択肢・問題作成</a:t>
            </a:r>
          </a:p>
        </p:txBody>
      </p:sp>
      <p:sp>
        <p:nvSpPr>
          <p:cNvPr id="40" name="テキスト ボックス 39">
            <a:extLst>
              <a:ext uri="{FF2B5EF4-FFF2-40B4-BE49-F238E27FC236}">
                <a16:creationId xmlns:a16="http://schemas.microsoft.com/office/drawing/2014/main" id="{5E791188-96C8-898A-43AD-0299CE4B5F37}"/>
              </a:ext>
            </a:extLst>
          </p:cNvPr>
          <p:cNvSpPr txBox="1"/>
          <p:nvPr/>
        </p:nvSpPr>
        <p:spPr>
          <a:xfrm>
            <a:off x="7835685" y="5694022"/>
            <a:ext cx="2198410" cy="707886"/>
          </a:xfrm>
          <a:prstGeom prst="rect">
            <a:avLst/>
          </a:prstGeom>
          <a:noFill/>
        </p:spPr>
        <p:txBody>
          <a:bodyPr wrap="square">
            <a:spAutoFit/>
          </a:bodyPr>
          <a:lstStyle/>
          <a:p>
            <a:pPr algn="ctr"/>
            <a:r>
              <a:rPr lang="ja-JP" altLang="en-US" sz="1600" b="1" dirty="0">
                <a:solidFill>
                  <a:schemeClr val="accent5">
                    <a:lumMod val="75000"/>
                  </a:schemeClr>
                </a:solidFill>
                <a:latin typeface="+mn-ea"/>
              </a:rPr>
              <a:t>④問題評価</a:t>
            </a:r>
          </a:p>
          <a:p>
            <a:pPr algn="ctr"/>
            <a:r>
              <a:rPr lang="en-US" altLang="ja-JP" sz="1200" dirty="0">
                <a:solidFill>
                  <a:schemeClr val="tx1"/>
                </a:solidFill>
                <a:latin typeface="+mn-ea"/>
              </a:rPr>
              <a:t>Python</a:t>
            </a:r>
            <a:r>
              <a:rPr lang="ja-JP" altLang="en-US" sz="1200" dirty="0">
                <a:solidFill>
                  <a:schemeClr val="tx1"/>
                </a:solidFill>
                <a:latin typeface="+mn-ea"/>
              </a:rPr>
              <a:t>・</a:t>
            </a:r>
            <a:r>
              <a:rPr lang="en-US" altLang="ja-JP" sz="1200" dirty="0">
                <a:solidFill>
                  <a:schemeClr val="tx1"/>
                </a:solidFill>
                <a:latin typeface="+mn-ea"/>
              </a:rPr>
              <a:t>LLM</a:t>
            </a:r>
            <a:r>
              <a:rPr lang="ja-JP" altLang="en-US" sz="1200" dirty="0">
                <a:solidFill>
                  <a:schemeClr val="tx1"/>
                </a:solidFill>
                <a:latin typeface="+mn-ea"/>
              </a:rPr>
              <a:t>・</a:t>
            </a:r>
            <a:r>
              <a:rPr lang="en-US" altLang="ja-JP" sz="1200" dirty="0">
                <a:solidFill>
                  <a:schemeClr val="tx1"/>
                </a:solidFill>
                <a:latin typeface="+mn-ea"/>
              </a:rPr>
              <a:t>Embedding</a:t>
            </a:r>
            <a:r>
              <a:rPr lang="ja-JP" altLang="en-US" sz="1200" dirty="0">
                <a:solidFill>
                  <a:schemeClr val="tx1"/>
                </a:solidFill>
                <a:latin typeface="+mn-ea"/>
              </a:rPr>
              <a:t>で評価</a:t>
            </a:r>
          </a:p>
        </p:txBody>
      </p:sp>
      <p:sp>
        <p:nvSpPr>
          <p:cNvPr id="41" name="テキスト ボックス 40">
            <a:extLst>
              <a:ext uri="{FF2B5EF4-FFF2-40B4-BE49-F238E27FC236}">
                <a16:creationId xmlns:a16="http://schemas.microsoft.com/office/drawing/2014/main" id="{D6BE962E-B82B-76E0-4007-9A780787EDBE}"/>
              </a:ext>
            </a:extLst>
          </p:cNvPr>
          <p:cNvSpPr txBox="1"/>
          <p:nvPr/>
        </p:nvSpPr>
        <p:spPr>
          <a:xfrm>
            <a:off x="10077716" y="5570912"/>
            <a:ext cx="1739982" cy="954107"/>
          </a:xfrm>
          <a:prstGeom prst="rect">
            <a:avLst/>
          </a:prstGeom>
          <a:noFill/>
        </p:spPr>
        <p:txBody>
          <a:bodyPr wrap="square">
            <a:spAutoFit/>
          </a:bodyPr>
          <a:lstStyle/>
          <a:p>
            <a:pPr algn="ctr"/>
            <a:r>
              <a:rPr lang="ja-JP" altLang="en-US" sz="1600" b="1" dirty="0">
                <a:solidFill>
                  <a:schemeClr val="accent5">
                    <a:lumMod val="75000"/>
                  </a:schemeClr>
                </a:solidFill>
                <a:latin typeface="+mn-ea"/>
              </a:rPr>
              <a:t>⑤問題出題・フィードバック</a:t>
            </a:r>
            <a:endParaRPr lang="en-US" altLang="ja-JP" sz="1600" b="1" dirty="0">
              <a:solidFill>
                <a:schemeClr val="accent5">
                  <a:lumMod val="75000"/>
                </a:schemeClr>
              </a:solidFill>
              <a:latin typeface="+mn-ea"/>
            </a:endParaRPr>
          </a:p>
          <a:p>
            <a:pPr algn="ctr"/>
            <a:r>
              <a:rPr lang="ja-JP" altLang="en-US" sz="1200" dirty="0">
                <a:solidFill>
                  <a:schemeClr val="tx1"/>
                </a:solidFill>
                <a:latin typeface="+mn-ea"/>
              </a:rPr>
              <a:t>回答を評価し</a:t>
            </a:r>
            <a:endParaRPr lang="en-US" altLang="ja-JP" sz="1200" dirty="0">
              <a:solidFill>
                <a:schemeClr val="tx1"/>
              </a:solidFill>
              <a:latin typeface="+mn-ea"/>
            </a:endParaRPr>
          </a:p>
          <a:p>
            <a:pPr algn="ctr"/>
            <a:r>
              <a:rPr lang="ja-JP" altLang="en-US" sz="1200" dirty="0">
                <a:solidFill>
                  <a:schemeClr val="tx1"/>
                </a:solidFill>
                <a:latin typeface="+mn-ea"/>
              </a:rPr>
              <a:t>フィードバック</a:t>
            </a:r>
            <a:endParaRPr lang="ja-JP" altLang="en-US" dirty="0"/>
          </a:p>
        </p:txBody>
      </p:sp>
      <p:pic>
        <p:nvPicPr>
          <p:cNvPr id="42" name="グラフィックス 41" descr="ドキュメント 枠線">
            <a:extLst>
              <a:ext uri="{FF2B5EF4-FFF2-40B4-BE49-F238E27FC236}">
                <a16:creationId xmlns:a16="http://schemas.microsoft.com/office/drawing/2014/main" id="{9C590412-6DE3-D6DA-4B1C-F1DB2DD103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8429" y="4500620"/>
            <a:ext cx="571716" cy="571716"/>
          </a:xfrm>
          <a:prstGeom prst="rect">
            <a:avLst/>
          </a:prstGeom>
        </p:spPr>
      </p:pic>
      <p:sp>
        <p:nvSpPr>
          <p:cNvPr id="43" name="テキスト ボックス 42">
            <a:extLst>
              <a:ext uri="{FF2B5EF4-FFF2-40B4-BE49-F238E27FC236}">
                <a16:creationId xmlns:a16="http://schemas.microsoft.com/office/drawing/2014/main" id="{2F9EF8AE-FC15-F938-4398-937708D8DA80}"/>
              </a:ext>
            </a:extLst>
          </p:cNvPr>
          <p:cNvSpPr txBox="1"/>
          <p:nvPr/>
        </p:nvSpPr>
        <p:spPr>
          <a:xfrm>
            <a:off x="843978" y="4249546"/>
            <a:ext cx="1454413" cy="738664"/>
          </a:xfrm>
          <a:prstGeom prst="rect">
            <a:avLst/>
          </a:prstGeom>
          <a:noFill/>
        </p:spPr>
        <p:txBody>
          <a:bodyPr wrap="square" rtlCol="0">
            <a:spAutoFit/>
          </a:bodyPr>
          <a:lstStyle/>
          <a:p>
            <a:r>
              <a:rPr kumimoji="1" lang="ja-JP" altLang="en-US" sz="1400" dirty="0"/>
              <a:t>管理者</a:t>
            </a:r>
            <a:endParaRPr lang="en-US" altLang="ja-JP" sz="1400" dirty="0"/>
          </a:p>
          <a:p>
            <a:endParaRPr lang="en-US" altLang="ja-JP" sz="1400" dirty="0"/>
          </a:p>
          <a:p>
            <a:r>
              <a:rPr lang="ja-JP" altLang="en-US" sz="1400" dirty="0"/>
              <a:t>新出</a:t>
            </a:r>
            <a:r>
              <a:rPr kumimoji="1" lang="ja-JP" altLang="en-US" sz="1400" dirty="0"/>
              <a:t>単語</a:t>
            </a:r>
            <a:endParaRPr kumimoji="1" lang="en-US" altLang="ja-JP" sz="1400" dirty="0"/>
          </a:p>
        </p:txBody>
      </p:sp>
      <p:pic>
        <p:nvPicPr>
          <p:cNvPr id="44" name="グラフィックス 43" descr="オフィス ワーカー (男性) 枠線">
            <a:extLst>
              <a:ext uri="{FF2B5EF4-FFF2-40B4-BE49-F238E27FC236}">
                <a16:creationId xmlns:a16="http://schemas.microsoft.com/office/drawing/2014/main" id="{03E9734E-EDC7-5A04-BFB9-FC6CBA5668C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36385" y="3720501"/>
            <a:ext cx="571716" cy="571716"/>
          </a:xfrm>
          <a:prstGeom prst="rect">
            <a:avLst/>
          </a:prstGeom>
        </p:spPr>
      </p:pic>
      <p:sp>
        <p:nvSpPr>
          <p:cNvPr id="45" name="テキスト ボックス 44">
            <a:extLst>
              <a:ext uri="{FF2B5EF4-FFF2-40B4-BE49-F238E27FC236}">
                <a16:creationId xmlns:a16="http://schemas.microsoft.com/office/drawing/2014/main" id="{3C2E984E-2269-491A-B868-F771E6EBBA41}"/>
              </a:ext>
            </a:extLst>
          </p:cNvPr>
          <p:cNvSpPr txBox="1"/>
          <p:nvPr/>
        </p:nvSpPr>
        <p:spPr>
          <a:xfrm>
            <a:off x="10605542" y="5242302"/>
            <a:ext cx="636292" cy="307777"/>
          </a:xfrm>
          <a:prstGeom prst="rect">
            <a:avLst/>
          </a:prstGeom>
          <a:noFill/>
        </p:spPr>
        <p:txBody>
          <a:bodyPr wrap="square" rtlCol="0">
            <a:spAutoFit/>
          </a:bodyPr>
          <a:lstStyle/>
          <a:p>
            <a:r>
              <a:rPr kumimoji="1" lang="ja-JP" altLang="en-US" sz="1400" dirty="0"/>
              <a:t>生徒</a:t>
            </a:r>
            <a:endParaRPr kumimoji="1" lang="en-US" altLang="ja-JP" sz="1400" dirty="0"/>
          </a:p>
        </p:txBody>
      </p:sp>
      <p:pic>
        <p:nvPicPr>
          <p:cNvPr id="46" name="グラフィックス 45" descr="男子生徒 枠線">
            <a:extLst>
              <a:ext uri="{FF2B5EF4-FFF2-40B4-BE49-F238E27FC236}">
                <a16:creationId xmlns:a16="http://schemas.microsoft.com/office/drawing/2014/main" id="{CB6A8D68-96F0-6A29-237F-93A3292EF2B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539127" y="4667637"/>
            <a:ext cx="649516" cy="649516"/>
          </a:xfrm>
          <a:prstGeom prst="rect">
            <a:avLst/>
          </a:prstGeom>
        </p:spPr>
      </p:pic>
      <p:cxnSp>
        <p:nvCxnSpPr>
          <p:cNvPr id="47" name="直線矢印コネクタ 46">
            <a:extLst>
              <a:ext uri="{FF2B5EF4-FFF2-40B4-BE49-F238E27FC236}">
                <a16:creationId xmlns:a16="http://schemas.microsoft.com/office/drawing/2014/main" id="{B3E356F0-E76E-4980-DA5B-9C38B6FF95D3}"/>
              </a:ext>
            </a:extLst>
          </p:cNvPr>
          <p:cNvCxnSpPr>
            <a:cxnSpLocks/>
          </p:cNvCxnSpPr>
          <p:nvPr/>
        </p:nvCxnSpPr>
        <p:spPr>
          <a:xfrm>
            <a:off x="10853063" y="4500498"/>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直線矢印コネクタ 47">
            <a:extLst>
              <a:ext uri="{FF2B5EF4-FFF2-40B4-BE49-F238E27FC236}">
                <a16:creationId xmlns:a16="http://schemas.microsoft.com/office/drawing/2014/main" id="{F293A1BE-E7EE-5E54-5D7B-8BC7C5A8F7A2}"/>
              </a:ext>
            </a:extLst>
          </p:cNvPr>
          <p:cNvCxnSpPr>
            <a:cxnSpLocks/>
          </p:cNvCxnSpPr>
          <p:nvPr/>
        </p:nvCxnSpPr>
        <p:spPr>
          <a:xfrm>
            <a:off x="6648416" y="4550225"/>
            <a:ext cx="0" cy="2189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9" name="グラフィックス 48" descr="人工知能 枠線">
            <a:extLst>
              <a:ext uri="{FF2B5EF4-FFF2-40B4-BE49-F238E27FC236}">
                <a16:creationId xmlns:a16="http://schemas.microsoft.com/office/drawing/2014/main" id="{ACA2D673-C225-6B13-72BD-D7A74EBAE3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47695" y="3998251"/>
            <a:ext cx="587607" cy="587607"/>
          </a:xfrm>
          <a:prstGeom prst="rect">
            <a:avLst/>
          </a:prstGeom>
        </p:spPr>
      </p:pic>
      <p:pic>
        <p:nvPicPr>
          <p:cNvPr id="219" name="図 218">
            <a:extLst>
              <a:ext uri="{FF2B5EF4-FFF2-40B4-BE49-F238E27FC236}">
                <a16:creationId xmlns:a16="http://schemas.microsoft.com/office/drawing/2014/main" id="{715CCFC5-E2A0-BDE4-00BA-180D34D3A140}"/>
              </a:ext>
            </a:extLst>
          </p:cNvPr>
          <p:cNvPicPr>
            <a:picLocks noChangeAspect="1"/>
          </p:cNvPicPr>
          <p:nvPr/>
        </p:nvPicPr>
        <p:blipFill>
          <a:blip r:embed="rId13"/>
          <a:stretch>
            <a:fillRect/>
          </a:stretch>
        </p:blipFill>
        <p:spPr>
          <a:xfrm>
            <a:off x="651453" y="496712"/>
            <a:ext cx="8492601" cy="2499892"/>
          </a:xfrm>
          <a:prstGeom prst="rect">
            <a:avLst/>
          </a:prstGeom>
        </p:spPr>
      </p:pic>
    </p:spTree>
    <p:extLst>
      <p:ext uri="{BB962C8B-B14F-4D97-AF65-F5344CB8AC3E}">
        <p14:creationId xmlns:p14="http://schemas.microsoft.com/office/powerpoint/2010/main" val="2589416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5D7E63-69D0-DD88-63D7-641D1723CCAC}"/>
              </a:ext>
            </a:extLst>
          </p:cNvPr>
          <p:cNvSpPr>
            <a:spLocks noGrp="1"/>
          </p:cNvSpPr>
          <p:nvPr>
            <p:ph type="title"/>
          </p:nvPr>
        </p:nvSpPr>
        <p:spPr/>
        <p:txBody>
          <a:bodyPr/>
          <a:lstStyle/>
          <a:p>
            <a:r>
              <a:rPr lang="ja-JP" altLang="en-US" dirty="0"/>
              <a:t>研究手法②：問題生成モデルと学習用データ</a:t>
            </a:r>
            <a:endParaRPr kumimoji="1" lang="ja-JP" altLang="en-US" dirty="0"/>
          </a:p>
        </p:txBody>
      </p:sp>
      <p:sp>
        <p:nvSpPr>
          <p:cNvPr id="4" name="コンテンツ プレースホルダー 3">
            <a:extLst>
              <a:ext uri="{FF2B5EF4-FFF2-40B4-BE49-F238E27FC236}">
                <a16:creationId xmlns:a16="http://schemas.microsoft.com/office/drawing/2014/main" id="{1D4D2337-2494-9618-6A39-B4FAF85DB64D}"/>
              </a:ext>
            </a:extLst>
          </p:cNvPr>
          <p:cNvSpPr>
            <a:spLocks noGrp="1"/>
          </p:cNvSpPr>
          <p:nvPr>
            <p:ph idx="1"/>
          </p:nvPr>
        </p:nvSpPr>
        <p:spPr/>
        <p:txBody>
          <a:bodyPr/>
          <a:lstStyle/>
          <a:p>
            <a:pPr marL="457200" indent="-457200">
              <a:buAutoNum type="alphaUcPeriod"/>
            </a:pPr>
            <a:r>
              <a:rPr lang="ja-JP" altLang="en-US" dirty="0">
                <a:latin typeface="+mn-ea"/>
              </a:rPr>
              <a:t>知識収集</a:t>
            </a:r>
            <a:endParaRPr lang="en-US" altLang="ja-JP" dirty="0">
              <a:latin typeface="+mn-ea"/>
            </a:endParaRPr>
          </a:p>
          <a:p>
            <a:pPr marL="457200" indent="-457200">
              <a:buAutoNum type="alphaUcPeriod"/>
            </a:pPr>
            <a:endParaRPr lang="en-US" altLang="ja-JP" dirty="0">
              <a:latin typeface="+mn-ea"/>
            </a:endParaRPr>
          </a:p>
          <a:p>
            <a:pPr marL="457200" indent="-457200">
              <a:buAutoNum type="alphaUcPeriod"/>
            </a:pPr>
            <a:endParaRPr lang="en-US" altLang="ja-JP" dirty="0">
              <a:latin typeface="+mn-ea"/>
            </a:endParaRPr>
          </a:p>
          <a:p>
            <a:pPr marL="457200" indent="-457200">
              <a:buAutoNum type="alphaUcPeriod"/>
            </a:pPr>
            <a:endParaRPr lang="en-US" altLang="ja-JP" dirty="0">
              <a:latin typeface="+mn-ea"/>
            </a:endParaRPr>
          </a:p>
          <a:p>
            <a:pPr marL="457200" indent="-457200">
              <a:buAutoNum type="alphaUcPeriod"/>
            </a:pPr>
            <a:endParaRPr lang="en-US" altLang="ja-JP" dirty="0">
              <a:latin typeface="+mn-ea"/>
            </a:endParaRPr>
          </a:p>
          <a:p>
            <a:pPr marL="457200" indent="-457200">
              <a:buAutoNum type="alphaUcPeriod"/>
            </a:pPr>
            <a:r>
              <a:rPr lang="ja-JP" altLang="en-US" dirty="0">
                <a:latin typeface="+mn-ea"/>
              </a:rPr>
              <a:t>ファインチューニング済みモデルの構築</a:t>
            </a:r>
            <a:endParaRPr lang="en-US" altLang="ja-JP" dirty="0">
              <a:latin typeface="+mn-ea"/>
            </a:endParaRPr>
          </a:p>
        </p:txBody>
      </p:sp>
      <p:cxnSp>
        <p:nvCxnSpPr>
          <p:cNvPr id="11" name="Connector 8">
            <a:extLst>
              <a:ext uri="{FF2B5EF4-FFF2-40B4-BE49-F238E27FC236}">
                <a16:creationId xmlns:a16="http://schemas.microsoft.com/office/drawing/2014/main" id="{2C0508EE-C516-A128-2B1D-27745DC8422D}"/>
              </a:ext>
            </a:extLst>
          </p:cNvPr>
          <p:cNvCxnSpPr>
            <a:cxnSpLocks/>
            <a:endCxn id="12" idx="1"/>
          </p:cNvCxnSpPr>
          <p:nvPr/>
        </p:nvCxnSpPr>
        <p:spPr>
          <a:xfrm>
            <a:off x="3010991" y="1986638"/>
            <a:ext cx="365760"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12" name="Rounded Rectangle 9">
            <a:extLst>
              <a:ext uri="{FF2B5EF4-FFF2-40B4-BE49-F238E27FC236}">
                <a16:creationId xmlns:a16="http://schemas.microsoft.com/office/drawing/2014/main" id="{ED89AC51-AE0E-6044-1279-803FC591BAE4}"/>
              </a:ext>
            </a:extLst>
          </p:cNvPr>
          <p:cNvSpPr/>
          <p:nvPr/>
        </p:nvSpPr>
        <p:spPr>
          <a:xfrm>
            <a:off x="3376751" y="1506578"/>
            <a:ext cx="2057400" cy="960120"/>
          </a:xfrm>
          <a:prstGeom prst="roundRect">
            <a:avLst/>
          </a:prstGeom>
          <a:solidFill>
            <a:schemeClr val="bg1">
              <a:lumMod val="95000"/>
            </a:schemeClr>
          </a:solidFill>
          <a:ln w="15240">
            <a:solidFill>
              <a:schemeClr val="bg2">
                <a:lumMod val="2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nchorCtr="1"/>
          <a:lstStyle/>
          <a:p>
            <a:pPr algn="ctr"/>
            <a:r>
              <a:rPr lang="ja-JP" altLang="en-US" sz="1600" b="1" dirty="0">
                <a:solidFill>
                  <a:schemeClr val="bg2">
                    <a:lumMod val="25000"/>
                  </a:schemeClr>
                </a:solidFill>
                <a:latin typeface="+mn-ea"/>
              </a:rPr>
              <a:t>生成モデル</a:t>
            </a:r>
          </a:p>
          <a:p>
            <a:pPr algn="ctr"/>
            <a:r>
              <a:rPr lang="ja-JP" altLang="en-US" sz="1200" dirty="0">
                <a:solidFill>
                  <a:schemeClr val="bg2">
                    <a:lumMod val="25000"/>
                  </a:schemeClr>
                </a:solidFill>
                <a:latin typeface="+mn-ea"/>
              </a:rPr>
              <a:t>未調整</a:t>
            </a:r>
          </a:p>
        </p:txBody>
      </p:sp>
      <p:cxnSp>
        <p:nvCxnSpPr>
          <p:cNvPr id="13" name="Connector 10">
            <a:extLst>
              <a:ext uri="{FF2B5EF4-FFF2-40B4-BE49-F238E27FC236}">
                <a16:creationId xmlns:a16="http://schemas.microsoft.com/office/drawing/2014/main" id="{1983BC18-8D70-19EF-9355-ADEF96832BB8}"/>
              </a:ext>
            </a:extLst>
          </p:cNvPr>
          <p:cNvCxnSpPr>
            <a:cxnSpLocks/>
            <a:stCxn id="12" idx="3"/>
            <a:endCxn id="14" idx="1"/>
          </p:cNvCxnSpPr>
          <p:nvPr/>
        </p:nvCxnSpPr>
        <p:spPr>
          <a:xfrm>
            <a:off x="5434151" y="1986638"/>
            <a:ext cx="347472"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14" name="Rounded Rectangle 11">
            <a:extLst>
              <a:ext uri="{FF2B5EF4-FFF2-40B4-BE49-F238E27FC236}">
                <a16:creationId xmlns:a16="http://schemas.microsoft.com/office/drawing/2014/main" id="{E3E3106D-402C-F64B-6938-DF07357EE7AA}"/>
              </a:ext>
            </a:extLst>
          </p:cNvPr>
          <p:cNvSpPr/>
          <p:nvPr/>
        </p:nvSpPr>
        <p:spPr>
          <a:xfrm>
            <a:off x="5781623" y="1506578"/>
            <a:ext cx="1977714" cy="960120"/>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500" b="1" dirty="0">
                <a:solidFill>
                  <a:schemeClr val="accent5">
                    <a:lumMod val="75000"/>
                  </a:schemeClr>
                </a:solidFill>
                <a:latin typeface="+mn-ea"/>
              </a:rPr>
              <a:t>添削</a:t>
            </a:r>
            <a:endParaRPr lang="en-US" altLang="ja-JP" sz="1500" b="1" dirty="0">
              <a:solidFill>
                <a:schemeClr val="accent5">
                  <a:lumMod val="75000"/>
                </a:schemeClr>
              </a:solidFill>
              <a:latin typeface="+mn-ea"/>
            </a:endParaRPr>
          </a:p>
          <a:p>
            <a:pPr algn="ctr"/>
            <a:r>
              <a:rPr lang="en-US" altLang="ja-JP" sz="1200" dirty="0">
                <a:solidFill>
                  <a:srgbClr val="2A3442"/>
                </a:solidFill>
                <a:latin typeface="+mn-ea"/>
              </a:rPr>
              <a:t>Python</a:t>
            </a:r>
            <a:r>
              <a:rPr lang="ja-JP" altLang="en-US" sz="1200" dirty="0">
                <a:solidFill>
                  <a:srgbClr val="2A3442"/>
                </a:solidFill>
                <a:latin typeface="+mn-ea"/>
              </a:rPr>
              <a:t>・</a:t>
            </a:r>
            <a:r>
              <a:rPr lang="en-US" altLang="ja-JP" sz="1200" dirty="0">
                <a:solidFill>
                  <a:srgbClr val="2A3442"/>
                </a:solidFill>
                <a:latin typeface="+mn-ea"/>
              </a:rPr>
              <a:t>LLM</a:t>
            </a:r>
            <a:r>
              <a:rPr lang="ja-JP" altLang="en-US" sz="1200" dirty="0">
                <a:solidFill>
                  <a:srgbClr val="2A3442"/>
                </a:solidFill>
                <a:latin typeface="+mn-ea"/>
              </a:rPr>
              <a:t>・</a:t>
            </a:r>
            <a:r>
              <a:rPr lang="en-US" altLang="ja-JP" sz="1200" dirty="0">
                <a:solidFill>
                  <a:srgbClr val="2A3442"/>
                </a:solidFill>
                <a:latin typeface="+mn-ea"/>
              </a:rPr>
              <a:t>Embedding</a:t>
            </a:r>
            <a:endParaRPr lang="ja-JP" altLang="en-US" sz="1200" dirty="0">
              <a:solidFill>
                <a:srgbClr val="2A3442"/>
              </a:solidFill>
              <a:latin typeface="+mn-ea"/>
            </a:endParaRPr>
          </a:p>
        </p:txBody>
      </p:sp>
      <p:sp>
        <p:nvSpPr>
          <p:cNvPr id="15" name="Rounded Rectangle 15">
            <a:extLst>
              <a:ext uri="{FF2B5EF4-FFF2-40B4-BE49-F238E27FC236}">
                <a16:creationId xmlns:a16="http://schemas.microsoft.com/office/drawing/2014/main" id="{94801606-2BC5-A03C-EBB1-912DF59C2519}"/>
              </a:ext>
            </a:extLst>
          </p:cNvPr>
          <p:cNvSpPr/>
          <p:nvPr/>
        </p:nvSpPr>
        <p:spPr>
          <a:xfrm>
            <a:off x="942700" y="3836130"/>
            <a:ext cx="2743200" cy="960120"/>
          </a:xfrm>
          <a:prstGeom prst="roundRect">
            <a:avLst/>
          </a:prstGeom>
          <a:solidFill>
            <a:schemeClr val="tx2">
              <a:lumMod val="20000"/>
              <a:lumOff val="80000"/>
            </a:schemeClr>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chemeClr val="accent5">
                    <a:lumMod val="75000"/>
                  </a:schemeClr>
                </a:solidFill>
                <a:latin typeface="+mn-ea"/>
              </a:rPr>
              <a:t>添削済みの生成問題</a:t>
            </a:r>
          </a:p>
          <a:p>
            <a:pPr algn="ctr"/>
            <a:r>
              <a:rPr lang="en-US" altLang="ja-JP" sz="1200" dirty="0">
                <a:solidFill>
                  <a:srgbClr val="183759"/>
                </a:solidFill>
                <a:latin typeface="+mn-ea"/>
              </a:rPr>
              <a:t>200</a:t>
            </a:r>
            <a:r>
              <a:rPr lang="ja-JP" altLang="en-US" sz="1200" dirty="0">
                <a:solidFill>
                  <a:srgbClr val="183759"/>
                </a:solidFill>
                <a:latin typeface="+mn-ea"/>
              </a:rPr>
              <a:t>単語・</a:t>
            </a:r>
            <a:r>
              <a:rPr lang="en-US" altLang="ja-JP" sz="1200" dirty="0">
                <a:solidFill>
                  <a:srgbClr val="183759"/>
                </a:solidFill>
                <a:latin typeface="+mn-ea"/>
              </a:rPr>
              <a:t>400</a:t>
            </a:r>
            <a:r>
              <a:rPr lang="ja-JP" altLang="en-US" sz="1200" dirty="0">
                <a:solidFill>
                  <a:srgbClr val="183759"/>
                </a:solidFill>
                <a:latin typeface="+mn-ea"/>
              </a:rPr>
              <a:t>問</a:t>
            </a:r>
          </a:p>
        </p:txBody>
      </p:sp>
      <p:sp>
        <p:nvSpPr>
          <p:cNvPr id="16" name="Rounded Rectangle 16">
            <a:extLst>
              <a:ext uri="{FF2B5EF4-FFF2-40B4-BE49-F238E27FC236}">
                <a16:creationId xmlns:a16="http://schemas.microsoft.com/office/drawing/2014/main" id="{3CFF30C5-DF46-4A12-1C5F-7405D7FF036A}"/>
              </a:ext>
            </a:extLst>
          </p:cNvPr>
          <p:cNvSpPr/>
          <p:nvPr/>
        </p:nvSpPr>
        <p:spPr>
          <a:xfrm>
            <a:off x="4005940" y="3836130"/>
            <a:ext cx="2743200" cy="960120"/>
          </a:xfrm>
          <a:prstGeom prst="roundRect">
            <a:avLst/>
          </a:prstGeom>
          <a:solidFill>
            <a:schemeClr val="bg1">
              <a:lumMod val="95000"/>
            </a:schemeClr>
          </a:solidFill>
          <a:ln w="15240">
            <a:solidFill>
              <a:schemeClr val="bg2">
                <a:lumMod val="2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nchorCtr="1"/>
          <a:lstStyle/>
          <a:p>
            <a:pPr algn="ctr"/>
            <a:r>
              <a:rPr lang="ja-JP" altLang="en-US" sz="1600" b="1" dirty="0">
                <a:solidFill>
                  <a:schemeClr val="bg2">
                    <a:lumMod val="25000"/>
                  </a:schemeClr>
                </a:solidFill>
                <a:latin typeface="+mn-ea"/>
              </a:rPr>
              <a:t>既存の過去問題</a:t>
            </a:r>
          </a:p>
          <a:p>
            <a:pPr algn="ctr"/>
            <a:r>
              <a:rPr lang="en-US" altLang="ja-JP" sz="1200" dirty="0">
                <a:solidFill>
                  <a:schemeClr val="bg2">
                    <a:lumMod val="25000"/>
                  </a:schemeClr>
                </a:solidFill>
                <a:latin typeface="+mn-ea"/>
              </a:rPr>
              <a:t>400</a:t>
            </a:r>
            <a:r>
              <a:rPr lang="ja-JP" altLang="en-US" sz="1200" dirty="0">
                <a:solidFill>
                  <a:schemeClr val="bg2">
                    <a:lumMod val="25000"/>
                  </a:schemeClr>
                </a:solidFill>
                <a:latin typeface="+mn-ea"/>
              </a:rPr>
              <a:t>問</a:t>
            </a:r>
          </a:p>
          <a:p>
            <a:pPr algn="ctr"/>
            <a:r>
              <a:rPr lang="ja-JP" altLang="en-US" sz="1200" dirty="0">
                <a:solidFill>
                  <a:schemeClr val="bg2">
                    <a:lumMod val="25000"/>
                  </a:schemeClr>
                </a:solidFill>
                <a:latin typeface="+mn-ea"/>
              </a:rPr>
              <a:t>新出単語に関する問題を除外</a:t>
            </a:r>
          </a:p>
        </p:txBody>
      </p:sp>
      <p:cxnSp>
        <p:nvCxnSpPr>
          <p:cNvPr id="17" name="Connector 17">
            <a:extLst>
              <a:ext uri="{FF2B5EF4-FFF2-40B4-BE49-F238E27FC236}">
                <a16:creationId xmlns:a16="http://schemas.microsoft.com/office/drawing/2014/main" id="{2E39C433-93E2-0D0D-BF76-07CA823E711F}"/>
              </a:ext>
            </a:extLst>
          </p:cNvPr>
          <p:cNvCxnSpPr>
            <a:cxnSpLocks/>
            <a:stCxn id="15" idx="2"/>
          </p:cNvCxnSpPr>
          <p:nvPr/>
        </p:nvCxnSpPr>
        <p:spPr>
          <a:xfrm>
            <a:off x="2314300" y="4796250"/>
            <a:ext cx="1188720" cy="32004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cxnSp>
        <p:nvCxnSpPr>
          <p:cNvPr id="18" name="Connector 18">
            <a:extLst>
              <a:ext uri="{FF2B5EF4-FFF2-40B4-BE49-F238E27FC236}">
                <a16:creationId xmlns:a16="http://schemas.microsoft.com/office/drawing/2014/main" id="{57D13975-766D-9D1C-30FD-48D73545E0CC}"/>
              </a:ext>
            </a:extLst>
          </p:cNvPr>
          <p:cNvCxnSpPr>
            <a:cxnSpLocks/>
            <a:stCxn id="16" idx="2"/>
          </p:cNvCxnSpPr>
          <p:nvPr/>
        </p:nvCxnSpPr>
        <p:spPr>
          <a:xfrm flipH="1">
            <a:off x="4554580" y="4796250"/>
            <a:ext cx="822960" cy="32004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19" name="Rounded Rectangle 19">
            <a:extLst>
              <a:ext uri="{FF2B5EF4-FFF2-40B4-BE49-F238E27FC236}">
                <a16:creationId xmlns:a16="http://schemas.microsoft.com/office/drawing/2014/main" id="{6209911A-8E7A-FA6A-CBDF-3C2EBFACB09A}"/>
              </a:ext>
            </a:extLst>
          </p:cNvPr>
          <p:cNvSpPr/>
          <p:nvPr/>
        </p:nvSpPr>
        <p:spPr>
          <a:xfrm>
            <a:off x="2451460" y="5116290"/>
            <a:ext cx="3383280" cy="960120"/>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chemeClr val="accent5">
                    <a:lumMod val="75000"/>
                  </a:schemeClr>
                </a:solidFill>
                <a:latin typeface="+mn-ea"/>
              </a:rPr>
              <a:t>学習用データセット</a:t>
            </a:r>
          </a:p>
          <a:p>
            <a:pPr algn="ctr">
              <a:spcBef>
                <a:spcPts val="400"/>
              </a:spcBef>
              <a:defRPr sz="1200">
                <a:solidFill>
                  <a:srgbClr val="2A3442"/>
                </a:solidFill>
                <a:latin typeface="Yu Gothic"/>
              </a:defRPr>
            </a:pPr>
            <a:r>
              <a:rPr lang="ja-JP" altLang="en-US" sz="1200" dirty="0">
                <a:solidFill>
                  <a:srgbClr val="2A3442"/>
                </a:solidFill>
                <a:latin typeface="+mn-ea"/>
              </a:rPr>
              <a:t>② 添削済み</a:t>
            </a:r>
            <a:r>
              <a:rPr lang="en-US" altLang="ja-JP" sz="1200" dirty="0">
                <a:solidFill>
                  <a:srgbClr val="2A3442"/>
                </a:solidFill>
                <a:latin typeface="+mn-ea"/>
              </a:rPr>
              <a:t>400</a:t>
            </a:r>
            <a:r>
              <a:rPr lang="ja-JP" altLang="en-US" sz="1200" dirty="0">
                <a:solidFill>
                  <a:srgbClr val="2A3442"/>
                </a:solidFill>
                <a:latin typeface="+mn-ea"/>
              </a:rPr>
              <a:t>問／③ 過去問</a:t>
            </a:r>
            <a:r>
              <a:rPr lang="en-US" altLang="ja-JP" sz="1200" dirty="0">
                <a:solidFill>
                  <a:srgbClr val="2A3442"/>
                </a:solidFill>
                <a:latin typeface="+mn-ea"/>
              </a:rPr>
              <a:t>400</a:t>
            </a:r>
            <a:r>
              <a:rPr lang="ja-JP" altLang="en-US" sz="1200" dirty="0">
                <a:solidFill>
                  <a:srgbClr val="2A3442"/>
                </a:solidFill>
                <a:latin typeface="+mn-ea"/>
              </a:rPr>
              <a:t>問</a:t>
            </a:r>
          </a:p>
          <a:p>
            <a:pPr algn="ctr">
              <a:spcBef>
                <a:spcPts val="400"/>
              </a:spcBef>
              <a:defRPr sz="1200">
                <a:solidFill>
                  <a:srgbClr val="2A3442"/>
                </a:solidFill>
                <a:latin typeface="Yu Gothic"/>
              </a:defRPr>
            </a:pPr>
            <a:r>
              <a:rPr lang="ja-JP" altLang="en-US" sz="1200" dirty="0">
                <a:solidFill>
                  <a:srgbClr val="2A3442"/>
                </a:solidFill>
                <a:latin typeface="+mn-ea"/>
              </a:rPr>
              <a:t>④ 各</a:t>
            </a:r>
            <a:r>
              <a:rPr lang="en-US" altLang="ja-JP" sz="1200" dirty="0">
                <a:solidFill>
                  <a:srgbClr val="2A3442"/>
                </a:solidFill>
                <a:latin typeface="+mn-ea"/>
              </a:rPr>
              <a:t>200</a:t>
            </a:r>
            <a:r>
              <a:rPr lang="ja-JP" altLang="en-US" sz="1200" dirty="0">
                <a:solidFill>
                  <a:srgbClr val="2A3442"/>
                </a:solidFill>
                <a:latin typeface="+mn-ea"/>
              </a:rPr>
              <a:t>問の混合データ</a:t>
            </a:r>
          </a:p>
        </p:txBody>
      </p:sp>
      <p:cxnSp>
        <p:nvCxnSpPr>
          <p:cNvPr id="20" name="Connector 20">
            <a:extLst>
              <a:ext uri="{FF2B5EF4-FFF2-40B4-BE49-F238E27FC236}">
                <a16:creationId xmlns:a16="http://schemas.microsoft.com/office/drawing/2014/main" id="{9FD40A26-2C20-DDB8-F83B-CB48C5099D9C}"/>
              </a:ext>
            </a:extLst>
          </p:cNvPr>
          <p:cNvCxnSpPr>
            <a:cxnSpLocks/>
            <a:stCxn id="19" idx="3"/>
            <a:endCxn id="21" idx="1"/>
          </p:cNvCxnSpPr>
          <p:nvPr/>
        </p:nvCxnSpPr>
        <p:spPr>
          <a:xfrm>
            <a:off x="5834740" y="5596350"/>
            <a:ext cx="215540"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21" name="Rounded Rectangle 21">
            <a:extLst>
              <a:ext uri="{FF2B5EF4-FFF2-40B4-BE49-F238E27FC236}">
                <a16:creationId xmlns:a16="http://schemas.microsoft.com/office/drawing/2014/main" id="{535084B8-A455-943E-2E01-75EF9177015A}"/>
              </a:ext>
            </a:extLst>
          </p:cNvPr>
          <p:cNvSpPr/>
          <p:nvPr/>
        </p:nvSpPr>
        <p:spPr>
          <a:xfrm>
            <a:off x="6050280" y="5116290"/>
            <a:ext cx="2769320" cy="960120"/>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chemeClr val="accent5">
                    <a:lumMod val="75000"/>
                  </a:schemeClr>
                </a:solidFill>
                <a:latin typeface="+mn-ea"/>
              </a:rPr>
              <a:t>ファインチューニング</a:t>
            </a:r>
          </a:p>
          <a:p>
            <a:pPr algn="ctr"/>
            <a:r>
              <a:rPr lang="ja-JP" altLang="en-US" sz="1200" dirty="0">
                <a:solidFill>
                  <a:schemeClr val="tx1"/>
                </a:solidFill>
                <a:latin typeface="+mn-ea"/>
              </a:rPr>
              <a:t>モデルを調整</a:t>
            </a:r>
          </a:p>
        </p:txBody>
      </p:sp>
      <p:cxnSp>
        <p:nvCxnSpPr>
          <p:cNvPr id="22" name="Connector 22">
            <a:extLst>
              <a:ext uri="{FF2B5EF4-FFF2-40B4-BE49-F238E27FC236}">
                <a16:creationId xmlns:a16="http://schemas.microsoft.com/office/drawing/2014/main" id="{08E9F2A0-7C5A-B6AA-788A-0F184EC17DF3}"/>
              </a:ext>
            </a:extLst>
          </p:cNvPr>
          <p:cNvCxnSpPr>
            <a:cxnSpLocks/>
            <a:stCxn id="21" idx="3"/>
            <a:endCxn id="23" idx="1"/>
          </p:cNvCxnSpPr>
          <p:nvPr/>
        </p:nvCxnSpPr>
        <p:spPr>
          <a:xfrm>
            <a:off x="8819600" y="5596350"/>
            <a:ext cx="215540"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23" name="Rounded Rectangle 23">
            <a:extLst>
              <a:ext uri="{FF2B5EF4-FFF2-40B4-BE49-F238E27FC236}">
                <a16:creationId xmlns:a16="http://schemas.microsoft.com/office/drawing/2014/main" id="{E5ABC0C3-8D2E-9A1D-AFDA-6FD2A3C22101}"/>
              </a:ext>
            </a:extLst>
          </p:cNvPr>
          <p:cNvSpPr/>
          <p:nvPr/>
        </p:nvSpPr>
        <p:spPr>
          <a:xfrm>
            <a:off x="9035140" y="5116290"/>
            <a:ext cx="2560320" cy="960120"/>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en-US" altLang="ja-JP" sz="1600" b="1" dirty="0">
                <a:solidFill>
                  <a:schemeClr val="accent5">
                    <a:lumMod val="75000"/>
                  </a:schemeClr>
                </a:solidFill>
                <a:latin typeface="+mn-ea"/>
              </a:rPr>
              <a:t>4</a:t>
            </a:r>
            <a:r>
              <a:rPr lang="ja-JP" altLang="en-US" sz="1600" b="1" dirty="0">
                <a:solidFill>
                  <a:schemeClr val="accent5">
                    <a:lumMod val="75000"/>
                  </a:schemeClr>
                </a:solidFill>
                <a:latin typeface="+mn-ea"/>
              </a:rPr>
              <a:t>パターンのモデル</a:t>
            </a:r>
          </a:p>
          <a:p>
            <a:pPr algn="ctr">
              <a:spcBef>
                <a:spcPts val="400"/>
              </a:spcBef>
              <a:defRPr sz="1200">
                <a:solidFill>
                  <a:srgbClr val="2A3442"/>
                </a:solidFill>
                <a:latin typeface="Yu Gothic"/>
              </a:defRPr>
            </a:pPr>
            <a:r>
              <a:rPr lang="ja-JP" altLang="en-US" sz="1200" dirty="0">
                <a:solidFill>
                  <a:srgbClr val="2A3442"/>
                </a:solidFill>
                <a:latin typeface="+mn-ea"/>
              </a:rPr>
              <a:t>同じ評価条件で</a:t>
            </a:r>
          </a:p>
          <a:p>
            <a:pPr algn="ctr">
              <a:spcBef>
                <a:spcPts val="400"/>
              </a:spcBef>
              <a:defRPr sz="1200">
                <a:solidFill>
                  <a:srgbClr val="2A3442"/>
                </a:solidFill>
                <a:latin typeface="Yu Gothic"/>
              </a:defRPr>
            </a:pPr>
            <a:r>
              <a:rPr lang="ja-JP" altLang="en-US" sz="1200" dirty="0">
                <a:solidFill>
                  <a:srgbClr val="2A3442"/>
                </a:solidFill>
                <a:latin typeface="+mn-ea"/>
              </a:rPr>
              <a:t>生成問題の品質を比較</a:t>
            </a:r>
          </a:p>
        </p:txBody>
      </p:sp>
      <p:sp>
        <p:nvSpPr>
          <p:cNvPr id="39" name="TextBox 12">
            <a:extLst>
              <a:ext uri="{FF2B5EF4-FFF2-40B4-BE49-F238E27FC236}">
                <a16:creationId xmlns:a16="http://schemas.microsoft.com/office/drawing/2014/main" id="{77CC275D-B8AC-0A5E-CB2D-DECE6D8EC654}"/>
              </a:ext>
            </a:extLst>
          </p:cNvPr>
          <p:cNvSpPr txBox="1"/>
          <p:nvPr/>
        </p:nvSpPr>
        <p:spPr>
          <a:xfrm>
            <a:off x="7940040" y="3453280"/>
            <a:ext cx="4389120" cy="378565"/>
          </a:xfrm>
          <a:prstGeom prst="rect">
            <a:avLst/>
          </a:prstGeom>
          <a:noFill/>
        </p:spPr>
        <p:txBody>
          <a:bodyPr wrap="square" lIns="73152" tIns="73152" rIns="73152" bIns="73152" anchor="ctr">
            <a:spAutoFit/>
          </a:bodyPr>
          <a:lstStyle/>
          <a:p>
            <a:pPr>
              <a:spcAft>
                <a:spcPts val="200"/>
              </a:spcAft>
              <a:defRPr sz="1500" b="1" i="0">
                <a:solidFill>
                  <a:srgbClr val="1F8E88"/>
                </a:solidFill>
                <a:latin typeface="Yu Gothic"/>
              </a:defRPr>
            </a:pPr>
            <a:r>
              <a:rPr lang="ja-JP" altLang="en-US" dirty="0">
                <a:solidFill>
                  <a:schemeClr val="accent5">
                    <a:lumMod val="75000"/>
                  </a:schemeClr>
                </a:solidFill>
              </a:rPr>
              <a:t>モデルの比較</a:t>
            </a:r>
          </a:p>
        </p:txBody>
      </p:sp>
      <p:sp>
        <p:nvSpPr>
          <p:cNvPr id="41" name="TextBox 13">
            <a:extLst>
              <a:ext uri="{FF2B5EF4-FFF2-40B4-BE49-F238E27FC236}">
                <a16:creationId xmlns:a16="http://schemas.microsoft.com/office/drawing/2014/main" id="{58209584-CD71-BE8F-D295-6572CA2B48E8}"/>
              </a:ext>
            </a:extLst>
          </p:cNvPr>
          <p:cNvSpPr txBox="1"/>
          <p:nvPr/>
        </p:nvSpPr>
        <p:spPr>
          <a:xfrm>
            <a:off x="7940040" y="3688414"/>
            <a:ext cx="4297680" cy="1158266"/>
          </a:xfrm>
          <a:prstGeom prst="rect">
            <a:avLst/>
          </a:prstGeom>
          <a:noFill/>
        </p:spPr>
        <p:txBody>
          <a:bodyPr wrap="square" lIns="73152" tIns="73152" rIns="73152" bIns="73152" anchor="ctr">
            <a:spAutoFit/>
          </a:bodyPr>
          <a:lstStyle/>
          <a:p>
            <a:pPr>
              <a:spcAft>
                <a:spcPts val="200"/>
              </a:spcAft>
              <a:defRPr sz="1300" b="0" i="0">
                <a:solidFill>
                  <a:srgbClr val="2A3442"/>
                </a:solidFill>
                <a:latin typeface="Yu Gothic"/>
              </a:defRPr>
            </a:pPr>
            <a:r>
              <a:rPr lang="ja-JP" altLang="en-US" sz="1600" dirty="0">
                <a:latin typeface="+mn-ea"/>
              </a:rPr>
              <a:t>① ファインチューニングなし</a:t>
            </a:r>
          </a:p>
          <a:p>
            <a:r>
              <a:rPr lang="ja-JP" altLang="en-US" sz="1600" dirty="0">
                <a:latin typeface="+mn-ea"/>
              </a:rPr>
              <a:t>② 添削済みデータ：</a:t>
            </a:r>
            <a:r>
              <a:rPr lang="en-US" altLang="ja-JP" sz="1600" dirty="0">
                <a:latin typeface="+mn-ea"/>
              </a:rPr>
              <a:t>200</a:t>
            </a:r>
            <a:r>
              <a:rPr lang="ja-JP" altLang="en-US" sz="1600" dirty="0">
                <a:latin typeface="+mn-ea"/>
              </a:rPr>
              <a:t>単語・</a:t>
            </a:r>
            <a:r>
              <a:rPr lang="en-US" altLang="ja-JP" sz="1600" dirty="0">
                <a:latin typeface="+mn-ea"/>
              </a:rPr>
              <a:t>400</a:t>
            </a:r>
            <a:r>
              <a:rPr lang="ja-JP" altLang="en-US" sz="1600" dirty="0">
                <a:latin typeface="+mn-ea"/>
              </a:rPr>
              <a:t>問</a:t>
            </a:r>
          </a:p>
          <a:p>
            <a:r>
              <a:rPr lang="ja-JP" altLang="en-US" sz="1600" dirty="0">
                <a:latin typeface="+mn-ea"/>
              </a:rPr>
              <a:t>③ 過去問：</a:t>
            </a:r>
            <a:r>
              <a:rPr lang="en-US" altLang="ja-JP" sz="1600" dirty="0">
                <a:latin typeface="+mn-ea"/>
              </a:rPr>
              <a:t>400</a:t>
            </a:r>
            <a:r>
              <a:rPr lang="ja-JP" altLang="en-US" sz="1600" dirty="0">
                <a:latin typeface="+mn-ea"/>
              </a:rPr>
              <a:t>問（新出単語を除外）</a:t>
            </a:r>
          </a:p>
          <a:p>
            <a:r>
              <a:rPr lang="ja-JP" altLang="en-US" sz="1600" dirty="0">
                <a:latin typeface="+mn-ea"/>
              </a:rPr>
              <a:t>④ 混合：添削済み</a:t>
            </a:r>
            <a:r>
              <a:rPr lang="en-US" altLang="ja-JP" sz="1600" dirty="0">
                <a:latin typeface="+mn-ea"/>
              </a:rPr>
              <a:t>200</a:t>
            </a:r>
            <a:r>
              <a:rPr lang="ja-JP" altLang="en-US" sz="1600" dirty="0">
                <a:latin typeface="+mn-ea"/>
              </a:rPr>
              <a:t>問＋過去問</a:t>
            </a:r>
            <a:r>
              <a:rPr lang="en-US" altLang="ja-JP" sz="1600" dirty="0">
                <a:latin typeface="+mn-ea"/>
              </a:rPr>
              <a:t>200</a:t>
            </a:r>
            <a:r>
              <a:rPr lang="ja-JP" altLang="en-US" sz="1600" dirty="0">
                <a:latin typeface="+mn-ea"/>
              </a:rPr>
              <a:t>問</a:t>
            </a:r>
          </a:p>
        </p:txBody>
      </p:sp>
      <p:cxnSp>
        <p:nvCxnSpPr>
          <p:cNvPr id="42" name="Connector 10">
            <a:extLst>
              <a:ext uri="{FF2B5EF4-FFF2-40B4-BE49-F238E27FC236}">
                <a16:creationId xmlns:a16="http://schemas.microsoft.com/office/drawing/2014/main" id="{2AFF0750-C3DB-B54F-0EB1-B98F8BB6A022}"/>
              </a:ext>
            </a:extLst>
          </p:cNvPr>
          <p:cNvCxnSpPr>
            <a:cxnSpLocks/>
            <a:stCxn id="14" idx="3"/>
            <a:endCxn id="43" idx="1"/>
          </p:cNvCxnSpPr>
          <p:nvPr/>
        </p:nvCxnSpPr>
        <p:spPr>
          <a:xfrm>
            <a:off x="7759337" y="1986638"/>
            <a:ext cx="330488" cy="0"/>
          </a:xfrm>
          <a:prstGeom prst="line">
            <a:avLst/>
          </a:prstGeom>
          <a:ln w="17780">
            <a:solidFill>
              <a:srgbClr val="616D7C"/>
            </a:solidFill>
          </a:ln>
        </p:spPr>
        <p:style>
          <a:lnRef idx="2">
            <a:schemeClr val="accent1"/>
          </a:lnRef>
          <a:fillRef idx="0">
            <a:schemeClr val="accent1"/>
          </a:fillRef>
          <a:effectRef idx="1">
            <a:schemeClr val="accent1"/>
          </a:effectRef>
          <a:fontRef idx="minor">
            <a:schemeClr val="tx1"/>
          </a:fontRef>
        </p:style>
      </p:cxnSp>
      <p:sp>
        <p:nvSpPr>
          <p:cNvPr id="43" name="Rounded Rectangle 11">
            <a:extLst>
              <a:ext uri="{FF2B5EF4-FFF2-40B4-BE49-F238E27FC236}">
                <a16:creationId xmlns:a16="http://schemas.microsoft.com/office/drawing/2014/main" id="{43602A91-CF6B-66EF-6211-1C0D4D7AFB9D}"/>
              </a:ext>
            </a:extLst>
          </p:cNvPr>
          <p:cNvSpPr/>
          <p:nvPr/>
        </p:nvSpPr>
        <p:spPr>
          <a:xfrm>
            <a:off x="8089825" y="1506578"/>
            <a:ext cx="2286000" cy="960120"/>
          </a:xfrm>
          <a:prstGeom prst="roundRect">
            <a:avLst/>
          </a:prstGeom>
          <a:solidFill>
            <a:schemeClr val="tx2">
              <a:lumMod val="20000"/>
              <a:lumOff val="80000"/>
            </a:schemeClr>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500" b="1" dirty="0">
                <a:solidFill>
                  <a:schemeClr val="accent5">
                    <a:lumMod val="75000"/>
                  </a:schemeClr>
                </a:solidFill>
                <a:latin typeface="+mn-ea"/>
              </a:rPr>
              <a:t>添削済みの生成問題</a:t>
            </a:r>
          </a:p>
          <a:p>
            <a:pPr algn="ctr"/>
            <a:r>
              <a:rPr lang="ja-JP" altLang="en-US" sz="1200" dirty="0">
                <a:solidFill>
                  <a:srgbClr val="183759"/>
                </a:solidFill>
                <a:latin typeface="+mn-ea"/>
              </a:rPr>
              <a:t>問題・</a:t>
            </a:r>
            <a:r>
              <a:rPr lang="en-US" altLang="ja-JP" sz="1200" dirty="0">
                <a:solidFill>
                  <a:srgbClr val="183759"/>
                </a:solidFill>
                <a:latin typeface="+mn-ea"/>
              </a:rPr>
              <a:t>4</a:t>
            </a:r>
            <a:r>
              <a:rPr lang="ja-JP" altLang="en-US" sz="1200" dirty="0">
                <a:solidFill>
                  <a:srgbClr val="183759"/>
                </a:solidFill>
                <a:latin typeface="+mn-ea"/>
              </a:rPr>
              <a:t>択・正解・解説</a:t>
            </a:r>
          </a:p>
        </p:txBody>
      </p:sp>
      <p:sp>
        <p:nvSpPr>
          <p:cNvPr id="56" name="スライド番号プレースホルダー 55">
            <a:extLst>
              <a:ext uri="{FF2B5EF4-FFF2-40B4-BE49-F238E27FC236}">
                <a16:creationId xmlns:a16="http://schemas.microsoft.com/office/drawing/2014/main" id="{763B72F2-9F87-98E3-5CAF-4D0F45265B27}"/>
              </a:ext>
            </a:extLst>
          </p:cNvPr>
          <p:cNvSpPr>
            <a:spLocks noGrp="1"/>
          </p:cNvSpPr>
          <p:nvPr>
            <p:ph type="sldNum" sz="quarter" idx="12"/>
          </p:nvPr>
        </p:nvSpPr>
        <p:spPr/>
        <p:txBody>
          <a:bodyPr/>
          <a:lstStyle/>
          <a:p>
            <a:fld id="{9FB99072-780F-43D9-B22B-8FACFE63800E}" type="slidenum">
              <a:rPr kumimoji="1" lang="ja-JP" altLang="en-US" smtClean="0"/>
              <a:t>27</a:t>
            </a:fld>
            <a:endParaRPr kumimoji="1" lang="ja-JP" altLang="en-US"/>
          </a:p>
        </p:txBody>
      </p:sp>
      <p:sp>
        <p:nvSpPr>
          <p:cNvPr id="26" name="フローチャート: データ 25">
            <a:extLst>
              <a:ext uri="{FF2B5EF4-FFF2-40B4-BE49-F238E27FC236}">
                <a16:creationId xmlns:a16="http://schemas.microsoft.com/office/drawing/2014/main" id="{68547AEC-4F4F-072A-B1D2-7B610700EA5E}"/>
              </a:ext>
            </a:extLst>
          </p:cNvPr>
          <p:cNvSpPr/>
          <p:nvPr/>
        </p:nvSpPr>
        <p:spPr>
          <a:xfrm>
            <a:off x="863023" y="1551215"/>
            <a:ext cx="2286000" cy="960119"/>
          </a:xfrm>
          <a:prstGeom prst="flowChartInputOutput">
            <a:avLst/>
          </a:prstGeom>
          <a:solidFill>
            <a:schemeClr val="bg1">
              <a:lumMod val="95000"/>
            </a:schemeClr>
          </a:solidFill>
          <a:ln w="15240">
            <a:solidFill>
              <a:schemeClr val="bg2">
                <a:lumMod val="2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nchorCtr="1"/>
          <a:lstStyle/>
          <a:p>
            <a:pPr algn="ctr"/>
            <a:r>
              <a:rPr lang="zh-TW" altLang="en-US" sz="2000" b="1" dirty="0">
                <a:solidFill>
                  <a:schemeClr val="bg2">
                    <a:lumMod val="25000"/>
                  </a:schemeClr>
                </a:solidFill>
                <a:latin typeface="メイリオ 本文"/>
                <a:ea typeface="メイリオ" panose="020B0604030504040204" pitchFamily="50" charset="-128"/>
              </a:rPr>
              <a:t>入力</a:t>
            </a:r>
          </a:p>
          <a:p>
            <a:pPr algn="ctr"/>
            <a:r>
              <a:rPr lang="zh-TW" altLang="en-US" sz="1400" dirty="0">
                <a:solidFill>
                  <a:schemeClr val="bg2">
                    <a:lumMod val="25000"/>
                  </a:schemeClr>
                </a:solidFill>
                <a:latin typeface="メイリオ 本文"/>
                <a:ea typeface="メイリオ" panose="020B0604030504040204" pitchFamily="50" charset="-128"/>
              </a:rPr>
              <a:t>用語＋説明文</a:t>
            </a:r>
          </a:p>
        </p:txBody>
      </p:sp>
      <p:sp>
        <p:nvSpPr>
          <p:cNvPr id="28" name="四角形: 角を丸くする 27">
            <a:extLst>
              <a:ext uri="{FF2B5EF4-FFF2-40B4-BE49-F238E27FC236}">
                <a16:creationId xmlns:a16="http://schemas.microsoft.com/office/drawing/2014/main" id="{E593F1AE-48F1-AB96-8553-4AEBB15ED53F}"/>
              </a:ext>
            </a:extLst>
          </p:cNvPr>
          <p:cNvSpPr/>
          <p:nvPr/>
        </p:nvSpPr>
        <p:spPr>
          <a:xfrm>
            <a:off x="8763001" y="115932"/>
            <a:ext cx="1122362" cy="824699"/>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 name="図 29">
            <a:extLst>
              <a:ext uri="{FF2B5EF4-FFF2-40B4-BE49-F238E27FC236}">
                <a16:creationId xmlns:a16="http://schemas.microsoft.com/office/drawing/2014/main" id="{0DD4B70F-D27F-4824-6EE5-19976515207E}"/>
              </a:ext>
            </a:extLst>
          </p:cNvPr>
          <p:cNvPicPr>
            <a:picLocks noChangeAspect="1"/>
          </p:cNvPicPr>
          <p:nvPr/>
        </p:nvPicPr>
        <p:blipFill>
          <a:blip r:embed="rId3">
            <a:extLst>
              <a:ext uri="{28A0092B-C50C-407E-A947-70E740481C1C}">
                <a14:useLocalDpi xmlns:a14="http://schemas.microsoft.com/office/drawing/2010/main" val="0"/>
              </a:ext>
            </a:extLst>
          </a:blip>
          <a:srcRect t="410" b="31876"/>
          <a:stretch>
            <a:fillRect/>
          </a:stretch>
        </p:blipFill>
        <p:spPr>
          <a:xfrm>
            <a:off x="7962547" y="122164"/>
            <a:ext cx="4252665" cy="849639"/>
          </a:xfrm>
          <a:prstGeom prst="rect">
            <a:avLst/>
          </a:prstGeom>
        </p:spPr>
      </p:pic>
      <p:sp>
        <p:nvSpPr>
          <p:cNvPr id="32" name="四角形: 角を丸くする 31">
            <a:extLst>
              <a:ext uri="{FF2B5EF4-FFF2-40B4-BE49-F238E27FC236}">
                <a16:creationId xmlns:a16="http://schemas.microsoft.com/office/drawing/2014/main" id="{BA7C5E32-D24C-9592-A7B5-6A2BE81D3A79}"/>
              </a:ext>
            </a:extLst>
          </p:cNvPr>
          <p:cNvSpPr/>
          <p:nvPr/>
        </p:nvSpPr>
        <p:spPr>
          <a:xfrm>
            <a:off x="9885363" y="2908300"/>
            <a:ext cx="820737" cy="241300"/>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CEE432A6-5EEA-4522-9ED9-7E6C47310BF0}"/>
              </a:ext>
            </a:extLst>
          </p:cNvPr>
          <p:cNvPicPr>
            <a:picLocks noChangeAspect="1"/>
          </p:cNvPicPr>
          <p:nvPr/>
        </p:nvPicPr>
        <p:blipFill>
          <a:blip r:embed="rId3">
            <a:extLst>
              <a:ext uri="{28A0092B-C50C-407E-A947-70E740481C1C}">
                <a14:useLocalDpi xmlns:a14="http://schemas.microsoft.com/office/drawing/2010/main" val="0"/>
              </a:ext>
            </a:extLst>
          </a:blip>
          <a:srcRect l="-97" r="97" b="32286"/>
          <a:stretch>
            <a:fillRect/>
          </a:stretch>
        </p:blipFill>
        <p:spPr>
          <a:xfrm>
            <a:off x="7935913" y="2603641"/>
            <a:ext cx="4252665" cy="849639"/>
          </a:xfrm>
          <a:prstGeom prst="rect">
            <a:avLst/>
          </a:prstGeom>
        </p:spPr>
      </p:pic>
    </p:spTree>
    <p:extLst>
      <p:ext uri="{BB962C8B-B14F-4D97-AF65-F5344CB8AC3E}">
        <p14:creationId xmlns:p14="http://schemas.microsoft.com/office/powerpoint/2010/main" val="16286110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4382E3B-B692-489D-B585-D630BB65C017}"/>
              </a:ext>
            </a:extLst>
          </p:cNvPr>
          <p:cNvSpPr>
            <a:spLocks noGrp="1"/>
          </p:cNvSpPr>
          <p:nvPr>
            <p:ph type="title"/>
          </p:nvPr>
        </p:nvSpPr>
        <p:spPr/>
        <p:txBody>
          <a:bodyPr/>
          <a:lstStyle/>
          <a:p>
            <a:r>
              <a:rPr lang="ja-JP" altLang="en-US" dirty="0"/>
              <a:t>研究手法④：生成問題の評価・添削</a:t>
            </a:r>
            <a:endParaRPr kumimoji="1" lang="ja-JP" altLang="en-US" dirty="0"/>
          </a:p>
        </p:txBody>
      </p:sp>
      <p:cxnSp>
        <p:nvCxnSpPr>
          <p:cNvPr id="27" name="Connector 7">
            <a:extLst>
              <a:ext uri="{FF2B5EF4-FFF2-40B4-BE49-F238E27FC236}">
                <a16:creationId xmlns:a16="http://schemas.microsoft.com/office/drawing/2014/main" id="{57E943FF-2DDB-BF82-E902-3D65F02DB250}"/>
              </a:ext>
            </a:extLst>
          </p:cNvPr>
          <p:cNvCxnSpPr>
            <a:cxnSpLocks/>
            <a:stCxn id="3" idx="5"/>
            <a:endCxn id="28" idx="1"/>
          </p:cNvCxnSpPr>
          <p:nvPr/>
        </p:nvCxnSpPr>
        <p:spPr>
          <a:xfrm>
            <a:off x="2330486" y="2155646"/>
            <a:ext cx="533002" cy="1"/>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sp>
        <p:nvSpPr>
          <p:cNvPr id="28" name="Rounded Rectangle 8">
            <a:extLst>
              <a:ext uri="{FF2B5EF4-FFF2-40B4-BE49-F238E27FC236}">
                <a16:creationId xmlns:a16="http://schemas.microsoft.com/office/drawing/2014/main" id="{098C3293-F7FF-E62A-72DD-0D8B7E374ED0}"/>
              </a:ext>
            </a:extLst>
          </p:cNvPr>
          <p:cNvSpPr/>
          <p:nvPr/>
        </p:nvSpPr>
        <p:spPr>
          <a:xfrm>
            <a:off x="2863488" y="1273628"/>
            <a:ext cx="2794145" cy="1764037"/>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rgbClr val="183759"/>
                </a:solidFill>
                <a:latin typeface="+mn-ea"/>
              </a:rPr>
              <a:t>① </a:t>
            </a:r>
            <a:r>
              <a:rPr lang="en-US" altLang="ja-JP" sz="1600" b="1" dirty="0">
                <a:solidFill>
                  <a:srgbClr val="183759"/>
                </a:solidFill>
                <a:latin typeface="+mn-ea"/>
              </a:rPr>
              <a:t>Python</a:t>
            </a:r>
            <a:r>
              <a:rPr lang="ja-JP" altLang="en-US" sz="1600" b="1" dirty="0">
                <a:solidFill>
                  <a:srgbClr val="183759"/>
                </a:solidFill>
                <a:latin typeface="+mn-ea"/>
              </a:rPr>
              <a:t>による判定</a:t>
            </a:r>
            <a:endParaRPr lang="en-US" altLang="ja-JP" sz="1600" b="1" dirty="0">
              <a:solidFill>
                <a:srgbClr val="183759"/>
              </a:solidFill>
              <a:latin typeface="+mn-ea"/>
            </a:endParaRPr>
          </a:p>
          <a:p>
            <a:pPr algn="ctr"/>
            <a:endParaRPr lang="ja-JP" altLang="en-US" sz="1600" b="1" dirty="0">
              <a:solidFill>
                <a:srgbClr val="183759"/>
              </a:solidFill>
              <a:latin typeface="+mn-ea"/>
            </a:endParaRPr>
          </a:p>
          <a:p>
            <a:pPr algn="ctr"/>
            <a:r>
              <a:rPr lang="ja-JP" altLang="en-US" sz="1200" dirty="0">
                <a:solidFill>
                  <a:schemeClr val="tx1"/>
                </a:solidFill>
                <a:latin typeface="+mn-ea"/>
              </a:rPr>
              <a:t>形式的評価</a:t>
            </a:r>
            <a:endParaRPr lang="en-US" altLang="ja-JP" sz="1200" dirty="0">
              <a:solidFill>
                <a:schemeClr val="tx1"/>
              </a:solidFill>
              <a:latin typeface="+mn-ea"/>
            </a:endParaRPr>
          </a:p>
          <a:p>
            <a:pPr marL="285750" indent="-285750">
              <a:spcAft>
                <a:spcPts val="200"/>
              </a:spcAft>
              <a:buFont typeface="Arial" panose="020B0604020202020204" pitchFamily="34" charset="0"/>
              <a:buChar char="•"/>
              <a:defRPr sz="1300" b="0" i="0">
                <a:solidFill>
                  <a:srgbClr val="2A3442"/>
                </a:solidFill>
                <a:latin typeface="Yu Gothic"/>
              </a:defRPr>
            </a:pPr>
            <a:r>
              <a:rPr lang="ja-JP" altLang="en-US" sz="1200" dirty="0"/>
              <a:t>生成結果が空でないか</a:t>
            </a:r>
          </a:p>
          <a:p>
            <a:pPr marL="285750" indent="-285750">
              <a:spcAft>
                <a:spcPts val="200"/>
              </a:spcAft>
              <a:buFont typeface="Arial" panose="020B0604020202020204" pitchFamily="34" charset="0"/>
              <a:buChar char="•"/>
              <a:defRPr sz="1300" b="0" i="0">
                <a:solidFill>
                  <a:srgbClr val="2A3442"/>
                </a:solidFill>
                <a:latin typeface="Yu Gothic"/>
              </a:defRPr>
            </a:pPr>
            <a:r>
              <a:rPr lang="ja-JP" altLang="en-US" sz="1200" dirty="0"/>
              <a:t>選択肢が不足していないか</a:t>
            </a:r>
          </a:p>
          <a:p>
            <a:pPr marL="285750" indent="-285750">
              <a:spcAft>
                <a:spcPts val="200"/>
              </a:spcAft>
              <a:buFont typeface="Arial" panose="020B0604020202020204" pitchFamily="34" charset="0"/>
              <a:buChar char="•"/>
              <a:defRPr sz="1300" b="0" i="0">
                <a:solidFill>
                  <a:srgbClr val="2A3442"/>
                </a:solidFill>
                <a:latin typeface="Yu Gothic"/>
              </a:defRPr>
            </a:pPr>
            <a:r>
              <a:rPr lang="ja-JP" altLang="en-US" sz="1200" dirty="0"/>
              <a:t>選択肢の文字数に差があるか</a:t>
            </a:r>
          </a:p>
          <a:p>
            <a:pPr marL="285750" indent="-285750">
              <a:spcAft>
                <a:spcPts val="200"/>
              </a:spcAft>
              <a:buFont typeface="Arial" panose="020B0604020202020204" pitchFamily="34" charset="0"/>
              <a:buChar char="•"/>
              <a:defRPr sz="1300" b="0" i="0">
                <a:solidFill>
                  <a:srgbClr val="2A3442"/>
                </a:solidFill>
                <a:latin typeface="Yu Gothic"/>
              </a:defRPr>
            </a:pPr>
            <a:r>
              <a:rPr lang="ja-JP" altLang="en-US" sz="1200" dirty="0"/>
              <a:t>日本語が出力されているか</a:t>
            </a:r>
            <a:endParaRPr lang="ja-JP" altLang="en-US" sz="1200" dirty="0">
              <a:solidFill>
                <a:schemeClr val="tx1"/>
              </a:solidFill>
              <a:latin typeface="+mn-ea"/>
            </a:endParaRPr>
          </a:p>
        </p:txBody>
      </p:sp>
      <p:sp>
        <p:nvSpPr>
          <p:cNvPr id="29" name="Rounded Rectangle 9">
            <a:extLst>
              <a:ext uri="{FF2B5EF4-FFF2-40B4-BE49-F238E27FC236}">
                <a16:creationId xmlns:a16="http://schemas.microsoft.com/office/drawing/2014/main" id="{2785F580-85A9-4361-5B9F-4005F6899839}"/>
              </a:ext>
            </a:extLst>
          </p:cNvPr>
          <p:cNvSpPr/>
          <p:nvPr/>
        </p:nvSpPr>
        <p:spPr>
          <a:xfrm>
            <a:off x="5980122" y="1273628"/>
            <a:ext cx="2794145" cy="1764037"/>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rgbClr val="183759"/>
                </a:solidFill>
                <a:latin typeface="+mn-ea"/>
              </a:rPr>
              <a:t>②</a:t>
            </a:r>
            <a:r>
              <a:rPr lang="en-US" altLang="ja-JP" sz="1600" b="1" dirty="0">
                <a:solidFill>
                  <a:srgbClr val="183759"/>
                </a:solidFill>
                <a:latin typeface="+mn-ea"/>
              </a:rPr>
              <a:t>LLM</a:t>
            </a:r>
            <a:r>
              <a:rPr lang="ja-JP" altLang="en-US" sz="1600" b="1" dirty="0">
                <a:solidFill>
                  <a:srgbClr val="183759"/>
                </a:solidFill>
                <a:latin typeface="+mn-ea"/>
              </a:rPr>
              <a:t>による判定</a:t>
            </a:r>
            <a:endParaRPr lang="en-US" altLang="ja-JP" sz="1600" b="1" dirty="0">
              <a:solidFill>
                <a:srgbClr val="183759"/>
              </a:solidFill>
              <a:latin typeface="+mn-ea"/>
            </a:endParaRPr>
          </a:p>
          <a:p>
            <a:pPr algn="ctr"/>
            <a:endParaRPr sz="1600" b="1" dirty="0">
              <a:solidFill>
                <a:srgbClr val="183759"/>
              </a:solidFill>
              <a:latin typeface="+mn-ea"/>
            </a:endParaRPr>
          </a:p>
          <a:p>
            <a:pPr algn="ctr"/>
            <a:r>
              <a:rPr lang="ja-JP" altLang="en-US" sz="1200" dirty="0">
                <a:solidFill>
                  <a:schemeClr val="tx1"/>
                </a:solidFill>
                <a:latin typeface="+mn-ea"/>
              </a:rPr>
              <a:t>意味的評価</a:t>
            </a:r>
            <a:endParaRPr lang="en-US" altLang="ja-JP" sz="1200" dirty="0">
              <a:solidFill>
                <a:schemeClr val="tx1"/>
              </a:solidFill>
              <a:latin typeface="+mn-ea"/>
            </a:endParaRPr>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用語と問題文に関係があるか</a:t>
            </a:r>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問題文が自然か</a:t>
            </a:r>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内容に誤りがないか</a:t>
            </a:r>
            <a:endParaRPr lang="en-US" altLang="ja-JP" sz="1200" dirty="0"/>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正解・解説が妥当か</a:t>
            </a:r>
          </a:p>
        </p:txBody>
      </p:sp>
      <p:sp>
        <p:nvSpPr>
          <p:cNvPr id="30" name="Rounded Rectangle 10">
            <a:extLst>
              <a:ext uri="{FF2B5EF4-FFF2-40B4-BE49-F238E27FC236}">
                <a16:creationId xmlns:a16="http://schemas.microsoft.com/office/drawing/2014/main" id="{0506A318-FEE2-D424-AD12-9E6EEB7A9BD3}"/>
              </a:ext>
            </a:extLst>
          </p:cNvPr>
          <p:cNvSpPr/>
          <p:nvPr/>
        </p:nvSpPr>
        <p:spPr>
          <a:xfrm>
            <a:off x="9096756" y="1273628"/>
            <a:ext cx="2794145" cy="1764037"/>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rgbClr val="183759"/>
                </a:solidFill>
                <a:latin typeface="+mn-ea"/>
              </a:rPr>
              <a:t>③</a:t>
            </a:r>
            <a:r>
              <a:rPr sz="1600" b="1" dirty="0">
                <a:solidFill>
                  <a:srgbClr val="183759"/>
                </a:solidFill>
                <a:latin typeface="+mn-ea"/>
              </a:rPr>
              <a:t> Embedding</a:t>
            </a:r>
            <a:r>
              <a:rPr lang="ja-JP" altLang="en-US" sz="1600" b="1" dirty="0">
                <a:solidFill>
                  <a:srgbClr val="183759"/>
                </a:solidFill>
                <a:latin typeface="+mn-ea"/>
              </a:rPr>
              <a:t>による判定</a:t>
            </a:r>
            <a:endParaRPr lang="en-US" altLang="ja-JP" sz="1600" b="1" dirty="0">
              <a:solidFill>
                <a:srgbClr val="183759"/>
              </a:solidFill>
              <a:latin typeface="+mn-ea"/>
            </a:endParaRPr>
          </a:p>
          <a:p>
            <a:pPr algn="ctr"/>
            <a:endParaRPr sz="1600" b="1" dirty="0">
              <a:solidFill>
                <a:srgbClr val="183759"/>
              </a:solidFill>
              <a:latin typeface="+mn-ea"/>
            </a:endParaRPr>
          </a:p>
          <a:p>
            <a:pPr algn="ctr"/>
            <a:r>
              <a:rPr lang="ja-JP" altLang="en-US" sz="1200" dirty="0">
                <a:solidFill>
                  <a:schemeClr val="tx1"/>
                </a:solidFill>
                <a:latin typeface="+mn-ea"/>
              </a:rPr>
              <a:t>類似度評価</a:t>
            </a:r>
            <a:endParaRPr lang="en-US" altLang="ja-JP" sz="1200" dirty="0">
              <a:solidFill>
                <a:schemeClr val="tx1"/>
              </a:solidFill>
              <a:latin typeface="+mn-ea"/>
            </a:endParaRPr>
          </a:p>
          <a:p>
            <a:pPr marL="171450" indent="-171450">
              <a:spcAft>
                <a:spcPts val="200"/>
              </a:spcAft>
              <a:buFont typeface="Arial" panose="020B0604020202020204" pitchFamily="34" charset="0"/>
              <a:buChar char="•"/>
              <a:defRPr sz="1300" b="0" i="0">
                <a:solidFill>
                  <a:srgbClr val="2A3442"/>
                </a:solidFill>
                <a:latin typeface="Yu Gothic"/>
              </a:defRPr>
            </a:pPr>
            <a:r>
              <a:rPr lang="en-US" altLang="ja-JP" sz="1200" dirty="0"/>
              <a:t>Sentence-BERT</a:t>
            </a:r>
            <a:r>
              <a:rPr lang="ja-JP" altLang="en-US" sz="1200" dirty="0"/>
              <a:t>で文章を</a:t>
            </a:r>
            <a:endParaRPr lang="en-US" altLang="ja-JP" sz="1200" dirty="0"/>
          </a:p>
          <a:p>
            <a:pPr>
              <a:spcAft>
                <a:spcPts val="200"/>
              </a:spcAft>
              <a:defRPr sz="1300" b="0" i="0">
                <a:solidFill>
                  <a:srgbClr val="2A3442"/>
                </a:solidFill>
                <a:latin typeface="Yu Gothic"/>
              </a:defRPr>
            </a:pPr>
            <a:r>
              <a:rPr lang="ja-JP" altLang="en-US" sz="1200" dirty="0"/>
              <a:t>　ベクトル化</a:t>
            </a:r>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要約と問題文の類似度を計算</a:t>
            </a:r>
          </a:p>
          <a:p>
            <a:pPr marL="171450" indent="-171450">
              <a:spcAft>
                <a:spcPts val="200"/>
              </a:spcAft>
              <a:buFont typeface="Arial" panose="020B0604020202020204" pitchFamily="34" charset="0"/>
              <a:buChar char="•"/>
              <a:defRPr sz="1300" b="0" i="0">
                <a:solidFill>
                  <a:srgbClr val="2A3442"/>
                </a:solidFill>
                <a:latin typeface="Yu Gothic"/>
              </a:defRPr>
            </a:pPr>
            <a:r>
              <a:rPr lang="ja-JP" altLang="en-US" sz="1200" dirty="0"/>
              <a:t>閾値</a:t>
            </a:r>
            <a:r>
              <a:rPr lang="en-US" altLang="ja-JP" sz="1200" dirty="0"/>
              <a:t>0.6</a:t>
            </a:r>
            <a:r>
              <a:rPr lang="ja-JP" altLang="en-US" sz="1200" dirty="0"/>
              <a:t>以上を基準として検討</a:t>
            </a:r>
            <a:endParaRPr sz="1200" dirty="0">
              <a:solidFill>
                <a:schemeClr val="tx1"/>
              </a:solidFill>
              <a:latin typeface="+mn-ea"/>
            </a:endParaRPr>
          </a:p>
        </p:txBody>
      </p:sp>
      <p:cxnSp>
        <p:nvCxnSpPr>
          <p:cNvPr id="31" name="Connector 11">
            <a:extLst>
              <a:ext uri="{FF2B5EF4-FFF2-40B4-BE49-F238E27FC236}">
                <a16:creationId xmlns:a16="http://schemas.microsoft.com/office/drawing/2014/main" id="{42C75C6B-84B3-D8D2-4306-D1E97EA3F70E}"/>
              </a:ext>
            </a:extLst>
          </p:cNvPr>
          <p:cNvCxnSpPr>
            <a:cxnSpLocks/>
            <a:stCxn id="28" idx="2"/>
          </p:cNvCxnSpPr>
          <p:nvPr/>
        </p:nvCxnSpPr>
        <p:spPr>
          <a:xfrm>
            <a:off x="4260561" y="3037665"/>
            <a:ext cx="872218" cy="410929"/>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cxnSp>
        <p:nvCxnSpPr>
          <p:cNvPr id="32" name="Connector 12">
            <a:extLst>
              <a:ext uri="{FF2B5EF4-FFF2-40B4-BE49-F238E27FC236}">
                <a16:creationId xmlns:a16="http://schemas.microsoft.com/office/drawing/2014/main" id="{0B3EADFB-AD3D-16CD-C777-097D1EF22998}"/>
              </a:ext>
            </a:extLst>
          </p:cNvPr>
          <p:cNvCxnSpPr>
            <a:cxnSpLocks/>
            <a:stCxn id="29" idx="2"/>
            <a:endCxn id="34" idx="0"/>
          </p:cNvCxnSpPr>
          <p:nvPr/>
        </p:nvCxnSpPr>
        <p:spPr>
          <a:xfrm flipH="1">
            <a:off x="6217920" y="3037665"/>
            <a:ext cx="1159275" cy="410929"/>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cxnSp>
        <p:nvCxnSpPr>
          <p:cNvPr id="33" name="Connector 13">
            <a:extLst>
              <a:ext uri="{FF2B5EF4-FFF2-40B4-BE49-F238E27FC236}">
                <a16:creationId xmlns:a16="http://schemas.microsoft.com/office/drawing/2014/main" id="{4EF98A14-8379-938B-98ED-7B01007805BB}"/>
              </a:ext>
            </a:extLst>
          </p:cNvPr>
          <p:cNvCxnSpPr>
            <a:cxnSpLocks/>
            <a:stCxn id="30" idx="2"/>
          </p:cNvCxnSpPr>
          <p:nvPr/>
        </p:nvCxnSpPr>
        <p:spPr>
          <a:xfrm flipH="1">
            <a:off x="7377194" y="3037665"/>
            <a:ext cx="3116635" cy="429768"/>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sp>
        <p:nvSpPr>
          <p:cNvPr id="34" name="Rounded Rectangle 14">
            <a:extLst>
              <a:ext uri="{FF2B5EF4-FFF2-40B4-BE49-F238E27FC236}">
                <a16:creationId xmlns:a16="http://schemas.microsoft.com/office/drawing/2014/main" id="{0F15D1F1-E8A4-0AC6-FFBB-0AE1C4D1C49B}"/>
              </a:ext>
            </a:extLst>
          </p:cNvPr>
          <p:cNvSpPr/>
          <p:nvPr/>
        </p:nvSpPr>
        <p:spPr>
          <a:xfrm>
            <a:off x="4434840" y="3448594"/>
            <a:ext cx="3566160" cy="777240"/>
          </a:xfrm>
          <a:prstGeom prst="roundRect">
            <a:avLst/>
          </a:prstGeom>
          <a:solidFill>
            <a:srgbClr val="FFFFFF"/>
          </a:solidFill>
          <a:ln w="15240">
            <a:solidFill>
              <a:srgbClr val="D3DCE6"/>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600" b="1">
                <a:solidFill>
                  <a:srgbClr val="183759"/>
                </a:solidFill>
                <a:latin typeface="Yu Gothic"/>
              </a:defRPr>
            </a:pPr>
            <a:r>
              <a:rPr lang="ja-JP" altLang="en-US" dirty="0">
                <a:latin typeface="+mn-ea"/>
              </a:rPr>
              <a:t>評価結果を統合</a:t>
            </a:r>
          </a:p>
          <a:p>
            <a:pPr algn="ctr">
              <a:spcBef>
                <a:spcPts val="400"/>
              </a:spcBef>
              <a:defRPr sz="1200">
                <a:solidFill>
                  <a:srgbClr val="2A3442"/>
                </a:solidFill>
                <a:latin typeface="Yu Gothic"/>
              </a:defRPr>
            </a:pPr>
            <a:r>
              <a:rPr lang="ja-JP" altLang="en-US" dirty="0">
                <a:latin typeface="+mn-ea"/>
              </a:rPr>
              <a:t>各評価結果・スコア・理由を保存</a:t>
            </a:r>
          </a:p>
        </p:txBody>
      </p:sp>
      <p:cxnSp>
        <p:nvCxnSpPr>
          <p:cNvPr id="35" name="Connector 15">
            <a:extLst>
              <a:ext uri="{FF2B5EF4-FFF2-40B4-BE49-F238E27FC236}">
                <a16:creationId xmlns:a16="http://schemas.microsoft.com/office/drawing/2014/main" id="{A9DF1F34-C38B-A2BE-168A-6EAB470415F7}"/>
              </a:ext>
            </a:extLst>
          </p:cNvPr>
          <p:cNvCxnSpPr/>
          <p:nvPr/>
        </p:nvCxnSpPr>
        <p:spPr>
          <a:xfrm>
            <a:off x="6217920" y="4271554"/>
            <a:ext cx="0" cy="320040"/>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sp>
        <p:nvSpPr>
          <p:cNvPr id="36" name="Rounded Rectangle 16">
            <a:extLst>
              <a:ext uri="{FF2B5EF4-FFF2-40B4-BE49-F238E27FC236}">
                <a16:creationId xmlns:a16="http://schemas.microsoft.com/office/drawing/2014/main" id="{F34F351C-8FE5-A1B5-698D-9EF32EFEDE66}"/>
              </a:ext>
            </a:extLst>
          </p:cNvPr>
          <p:cNvSpPr/>
          <p:nvPr/>
        </p:nvSpPr>
        <p:spPr>
          <a:xfrm>
            <a:off x="4434840" y="4619026"/>
            <a:ext cx="3566160" cy="731520"/>
          </a:xfrm>
          <a:prstGeom prst="roundRect">
            <a:avLst/>
          </a:prstGeom>
          <a:solidFill>
            <a:srgbClr val="E2EEFB"/>
          </a:solidFill>
          <a:ln w="15240">
            <a:solidFill>
              <a:srgbClr val="3770B8"/>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r>
              <a:rPr lang="ja-JP" altLang="en-US" sz="1600" b="1" dirty="0">
                <a:solidFill>
                  <a:srgbClr val="183759"/>
                </a:solidFill>
                <a:latin typeface="+mn-ea"/>
              </a:rPr>
              <a:t>採用基準を満たすか</a:t>
            </a:r>
          </a:p>
          <a:p>
            <a:pPr algn="ctr"/>
            <a:r>
              <a:rPr lang="ja-JP" altLang="en-US" sz="1200" dirty="0">
                <a:solidFill>
                  <a:schemeClr val="tx1"/>
                </a:solidFill>
                <a:latin typeface="+mn-ea"/>
              </a:rPr>
              <a:t>採用／除外を判定</a:t>
            </a:r>
          </a:p>
        </p:txBody>
      </p:sp>
      <p:cxnSp>
        <p:nvCxnSpPr>
          <p:cNvPr id="37" name="Connector 17">
            <a:extLst>
              <a:ext uri="{FF2B5EF4-FFF2-40B4-BE49-F238E27FC236}">
                <a16:creationId xmlns:a16="http://schemas.microsoft.com/office/drawing/2014/main" id="{8D6C7D6D-196D-305A-F6F6-0B2DA1F019C5}"/>
              </a:ext>
            </a:extLst>
          </p:cNvPr>
          <p:cNvCxnSpPr/>
          <p:nvPr/>
        </p:nvCxnSpPr>
        <p:spPr>
          <a:xfrm flipH="1">
            <a:off x="3017520" y="4981956"/>
            <a:ext cx="1417320" cy="429768"/>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cxnSp>
        <p:nvCxnSpPr>
          <p:cNvPr id="38" name="Connector 18">
            <a:extLst>
              <a:ext uri="{FF2B5EF4-FFF2-40B4-BE49-F238E27FC236}">
                <a16:creationId xmlns:a16="http://schemas.microsoft.com/office/drawing/2014/main" id="{B70E37CC-90D7-0B8D-F01A-87AAE412F29B}"/>
              </a:ext>
            </a:extLst>
          </p:cNvPr>
          <p:cNvCxnSpPr/>
          <p:nvPr/>
        </p:nvCxnSpPr>
        <p:spPr>
          <a:xfrm>
            <a:off x="8001000" y="4984786"/>
            <a:ext cx="1325880" cy="429768"/>
          </a:xfrm>
          <a:prstGeom prst="line">
            <a:avLst/>
          </a:prstGeom>
          <a:ln w="19050">
            <a:solidFill>
              <a:srgbClr val="616D7C"/>
            </a:solidFill>
          </a:ln>
        </p:spPr>
        <p:style>
          <a:lnRef idx="2">
            <a:schemeClr val="accent1"/>
          </a:lnRef>
          <a:fillRef idx="0">
            <a:schemeClr val="accent1"/>
          </a:fillRef>
          <a:effectRef idx="1">
            <a:schemeClr val="accent1"/>
          </a:effectRef>
          <a:fontRef idx="minor">
            <a:schemeClr val="tx1"/>
          </a:fontRef>
        </p:style>
      </p:cxnSp>
      <p:sp>
        <p:nvSpPr>
          <p:cNvPr id="39" name="Rounded Rectangle 19">
            <a:extLst>
              <a:ext uri="{FF2B5EF4-FFF2-40B4-BE49-F238E27FC236}">
                <a16:creationId xmlns:a16="http://schemas.microsoft.com/office/drawing/2014/main" id="{C0C4D344-1A94-251B-BB92-C93936AC1609}"/>
              </a:ext>
            </a:extLst>
          </p:cNvPr>
          <p:cNvSpPr/>
          <p:nvPr/>
        </p:nvSpPr>
        <p:spPr>
          <a:xfrm>
            <a:off x="777240" y="5368834"/>
            <a:ext cx="2926080" cy="685800"/>
          </a:xfrm>
          <a:prstGeom prst="roundRect">
            <a:avLst/>
          </a:prstGeom>
          <a:solidFill>
            <a:srgbClr val="E7F4E8"/>
          </a:solidFill>
          <a:ln w="15240">
            <a:solidFill>
              <a:srgbClr val="468F5B"/>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468F5B"/>
                </a:solidFill>
                <a:latin typeface="Yu Gothic"/>
              </a:defRPr>
            </a:pPr>
            <a:r>
              <a:rPr lang="ja-JP" altLang="en-US" sz="1600" dirty="0">
                <a:latin typeface="+mn-ea"/>
              </a:rPr>
              <a:t>採用問題</a:t>
            </a:r>
          </a:p>
          <a:p>
            <a:pPr algn="ctr">
              <a:spcBef>
                <a:spcPts val="400"/>
              </a:spcBef>
              <a:defRPr sz="1100">
                <a:solidFill>
                  <a:srgbClr val="2A3442"/>
                </a:solidFill>
                <a:latin typeface="Yu Gothic"/>
              </a:defRPr>
            </a:pPr>
            <a:r>
              <a:rPr lang="ja-JP" altLang="en-US" sz="1200" dirty="0">
                <a:latin typeface="+mn-ea"/>
              </a:rPr>
              <a:t>最終問題データへ</a:t>
            </a:r>
            <a:endParaRPr lang="ja-JP" altLang="en-US" sz="1400" dirty="0">
              <a:latin typeface="+mn-ea"/>
            </a:endParaRPr>
          </a:p>
        </p:txBody>
      </p:sp>
      <p:sp>
        <p:nvSpPr>
          <p:cNvPr id="40" name="Rounded Rectangle 20">
            <a:extLst>
              <a:ext uri="{FF2B5EF4-FFF2-40B4-BE49-F238E27FC236}">
                <a16:creationId xmlns:a16="http://schemas.microsoft.com/office/drawing/2014/main" id="{78193EC0-4781-008E-3747-D7BCB926A755}"/>
              </a:ext>
            </a:extLst>
          </p:cNvPr>
          <p:cNvSpPr/>
          <p:nvPr/>
        </p:nvSpPr>
        <p:spPr>
          <a:xfrm>
            <a:off x="8503920" y="5368834"/>
            <a:ext cx="2926080" cy="685800"/>
          </a:xfrm>
          <a:prstGeom prst="roundRect">
            <a:avLst/>
          </a:prstGeom>
          <a:solidFill>
            <a:srgbClr val="FAE8E7"/>
          </a:solidFill>
          <a:ln w="15240">
            <a:solidFill>
              <a:srgbClr val="B84B4B"/>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lstStyle/>
          <a:p>
            <a:pPr algn="ctr">
              <a:defRPr sz="1500" b="1">
                <a:solidFill>
                  <a:srgbClr val="B84B4B"/>
                </a:solidFill>
                <a:latin typeface="Yu Gothic"/>
              </a:defRPr>
            </a:pPr>
            <a:r>
              <a:rPr lang="ja-JP" altLang="en-US" sz="1600" dirty="0">
                <a:latin typeface="+mn-ea"/>
              </a:rPr>
              <a:t>除外問題</a:t>
            </a:r>
          </a:p>
          <a:p>
            <a:pPr algn="ctr">
              <a:spcBef>
                <a:spcPts val="400"/>
              </a:spcBef>
              <a:defRPr sz="1100">
                <a:solidFill>
                  <a:srgbClr val="2A3442"/>
                </a:solidFill>
                <a:latin typeface="Yu Gothic"/>
              </a:defRPr>
            </a:pPr>
            <a:r>
              <a:rPr lang="ja-JP" altLang="en-US" sz="1200" dirty="0">
                <a:latin typeface="+mn-ea"/>
              </a:rPr>
              <a:t>分析用データへ</a:t>
            </a:r>
          </a:p>
        </p:txBody>
      </p:sp>
      <p:sp>
        <p:nvSpPr>
          <p:cNvPr id="66" name="TextBox 16">
            <a:extLst>
              <a:ext uri="{FF2B5EF4-FFF2-40B4-BE49-F238E27FC236}">
                <a16:creationId xmlns:a16="http://schemas.microsoft.com/office/drawing/2014/main" id="{8E8E7498-D03F-EB28-B681-E2C5DFF86526}"/>
              </a:ext>
            </a:extLst>
          </p:cNvPr>
          <p:cNvSpPr txBox="1"/>
          <p:nvPr/>
        </p:nvSpPr>
        <p:spPr>
          <a:xfrm>
            <a:off x="996642" y="6250199"/>
            <a:ext cx="9966960" cy="378565"/>
          </a:xfrm>
          <a:prstGeom prst="rect">
            <a:avLst/>
          </a:prstGeom>
          <a:noFill/>
        </p:spPr>
        <p:txBody>
          <a:bodyPr wrap="square" lIns="73152" tIns="73152" rIns="73152" bIns="73152" anchor="ctr">
            <a:spAutoFit/>
          </a:bodyPr>
          <a:lstStyle/>
          <a:p>
            <a:pPr algn="ctr">
              <a:spcAft>
                <a:spcPts val="200"/>
              </a:spcAft>
              <a:defRPr sz="1500" b="1" i="0">
                <a:solidFill>
                  <a:srgbClr val="183759"/>
                </a:solidFill>
                <a:latin typeface="Yu Gothic"/>
              </a:defRPr>
            </a:pPr>
            <a:r>
              <a:rPr lang="en-US" altLang="ja-JP">
                <a:latin typeface="+mn-ea"/>
              </a:rPr>
              <a:t>3</a:t>
            </a:r>
            <a:r>
              <a:rPr lang="ja-JP" altLang="en-US">
                <a:latin typeface="+mn-ea"/>
              </a:rPr>
              <a:t>つの判定は役割が異なるため、単独ではなく組み合わせて問題の妥当性を確認する</a:t>
            </a:r>
            <a:endParaRPr lang="ja-JP" altLang="en-US" dirty="0">
              <a:latin typeface="+mn-ea"/>
            </a:endParaRPr>
          </a:p>
        </p:txBody>
      </p:sp>
      <p:sp>
        <p:nvSpPr>
          <p:cNvPr id="67" name="スライド番号プレースホルダー 66">
            <a:extLst>
              <a:ext uri="{FF2B5EF4-FFF2-40B4-BE49-F238E27FC236}">
                <a16:creationId xmlns:a16="http://schemas.microsoft.com/office/drawing/2014/main" id="{FAB2421B-4160-5962-7ACC-2B713D53AE85}"/>
              </a:ext>
            </a:extLst>
          </p:cNvPr>
          <p:cNvSpPr>
            <a:spLocks noGrp="1"/>
          </p:cNvSpPr>
          <p:nvPr>
            <p:ph type="sldNum" sz="quarter" idx="12"/>
          </p:nvPr>
        </p:nvSpPr>
        <p:spPr/>
        <p:txBody>
          <a:bodyPr/>
          <a:lstStyle/>
          <a:p>
            <a:fld id="{9FB99072-780F-43D9-B22B-8FACFE63800E}" type="slidenum">
              <a:rPr kumimoji="1" lang="ja-JP" altLang="en-US" smtClean="0"/>
              <a:t>28</a:t>
            </a:fld>
            <a:endParaRPr kumimoji="1" lang="ja-JP" altLang="en-US"/>
          </a:p>
        </p:txBody>
      </p:sp>
      <p:sp>
        <p:nvSpPr>
          <p:cNvPr id="3" name="フローチャート: データ 2">
            <a:extLst>
              <a:ext uri="{FF2B5EF4-FFF2-40B4-BE49-F238E27FC236}">
                <a16:creationId xmlns:a16="http://schemas.microsoft.com/office/drawing/2014/main" id="{F5924D2C-6773-9136-5F31-8A52D81343B2}"/>
              </a:ext>
            </a:extLst>
          </p:cNvPr>
          <p:cNvSpPr/>
          <p:nvPr/>
        </p:nvSpPr>
        <p:spPr>
          <a:xfrm>
            <a:off x="435869" y="1691098"/>
            <a:ext cx="2105130" cy="929095"/>
          </a:xfrm>
          <a:prstGeom prst="flowChartInputOutput">
            <a:avLst/>
          </a:prstGeom>
          <a:solidFill>
            <a:schemeClr val="bg1">
              <a:lumMod val="95000"/>
            </a:schemeClr>
          </a:solidFill>
          <a:ln w="15240">
            <a:solidFill>
              <a:schemeClr val="bg2">
                <a:lumMod val="25000"/>
              </a:schemeClr>
            </a:solidFill>
          </a:ln>
        </p:spPr>
        <p:style>
          <a:lnRef idx="1">
            <a:schemeClr val="accent1"/>
          </a:lnRef>
          <a:fillRef idx="3">
            <a:schemeClr val="accent1"/>
          </a:fillRef>
          <a:effectRef idx="2">
            <a:schemeClr val="accent1"/>
          </a:effectRef>
          <a:fontRef idx="minor">
            <a:schemeClr val="lt1"/>
          </a:fontRef>
        </p:style>
        <p:txBody>
          <a:bodyPr wrap="square" lIns="118872" tIns="73152" rIns="118872" bIns="73152" rtlCol="0" anchor="ctr" anchorCtr="1"/>
          <a:lstStyle/>
          <a:p>
            <a:pPr algn="ctr"/>
            <a:r>
              <a:rPr lang="ja-JP" altLang="en-US" b="1" dirty="0">
                <a:solidFill>
                  <a:schemeClr val="bg2">
                    <a:lumMod val="25000"/>
                  </a:schemeClr>
                </a:solidFill>
                <a:latin typeface="+mn-ea"/>
              </a:rPr>
              <a:t>入力</a:t>
            </a:r>
            <a:endParaRPr lang="ja-JP" altLang="en-US" sz="1400" b="1" dirty="0">
              <a:solidFill>
                <a:schemeClr val="bg2">
                  <a:lumMod val="25000"/>
                </a:schemeClr>
              </a:solidFill>
              <a:latin typeface="+mn-ea"/>
            </a:endParaRPr>
          </a:p>
          <a:p>
            <a:pPr algn="ctr"/>
            <a:r>
              <a:rPr lang="ja-JP" altLang="en-US" sz="1200" dirty="0">
                <a:solidFill>
                  <a:schemeClr val="bg2">
                    <a:lumMod val="25000"/>
                  </a:schemeClr>
                </a:solidFill>
                <a:latin typeface="+mn-ea"/>
              </a:rPr>
              <a:t>生成された</a:t>
            </a:r>
            <a:endParaRPr lang="en-US" altLang="ja-JP" sz="1200" dirty="0">
              <a:solidFill>
                <a:schemeClr val="bg2">
                  <a:lumMod val="25000"/>
                </a:schemeClr>
              </a:solidFill>
              <a:latin typeface="+mn-ea"/>
            </a:endParaRPr>
          </a:p>
          <a:p>
            <a:pPr algn="ctr"/>
            <a:r>
              <a:rPr lang="en-US" altLang="ja-JP" sz="1200" dirty="0">
                <a:solidFill>
                  <a:schemeClr val="bg2">
                    <a:lumMod val="25000"/>
                  </a:schemeClr>
                </a:solidFill>
                <a:latin typeface="+mn-ea"/>
              </a:rPr>
              <a:t>4</a:t>
            </a:r>
            <a:r>
              <a:rPr lang="ja-JP" altLang="en-US" sz="1200" dirty="0">
                <a:solidFill>
                  <a:schemeClr val="bg2">
                    <a:lumMod val="25000"/>
                  </a:schemeClr>
                </a:solidFill>
                <a:latin typeface="+mn-ea"/>
              </a:rPr>
              <a:t>択問題</a:t>
            </a:r>
            <a:endParaRPr lang="ja-JP" altLang="en-US" sz="1200" b="1" dirty="0">
              <a:solidFill>
                <a:schemeClr val="bg2">
                  <a:lumMod val="25000"/>
                </a:schemeClr>
              </a:solidFill>
              <a:latin typeface="+mn-ea"/>
            </a:endParaRPr>
          </a:p>
        </p:txBody>
      </p:sp>
      <p:sp>
        <p:nvSpPr>
          <p:cNvPr id="6" name="四角形: 角を丸くする 5">
            <a:extLst>
              <a:ext uri="{FF2B5EF4-FFF2-40B4-BE49-F238E27FC236}">
                <a16:creationId xmlns:a16="http://schemas.microsoft.com/office/drawing/2014/main" id="{087105EC-BD15-D346-31B8-F12B5850F1F6}"/>
              </a:ext>
            </a:extLst>
          </p:cNvPr>
          <p:cNvSpPr/>
          <p:nvPr/>
        </p:nvSpPr>
        <p:spPr>
          <a:xfrm>
            <a:off x="10693400" y="117845"/>
            <a:ext cx="736600" cy="836243"/>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a:extLst>
              <a:ext uri="{FF2B5EF4-FFF2-40B4-BE49-F238E27FC236}">
                <a16:creationId xmlns:a16="http://schemas.microsoft.com/office/drawing/2014/main" id="{7B5A3898-B693-5B99-844D-A5EFCB77B434}"/>
              </a:ext>
            </a:extLst>
          </p:cNvPr>
          <p:cNvPicPr>
            <a:picLocks noChangeAspect="1"/>
          </p:cNvPicPr>
          <p:nvPr/>
        </p:nvPicPr>
        <p:blipFill>
          <a:blip r:embed="rId2">
            <a:extLst>
              <a:ext uri="{28A0092B-C50C-407E-A947-70E740481C1C}">
                <a14:useLocalDpi xmlns:a14="http://schemas.microsoft.com/office/drawing/2010/main" val="0"/>
              </a:ext>
            </a:extLst>
          </a:blip>
          <a:srcRect l="-80" t="460" r="80" b="31826"/>
          <a:stretch>
            <a:fillRect/>
          </a:stretch>
        </p:blipFill>
        <p:spPr>
          <a:xfrm>
            <a:off x="7935913" y="115931"/>
            <a:ext cx="4252665" cy="849639"/>
          </a:xfrm>
          <a:prstGeom prst="rect">
            <a:avLst/>
          </a:prstGeom>
        </p:spPr>
      </p:pic>
    </p:spTree>
    <p:extLst>
      <p:ext uri="{BB962C8B-B14F-4D97-AF65-F5344CB8AC3E}">
        <p14:creationId xmlns:p14="http://schemas.microsoft.com/office/powerpoint/2010/main" val="2332187276"/>
      </p:ext>
    </p:extLst>
  </p:cSld>
  <p:clrMapOvr>
    <a:masterClrMapping/>
  </p:clrMapOvr>
</p:sld>
</file>

<file path=ppt/theme/theme1.xml><?xml version="1.0" encoding="utf-8"?>
<a:theme xmlns:a="http://schemas.openxmlformats.org/drawingml/2006/main" name="Office テーマ">
  <a:themeElements>
    <a:clrScheme name="ユーザー定義 1">
      <a:dk1>
        <a:srgbClr val="3A3838"/>
      </a:dk1>
      <a:lt1>
        <a:srgbClr val="FFFFFF"/>
      </a:lt1>
      <a:dk2>
        <a:srgbClr val="213D6D"/>
      </a:dk2>
      <a:lt2>
        <a:srgbClr val="E7E6E6"/>
      </a:lt2>
      <a:accent1>
        <a:srgbClr val="034A90"/>
      </a:accent1>
      <a:accent2>
        <a:srgbClr val="BF0000"/>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シンプル2.potx" id="{47FFFC03-BD4E-44EA-A8EC-19EECB23228E}" vid="{D5F2DC00-9641-493F-A9ED-765C97E40E25}"/>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12476</TotalTime>
  <Words>4137</Words>
  <Application>Microsoft Office PowerPoint</Application>
  <PresentationFormat>ワイド画面</PresentationFormat>
  <Paragraphs>725</Paragraphs>
  <Slides>28</Slides>
  <Notes>21</Notes>
  <HiddenSlides>9</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28</vt:i4>
      </vt:variant>
    </vt:vector>
  </HeadingPairs>
  <TitlesOfParts>
    <vt:vector size="36" baseType="lpstr">
      <vt:lpstr>メイリオ</vt:lpstr>
      <vt:lpstr>メイリオ 本文</vt:lpstr>
      <vt:lpstr>Yu Gothic</vt:lpstr>
      <vt:lpstr>Yu Gothic</vt:lpstr>
      <vt:lpstr>Arial</vt:lpstr>
      <vt:lpstr>Calibri</vt:lpstr>
      <vt:lpstr>Wingdings</vt:lpstr>
      <vt:lpstr>Office テーマ</vt:lpstr>
      <vt:lpstr>試験内容の変化を考慮した 知識データ構築手法に関する研究</vt:lpstr>
      <vt:lpstr>目次</vt:lpstr>
      <vt:lpstr>研究背景</vt:lpstr>
      <vt:lpstr>先行研究</vt:lpstr>
      <vt:lpstr>本研究の新規性・提案システムの全体構成</vt:lpstr>
      <vt:lpstr>研究目的</vt:lpstr>
      <vt:lpstr>データの種類と活用</vt:lpstr>
      <vt:lpstr>研究環境</vt:lpstr>
      <vt:lpstr>研究手法①：データセットを自動作成</vt:lpstr>
      <vt:lpstr>研究手法②：知識の収集・整理</vt:lpstr>
      <vt:lpstr>研究手法③：問題生成LLMの学習・評価</vt:lpstr>
      <vt:lpstr>研究手法③：問題生成LLMの学習・評価</vt:lpstr>
      <vt:lpstr>現状の成果①：新出単語データセット</vt:lpstr>
      <vt:lpstr>現状の成果②：添削済み生成問題の収集</vt:lpstr>
      <vt:lpstr>現状の成果③：ファインチューニングの評価計画</vt:lpstr>
      <vt:lpstr>今後の展望</vt:lpstr>
      <vt:lpstr>PowerPoint プレゼンテーション</vt:lpstr>
      <vt:lpstr>補足：基本情報の出題パターン</vt:lpstr>
      <vt:lpstr>補足：Embeddingの閾値0.6</vt:lpstr>
      <vt:lpstr>考察</vt:lpstr>
      <vt:lpstr>先行研究の図</vt:lpstr>
      <vt:lpstr>先行研究の図</vt:lpstr>
      <vt:lpstr>提案システムの全体構成</vt:lpstr>
      <vt:lpstr>提案システムの全体構成</vt:lpstr>
      <vt:lpstr>PowerPoint プレゼンテーション</vt:lpstr>
      <vt:lpstr>PowerPoint プレゼンテーション</vt:lpstr>
      <vt:lpstr>研究手法②：問題生成モデルと学習用データ</vt:lpstr>
      <vt:lpstr>研究手法④：生成問題の評価・添削</vt:lpstr>
    </vt:vector>
  </TitlesOfParts>
  <Company>Suwa University of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T123122</dc:creator>
  <cp:lastModifiedBy>T123122</cp:lastModifiedBy>
  <cp:revision>327</cp:revision>
  <cp:lastPrinted>2026-07-10T10:51:16Z</cp:lastPrinted>
  <dcterms:created xsi:type="dcterms:W3CDTF">2026-07-09T01:46:36Z</dcterms:created>
  <dcterms:modified xsi:type="dcterms:W3CDTF">2026-10-21T03:25:03Z</dcterms:modified>
</cp:coreProperties>
</file>